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25" r:id="rId1"/>
    <p:sldMasterId id="2147485362" r:id="rId2"/>
  </p:sldMasterIdLst>
  <p:notesMasterIdLst>
    <p:notesMasterId r:id="rId13"/>
  </p:notesMasterIdLst>
  <p:sldIdLst>
    <p:sldId id="359" r:id="rId3"/>
    <p:sldId id="342" r:id="rId4"/>
    <p:sldId id="335" r:id="rId5"/>
    <p:sldId id="341" r:id="rId6"/>
    <p:sldId id="364" r:id="rId7"/>
    <p:sldId id="344" r:id="rId8"/>
    <p:sldId id="357" r:id="rId9"/>
    <p:sldId id="363" r:id="rId10"/>
    <p:sldId id="354" r:id="rId11"/>
    <p:sldId id="356" r:id="rId12"/>
  </p:sldIdLst>
  <p:sldSz cx="12192000" cy="6858000"/>
  <p:notesSz cx="6669088" cy="9872663"/>
  <p:custDataLst>
    <p:tags r:id="rId1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pos="2071">
          <p15:clr>
            <a:srgbClr val="A4A3A4"/>
          </p15:clr>
        </p15:guide>
        <p15:guide id="3" pos="2343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, Catherine" initials="WC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9680D"/>
    <a:srgbClr val="507BAF"/>
    <a:srgbClr val="41719C"/>
    <a:srgbClr val="FF9933"/>
    <a:srgbClr val="000000"/>
    <a:srgbClr val="FACCA7"/>
    <a:srgbClr val="18AC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94" autoAdjust="0"/>
    <p:restoredTop sz="53939" autoAdjust="0"/>
  </p:normalViewPr>
  <p:slideViewPr>
    <p:cSldViewPr snapToGrid="0">
      <p:cViewPr varScale="1">
        <p:scale>
          <a:sx n="48" d="100"/>
          <a:sy n="48" d="100"/>
        </p:scale>
        <p:origin x="2352" y="43"/>
      </p:cViewPr>
      <p:guideLst>
        <p:guide pos="3840"/>
        <p:guide pos="2071"/>
        <p:guide pos="2343"/>
        <p:guide orient="horz" pos="216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30" d="100"/>
        <a:sy n="130" d="100"/>
      </p:scale>
      <p:origin x="0" y="-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Univers 45 Light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Sheet1!$B$3:$B$6</c:f>
              <c:strCache>
                <c:ptCount val="4"/>
                <c:pt idx="0">
                  <c:v>20 May 2018</c:v>
                </c:pt>
                <c:pt idx="1">
                  <c:v>29 May 2018</c:v>
                </c:pt>
                <c:pt idx="2">
                  <c:v>3 Oct 2018</c:v>
                </c:pt>
                <c:pt idx="3">
                  <c:v>20 Jun 2019</c:v>
                </c:pt>
              </c:strCache>
            </c:strRef>
          </c:cat>
          <c:val>
            <c:numRef>
              <c:f>Sheet1!$C$3:$C$6</c:f>
              <c:numCache>
                <c:formatCode>General</c:formatCode>
                <c:ptCount val="4"/>
                <c:pt idx="0">
                  <c:v>69</c:v>
                </c:pt>
                <c:pt idx="1">
                  <c:v>73</c:v>
                </c:pt>
                <c:pt idx="2">
                  <c:v>81</c:v>
                </c:pt>
                <c:pt idx="3">
                  <c:v>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35"/>
        <c:axId val="211276800"/>
        <c:axId val="211279152"/>
      </c:barChart>
      <c:catAx>
        <c:axId val="211276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pPr>
            <a:endParaRPr lang="en-US"/>
          </a:p>
        </c:txPr>
        <c:crossAx val="211279152"/>
        <c:crosses val="autoZero"/>
        <c:auto val="1"/>
        <c:lblAlgn val="ctr"/>
        <c:lblOffset val="100"/>
        <c:noMultiLvlLbl val="0"/>
      </c:catAx>
      <c:valAx>
        <c:axId val="211279152"/>
        <c:scaling>
          <c:orientation val="minMax"/>
          <c:min val="55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11276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9-02T21:47:15.381" idx="1">
    <p:pos x="10" y="10"/>
    <p:text>remove DHS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9-02T22:05:44.152" idx="2">
    <p:pos x="10" y="10"/>
    <p:text>fix the styling</p:tex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E66525-0B8A-44B1-A72F-D80F10FA6E6E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5F913EEE-ECF0-403E-A82E-9EC558A47C09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0627EF0A-B128-404E-9EC1-B0B978C9F6DA}" type="parTrans" cxnId="{5573E0BE-E4CA-4039-92A4-3F9FB1E6C904}">
      <dgm:prSet/>
      <dgm:spPr/>
      <dgm:t>
        <a:bodyPr/>
        <a:lstStyle/>
        <a:p>
          <a:endParaRPr lang="en-AU"/>
        </a:p>
      </dgm:t>
    </dgm:pt>
    <dgm:pt modelId="{1CD033DF-68CD-405F-B1F0-1106F968F3E3}" type="sibTrans" cxnId="{5573E0BE-E4CA-4039-92A4-3F9FB1E6C904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FAFC968B-017B-4447-AFE0-7D6762C11B99}">
      <dgm:prSet phldrT="[Text]"/>
      <dgm:spPr>
        <a:blipFill rotWithShape="0">
          <a:blip xmlns:r="http://schemas.openxmlformats.org/officeDocument/2006/relationships" r:embed="rId2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6FF26074-01C1-45F1-BE51-BC5E6F9F07FC}" type="parTrans" cxnId="{D1BBAA12-80AC-4139-8FD8-5483E013871B}">
      <dgm:prSet/>
      <dgm:spPr/>
      <dgm:t>
        <a:bodyPr/>
        <a:lstStyle/>
        <a:p>
          <a:endParaRPr lang="en-AU"/>
        </a:p>
      </dgm:t>
    </dgm:pt>
    <dgm:pt modelId="{3F347B4F-5FA9-4A64-9FC3-83D8AC4BCDE8}" type="sibTrans" cxnId="{D1BBAA12-80AC-4139-8FD8-5483E013871B}">
      <dgm:prSet/>
      <dgm:spPr>
        <a:solidFill>
          <a:schemeClr val="tx1"/>
        </a:solidFill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E17FD947-99C0-46E1-9569-AA1781513C02}">
      <dgm:prSet phldrT="[Text]"/>
      <dgm:spPr>
        <a:blipFill rotWithShape="0">
          <a:blip xmlns:r="http://schemas.openxmlformats.org/officeDocument/2006/relationships" r:embed="rId3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862AC6FD-F838-4442-9805-47D2D578EEE7}" type="parTrans" cxnId="{427E8010-567B-4A3F-8C06-4FFAF111AEFB}">
      <dgm:prSet/>
      <dgm:spPr/>
      <dgm:t>
        <a:bodyPr/>
        <a:lstStyle/>
        <a:p>
          <a:endParaRPr lang="en-AU"/>
        </a:p>
      </dgm:t>
    </dgm:pt>
    <dgm:pt modelId="{0D8A57E7-4344-43DE-840D-411FF968E828}" type="sibTrans" cxnId="{427E8010-567B-4A3F-8C06-4FFAF111AEFB}">
      <dgm:prSet/>
      <dgm:spPr>
        <a:blipFill rotWithShape="0">
          <a:blip xmlns:r="http://schemas.openxmlformats.org/officeDocument/2006/relationships" r:embed="rId4"/>
          <a:stretch>
            <a:fillRect/>
          </a:stretch>
        </a:blipFill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1202097B-DF82-4E52-AF68-18025F1B9C72}">
      <dgm:prSet phldrT="[Text]"/>
      <dgm:spPr>
        <a:blipFill rotWithShape="0">
          <a:blip xmlns:r="http://schemas.openxmlformats.org/officeDocument/2006/relationships" r:embed="rId5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26CD3CFA-F017-4C28-BE6E-77D855012172}" type="parTrans" cxnId="{EC89B70A-FD12-4531-B55C-A062FCAF5394}">
      <dgm:prSet/>
      <dgm:spPr/>
      <dgm:t>
        <a:bodyPr/>
        <a:lstStyle/>
        <a:p>
          <a:endParaRPr lang="en-AU"/>
        </a:p>
      </dgm:t>
    </dgm:pt>
    <dgm:pt modelId="{44427ACE-86B2-4AB4-8D78-F15E3A5203A3}" type="sibTrans" cxnId="{EC89B70A-FD12-4531-B55C-A062FCAF5394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BB2C6E7C-1DEA-4040-9F3F-B34DFC0C7F14}">
      <dgm:prSet phldrT="[Text]"/>
      <dgm:spPr>
        <a:blipFill rotWithShape="0">
          <a:blip xmlns:r="http://schemas.openxmlformats.org/officeDocument/2006/relationships" r:embed="rId6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/>
          </a:r>
          <a:br>
            <a:rPr lang="en-AU" dirty="0" smtClean="0"/>
          </a:br>
          <a:endParaRPr lang="en-AU" dirty="0"/>
        </a:p>
      </dgm:t>
    </dgm:pt>
    <dgm:pt modelId="{5878748E-42C7-4565-A0B1-FF99C4A9844D}" type="parTrans" cxnId="{D319C2D5-9F17-4FD3-BCF6-08A5E5724992}">
      <dgm:prSet/>
      <dgm:spPr/>
      <dgm:t>
        <a:bodyPr/>
        <a:lstStyle/>
        <a:p>
          <a:endParaRPr lang="en-AU"/>
        </a:p>
      </dgm:t>
    </dgm:pt>
    <dgm:pt modelId="{83AD59F8-85F7-4BBE-A205-2E2756C2300C}" type="sibTrans" cxnId="{D319C2D5-9F17-4FD3-BCF6-08A5E5724992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4C387E16-FBFD-4A6F-B1D5-48934A22221F}">
      <dgm:prSet phldrT="[Text]"/>
      <dgm:spPr>
        <a:blipFill rotWithShape="0">
          <a:blip xmlns:r="http://schemas.openxmlformats.org/officeDocument/2006/relationships" r:embed="rId7"/>
          <a:stretch>
            <a:fillRect/>
          </a:stretch>
        </a:blipFill>
        <a:ln>
          <a:noFill/>
        </a:ln>
      </dgm:spPr>
      <dgm:t>
        <a:bodyPr/>
        <a:lstStyle/>
        <a:p>
          <a:r>
            <a:rPr lang="en-AU" dirty="0" smtClean="0"/>
            <a:t> </a:t>
          </a:r>
          <a:endParaRPr lang="en-AU" dirty="0"/>
        </a:p>
      </dgm:t>
    </dgm:pt>
    <dgm:pt modelId="{52D3D118-936D-4D5E-B77C-1DBBE7A35D1C}" type="parTrans" cxnId="{82195AE7-7A0B-4032-BEC4-DA0BE7DF19A2}">
      <dgm:prSet/>
      <dgm:spPr/>
      <dgm:t>
        <a:bodyPr/>
        <a:lstStyle/>
        <a:p>
          <a:endParaRPr lang="en-AU"/>
        </a:p>
      </dgm:t>
    </dgm:pt>
    <dgm:pt modelId="{566393E3-17DE-4923-AEDD-B414363FDC66}" type="sibTrans" cxnId="{82195AE7-7A0B-4032-BEC4-DA0BE7DF19A2}">
      <dgm:prSet/>
      <dgm:spPr>
        <a:ln>
          <a:solidFill>
            <a:schemeClr val="tx1"/>
          </a:solidFill>
        </a:ln>
      </dgm:spPr>
      <dgm:t>
        <a:bodyPr/>
        <a:lstStyle/>
        <a:p>
          <a:endParaRPr lang="en-AU"/>
        </a:p>
      </dgm:t>
    </dgm:pt>
    <dgm:pt modelId="{21FB4C09-D23C-44BB-80F7-772CC6DA19F5}" type="pres">
      <dgm:prSet presAssocID="{B2E66525-0B8A-44B1-A72F-D80F10FA6E6E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AU"/>
        </a:p>
      </dgm:t>
    </dgm:pt>
    <dgm:pt modelId="{5F0EF0FD-F7B6-4749-8DAC-26D0C46B5F7B}" type="pres">
      <dgm:prSet presAssocID="{5F913EEE-ECF0-403E-A82E-9EC558A47C09}" presName="node" presStyleLbl="node1" presStyleIdx="0" presStyleCnt="6" custScaleX="61945" custScaleY="88918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171A77E9-8F23-43D9-843F-CEDB152AED5F}" type="pres">
      <dgm:prSet presAssocID="{5F913EEE-ECF0-403E-A82E-9EC558A47C09}" presName="spNode" presStyleCnt="0"/>
      <dgm:spPr/>
    </dgm:pt>
    <dgm:pt modelId="{15EDFBFA-3606-4AF0-A362-4B7585E7F6F8}" type="pres">
      <dgm:prSet presAssocID="{1CD033DF-68CD-405F-B1F0-1106F968F3E3}" presName="sibTrans" presStyleLbl="sibTrans1D1" presStyleIdx="0" presStyleCnt="6"/>
      <dgm:spPr/>
      <dgm:t>
        <a:bodyPr/>
        <a:lstStyle/>
        <a:p>
          <a:endParaRPr lang="en-AU"/>
        </a:p>
      </dgm:t>
    </dgm:pt>
    <dgm:pt modelId="{6A675661-588F-4419-99A9-A14E76D1FF4F}" type="pres">
      <dgm:prSet presAssocID="{FAFC968B-017B-4447-AFE0-7D6762C11B99}" presName="node" presStyleLbl="node1" presStyleIdx="1" presStyleCnt="6" custScaleX="57339" custScaleY="8870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02041577-CD1C-4146-B6EB-37E3DFAC8CD9}" type="pres">
      <dgm:prSet presAssocID="{FAFC968B-017B-4447-AFE0-7D6762C11B99}" presName="spNode" presStyleCnt="0"/>
      <dgm:spPr/>
    </dgm:pt>
    <dgm:pt modelId="{3011829A-B6F7-42B2-93FE-AFEF785F6A98}" type="pres">
      <dgm:prSet presAssocID="{3F347B4F-5FA9-4A64-9FC3-83D8AC4BCDE8}" presName="sibTrans" presStyleLbl="sibTrans1D1" presStyleIdx="1" presStyleCnt="6"/>
      <dgm:spPr/>
      <dgm:t>
        <a:bodyPr/>
        <a:lstStyle/>
        <a:p>
          <a:endParaRPr lang="en-AU"/>
        </a:p>
      </dgm:t>
    </dgm:pt>
    <dgm:pt modelId="{A01A244B-6223-4A12-BDDA-263A81E045AF}" type="pres">
      <dgm:prSet presAssocID="{1202097B-DF82-4E52-AF68-18025F1B9C72}" presName="node" presStyleLbl="node1" presStyleIdx="2" presStyleCnt="6" custScaleX="57339" custScaleY="88702" custRadScaleRad="96612" custRadScaleInc="-558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F6749A2-B813-452E-8A65-EA1EF03CA0DD}" type="pres">
      <dgm:prSet presAssocID="{1202097B-DF82-4E52-AF68-18025F1B9C72}" presName="spNode" presStyleCnt="0"/>
      <dgm:spPr/>
    </dgm:pt>
    <dgm:pt modelId="{FB2D284A-8018-4453-8CA5-BD8BDA866F85}" type="pres">
      <dgm:prSet presAssocID="{44427ACE-86B2-4AB4-8D78-F15E3A5203A3}" presName="sibTrans" presStyleLbl="sibTrans1D1" presStyleIdx="2" presStyleCnt="6"/>
      <dgm:spPr/>
      <dgm:t>
        <a:bodyPr/>
        <a:lstStyle/>
        <a:p>
          <a:endParaRPr lang="en-AU"/>
        </a:p>
      </dgm:t>
    </dgm:pt>
    <dgm:pt modelId="{650A9BF5-3FFE-4BBE-A382-F9B40FA7D8A4}" type="pres">
      <dgm:prSet presAssocID="{4C387E16-FBFD-4A6F-B1D5-48934A22221F}" presName="node" presStyleLbl="node1" presStyleIdx="3" presStyleCnt="6" custScaleX="57339" custScaleY="8870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1120C8D8-6103-46AB-B310-5DC7924E4C65}" type="pres">
      <dgm:prSet presAssocID="{4C387E16-FBFD-4A6F-B1D5-48934A22221F}" presName="spNode" presStyleCnt="0"/>
      <dgm:spPr/>
    </dgm:pt>
    <dgm:pt modelId="{9E714571-3622-4F12-AA09-A90F781D31F0}" type="pres">
      <dgm:prSet presAssocID="{566393E3-17DE-4923-AEDD-B414363FDC66}" presName="sibTrans" presStyleLbl="sibTrans1D1" presStyleIdx="3" presStyleCnt="6"/>
      <dgm:spPr/>
      <dgm:t>
        <a:bodyPr/>
        <a:lstStyle/>
        <a:p>
          <a:endParaRPr lang="en-AU"/>
        </a:p>
      </dgm:t>
    </dgm:pt>
    <dgm:pt modelId="{B9206DD4-D205-4477-8AE1-E70597597D96}" type="pres">
      <dgm:prSet presAssocID="{BB2C6E7C-1DEA-4040-9F3F-B34DFC0C7F14}" presName="node" presStyleLbl="node1" presStyleIdx="4" presStyleCnt="6" custScaleX="57339" custScaleY="88702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7B79AFF4-77E9-4F29-93DD-FCCDD86D35E0}" type="pres">
      <dgm:prSet presAssocID="{BB2C6E7C-1DEA-4040-9F3F-B34DFC0C7F14}" presName="spNode" presStyleCnt="0"/>
      <dgm:spPr/>
    </dgm:pt>
    <dgm:pt modelId="{E9DB2AA7-DB29-4B6A-B25F-94CC8572E52F}" type="pres">
      <dgm:prSet presAssocID="{83AD59F8-85F7-4BBE-A205-2E2756C2300C}" presName="sibTrans" presStyleLbl="sibTrans1D1" presStyleIdx="4" presStyleCnt="6"/>
      <dgm:spPr/>
      <dgm:t>
        <a:bodyPr/>
        <a:lstStyle/>
        <a:p>
          <a:endParaRPr lang="en-AU"/>
        </a:p>
      </dgm:t>
    </dgm:pt>
    <dgm:pt modelId="{CEF0CD95-3F91-41C4-B086-D39C52A0D7BB}" type="pres">
      <dgm:prSet presAssocID="{E17FD947-99C0-46E1-9569-AA1781513C02}" presName="node" presStyleLbl="node1" presStyleIdx="5" presStyleCnt="6" custScaleX="57339" custScaleY="88702" custRadScaleRad="101403" custRadScaleInc="-3641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84CBED96-0325-42DA-8A02-BEA9714DA4A7}" type="pres">
      <dgm:prSet presAssocID="{E17FD947-99C0-46E1-9569-AA1781513C02}" presName="spNode" presStyleCnt="0"/>
      <dgm:spPr/>
    </dgm:pt>
    <dgm:pt modelId="{FA6F7FE1-171D-4D7A-AB73-36871E74C4E2}" type="pres">
      <dgm:prSet presAssocID="{0D8A57E7-4344-43DE-840D-411FF968E828}" presName="sibTrans" presStyleLbl="sibTrans1D1" presStyleIdx="5" presStyleCnt="6"/>
      <dgm:spPr/>
      <dgm:t>
        <a:bodyPr/>
        <a:lstStyle/>
        <a:p>
          <a:endParaRPr lang="en-AU"/>
        </a:p>
      </dgm:t>
    </dgm:pt>
  </dgm:ptLst>
  <dgm:cxnLst>
    <dgm:cxn modelId="{D319C2D5-9F17-4FD3-BCF6-08A5E5724992}" srcId="{B2E66525-0B8A-44B1-A72F-D80F10FA6E6E}" destId="{BB2C6E7C-1DEA-4040-9F3F-B34DFC0C7F14}" srcOrd="4" destOrd="0" parTransId="{5878748E-42C7-4565-A0B1-FF99C4A9844D}" sibTransId="{83AD59F8-85F7-4BBE-A205-2E2756C2300C}"/>
    <dgm:cxn modelId="{5573E0BE-E4CA-4039-92A4-3F9FB1E6C904}" srcId="{B2E66525-0B8A-44B1-A72F-D80F10FA6E6E}" destId="{5F913EEE-ECF0-403E-A82E-9EC558A47C09}" srcOrd="0" destOrd="0" parTransId="{0627EF0A-B128-404E-9EC1-B0B978C9F6DA}" sibTransId="{1CD033DF-68CD-405F-B1F0-1106F968F3E3}"/>
    <dgm:cxn modelId="{82195AE7-7A0B-4032-BEC4-DA0BE7DF19A2}" srcId="{B2E66525-0B8A-44B1-A72F-D80F10FA6E6E}" destId="{4C387E16-FBFD-4A6F-B1D5-48934A22221F}" srcOrd="3" destOrd="0" parTransId="{52D3D118-936D-4D5E-B77C-1DBBE7A35D1C}" sibTransId="{566393E3-17DE-4923-AEDD-B414363FDC66}"/>
    <dgm:cxn modelId="{A5647FF3-D0FE-47B7-A23F-1A2B4CA09778}" type="presOf" srcId="{E17FD947-99C0-46E1-9569-AA1781513C02}" destId="{CEF0CD95-3F91-41C4-B086-D39C52A0D7BB}" srcOrd="0" destOrd="0" presId="urn:microsoft.com/office/officeart/2005/8/layout/cycle5"/>
    <dgm:cxn modelId="{427E8010-567B-4A3F-8C06-4FFAF111AEFB}" srcId="{B2E66525-0B8A-44B1-A72F-D80F10FA6E6E}" destId="{E17FD947-99C0-46E1-9569-AA1781513C02}" srcOrd="5" destOrd="0" parTransId="{862AC6FD-F838-4442-9805-47D2D578EEE7}" sibTransId="{0D8A57E7-4344-43DE-840D-411FF968E828}"/>
    <dgm:cxn modelId="{6FF6C091-4FDE-42CA-8A1C-DECC8261EF9F}" type="presOf" srcId="{5F913EEE-ECF0-403E-A82E-9EC558A47C09}" destId="{5F0EF0FD-F7B6-4749-8DAC-26D0C46B5F7B}" srcOrd="0" destOrd="0" presId="urn:microsoft.com/office/officeart/2005/8/layout/cycle5"/>
    <dgm:cxn modelId="{EC89B70A-FD12-4531-B55C-A062FCAF5394}" srcId="{B2E66525-0B8A-44B1-A72F-D80F10FA6E6E}" destId="{1202097B-DF82-4E52-AF68-18025F1B9C72}" srcOrd="2" destOrd="0" parTransId="{26CD3CFA-F017-4C28-BE6E-77D855012172}" sibTransId="{44427ACE-86B2-4AB4-8D78-F15E3A5203A3}"/>
    <dgm:cxn modelId="{A960E8F6-BD10-4295-8DF3-4489DBBE6430}" type="presOf" srcId="{0D8A57E7-4344-43DE-840D-411FF968E828}" destId="{FA6F7FE1-171D-4D7A-AB73-36871E74C4E2}" srcOrd="0" destOrd="0" presId="urn:microsoft.com/office/officeart/2005/8/layout/cycle5"/>
    <dgm:cxn modelId="{0465BFF0-8219-4188-82F9-F4E6E5CF76C3}" type="presOf" srcId="{83AD59F8-85F7-4BBE-A205-2E2756C2300C}" destId="{E9DB2AA7-DB29-4B6A-B25F-94CC8572E52F}" srcOrd="0" destOrd="0" presId="urn:microsoft.com/office/officeart/2005/8/layout/cycle5"/>
    <dgm:cxn modelId="{D1BBAA12-80AC-4139-8FD8-5483E013871B}" srcId="{B2E66525-0B8A-44B1-A72F-D80F10FA6E6E}" destId="{FAFC968B-017B-4447-AFE0-7D6762C11B99}" srcOrd="1" destOrd="0" parTransId="{6FF26074-01C1-45F1-BE51-BC5E6F9F07FC}" sibTransId="{3F347B4F-5FA9-4A64-9FC3-83D8AC4BCDE8}"/>
    <dgm:cxn modelId="{7DB0614B-74DF-46B3-A5FB-024C367925DC}" type="presOf" srcId="{FAFC968B-017B-4447-AFE0-7D6762C11B99}" destId="{6A675661-588F-4419-99A9-A14E76D1FF4F}" srcOrd="0" destOrd="0" presId="urn:microsoft.com/office/officeart/2005/8/layout/cycle5"/>
    <dgm:cxn modelId="{A3008C4F-B212-4598-903D-E36B5812CE39}" type="presOf" srcId="{B2E66525-0B8A-44B1-A72F-D80F10FA6E6E}" destId="{21FB4C09-D23C-44BB-80F7-772CC6DA19F5}" srcOrd="0" destOrd="0" presId="urn:microsoft.com/office/officeart/2005/8/layout/cycle5"/>
    <dgm:cxn modelId="{E04B1739-954C-41C2-BA2A-BACC64420DD0}" type="presOf" srcId="{1CD033DF-68CD-405F-B1F0-1106F968F3E3}" destId="{15EDFBFA-3606-4AF0-A362-4B7585E7F6F8}" srcOrd="0" destOrd="0" presId="urn:microsoft.com/office/officeart/2005/8/layout/cycle5"/>
    <dgm:cxn modelId="{ECE79C45-57D6-4E08-802D-7B93EDED1DF7}" type="presOf" srcId="{4C387E16-FBFD-4A6F-B1D5-48934A22221F}" destId="{650A9BF5-3FFE-4BBE-A382-F9B40FA7D8A4}" srcOrd="0" destOrd="0" presId="urn:microsoft.com/office/officeart/2005/8/layout/cycle5"/>
    <dgm:cxn modelId="{A6B62F67-987C-4FE8-B14E-BD7D4DC5AF4A}" type="presOf" srcId="{3F347B4F-5FA9-4A64-9FC3-83D8AC4BCDE8}" destId="{3011829A-B6F7-42B2-93FE-AFEF785F6A98}" srcOrd="0" destOrd="0" presId="urn:microsoft.com/office/officeart/2005/8/layout/cycle5"/>
    <dgm:cxn modelId="{57D0FD22-A4FC-4551-9597-C3CE880F7821}" type="presOf" srcId="{566393E3-17DE-4923-AEDD-B414363FDC66}" destId="{9E714571-3622-4F12-AA09-A90F781D31F0}" srcOrd="0" destOrd="0" presId="urn:microsoft.com/office/officeart/2005/8/layout/cycle5"/>
    <dgm:cxn modelId="{5E8AA748-F183-4D98-92E6-95B2D3F4FDC7}" type="presOf" srcId="{BB2C6E7C-1DEA-4040-9F3F-B34DFC0C7F14}" destId="{B9206DD4-D205-4477-8AE1-E70597597D96}" srcOrd="0" destOrd="0" presId="urn:microsoft.com/office/officeart/2005/8/layout/cycle5"/>
    <dgm:cxn modelId="{978B1499-F7A4-45DE-AA8C-68F8A6894C61}" type="presOf" srcId="{44427ACE-86B2-4AB4-8D78-F15E3A5203A3}" destId="{FB2D284A-8018-4453-8CA5-BD8BDA866F85}" srcOrd="0" destOrd="0" presId="urn:microsoft.com/office/officeart/2005/8/layout/cycle5"/>
    <dgm:cxn modelId="{28155E6C-77DD-4775-BCF8-30CF3BEEA43F}" type="presOf" srcId="{1202097B-DF82-4E52-AF68-18025F1B9C72}" destId="{A01A244B-6223-4A12-BDDA-263A81E045AF}" srcOrd="0" destOrd="0" presId="urn:microsoft.com/office/officeart/2005/8/layout/cycle5"/>
    <dgm:cxn modelId="{C1F90627-B648-465D-91A6-3E56FD8466FD}" type="presParOf" srcId="{21FB4C09-D23C-44BB-80F7-772CC6DA19F5}" destId="{5F0EF0FD-F7B6-4749-8DAC-26D0C46B5F7B}" srcOrd="0" destOrd="0" presId="urn:microsoft.com/office/officeart/2005/8/layout/cycle5"/>
    <dgm:cxn modelId="{440FFC25-7F85-46E1-BC69-710A0F866963}" type="presParOf" srcId="{21FB4C09-D23C-44BB-80F7-772CC6DA19F5}" destId="{171A77E9-8F23-43D9-843F-CEDB152AED5F}" srcOrd="1" destOrd="0" presId="urn:microsoft.com/office/officeart/2005/8/layout/cycle5"/>
    <dgm:cxn modelId="{EB48084E-1F9C-4AC5-B394-E1F20998F8AE}" type="presParOf" srcId="{21FB4C09-D23C-44BB-80F7-772CC6DA19F5}" destId="{15EDFBFA-3606-4AF0-A362-4B7585E7F6F8}" srcOrd="2" destOrd="0" presId="urn:microsoft.com/office/officeart/2005/8/layout/cycle5"/>
    <dgm:cxn modelId="{933B2B03-FC02-461E-8068-7E6DB7988775}" type="presParOf" srcId="{21FB4C09-D23C-44BB-80F7-772CC6DA19F5}" destId="{6A675661-588F-4419-99A9-A14E76D1FF4F}" srcOrd="3" destOrd="0" presId="urn:microsoft.com/office/officeart/2005/8/layout/cycle5"/>
    <dgm:cxn modelId="{626FF75A-0951-473F-B1A7-15A054485118}" type="presParOf" srcId="{21FB4C09-D23C-44BB-80F7-772CC6DA19F5}" destId="{02041577-CD1C-4146-B6EB-37E3DFAC8CD9}" srcOrd="4" destOrd="0" presId="urn:microsoft.com/office/officeart/2005/8/layout/cycle5"/>
    <dgm:cxn modelId="{C3448788-FED2-4BF5-9AB2-A37998FB76D4}" type="presParOf" srcId="{21FB4C09-D23C-44BB-80F7-772CC6DA19F5}" destId="{3011829A-B6F7-42B2-93FE-AFEF785F6A98}" srcOrd="5" destOrd="0" presId="urn:microsoft.com/office/officeart/2005/8/layout/cycle5"/>
    <dgm:cxn modelId="{6AED0DFF-502B-4679-B955-060204F9FBFD}" type="presParOf" srcId="{21FB4C09-D23C-44BB-80F7-772CC6DA19F5}" destId="{A01A244B-6223-4A12-BDDA-263A81E045AF}" srcOrd="6" destOrd="0" presId="urn:microsoft.com/office/officeart/2005/8/layout/cycle5"/>
    <dgm:cxn modelId="{EA7EC2B6-7767-44BF-A8B2-19A496F8EEBC}" type="presParOf" srcId="{21FB4C09-D23C-44BB-80F7-772CC6DA19F5}" destId="{9F6749A2-B813-452E-8A65-EA1EF03CA0DD}" srcOrd="7" destOrd="0" presId="urn:microsoft.com/office/officeart/2005/8/layout/cycle5"/>
    <dgm:cxn modelId="{49012E18-2E4E-4F09-9033-B9721C56C2A7}" type="presParOf" srcId="{21FB4C09-D23C-44BB-80F7-772CC6DA19F5}" destId="{FB2D284A-8018-4453-8CA5-BD8BDA866F85}" srcOrd="8" destOrd="0" presId="urn:microsoft.com/office/officeart/2005/8/layout/cycle5"/>
    <dgm:cxn modelId="{F39AEF43-70E9-441B-A845-C57F541D14EB}" type="presParOf" srcId="{21FB4C09-D23C-44BB-80F7-772CC6DA19F5}" destId="{650A9BF5-3FFE-4BBE-A382-F9B40FA7D8A4}" srcOrd="9" destOrd="0" presId="urn:microsoft.com/office/officeart/2005/8/layout/cycle5"/>
    <dgm:cxn modelId="{64E978A0-10D5-467A-9BBA-B92F17E9173D}" type="presParOf" srcId="{21FB4C09-D23C-44BB-80F7-772CC6DA19F5}" destId="{1120C8D8-6103-46AB-B310-5DC7924E4C65}" srcOrd="10" destOrd="0" presId="urn:microsoft.com/office/officeart/2005/8/layout/cycle5"/>
    <dgm:cxn modelId="{8A62D007-8A0C-45A8-A8E8-DA900B85AAD1}" type="presParOf" srcId="{21FB4C09-D23C-44BB-80F7-772CC6DA19F5}" destId="{9E714571-3622-4F12-AA09-A90F781D31F0}" srcOrd="11" destOrd="0" presId="urn:microsoft.com/office/officeart/2005/8/layout/cycle5"/>
    <dgm:cxn modelId="{53766EE2-2189-4E8A-96A3-803030C46380}" type="presParOf" srcId="{21FB4C09-D23C-44BB-80F7-772CC6DA19F5}" destId="{B9206DD4-D205-4477-8AE1-E70597597D96}" srcOrd="12" destOrd="0" presId="urn:microsoft.com/office/officeart/2005/8/layout/cycle5"/>
    <dgm:cxn modelId="{CEE306D6-52C1-438D-970C-65B057C87376}" type="presParOf" srcId="{21FB4C09-D23C-44BB-80F7-772CC6DA19F5}" destId="{7B79AFF4-77E9-4F29-93DD-FCCDD86D35E0}" srcOrd="13" destOrd="0" presId="urn:microsoft.com/office/officeart/2005/8/layout/cycle5"/>
    <dgm:cxn modelId="{2F066E30-3859-4965-AA49-AB069DAEE508}" type="presParOf" srcId="{21FB4C09-D23C-44BB-80F7-772CC6DA19F5}" destId="{E9DB2AA7-DB29-4B6A-B25F-94CC8572E52F}" srcOrd="14" destOrd="0" presId="urn:microsoft.com/office/officeart/2005/8/layout/cycle5"/>
    <dgm:cxn modelId="{761EA5BD-3DFF-4B8A-9DA2-88366F9D5CD3}" type="presParOf" srcId="{21FB4C09-D23C-44BB-80F7-772CC6DA19F5}" destId="{CEF0CD95-3F91-41C4-B086-D39C52A0D7BB}" srcOrd="15" destOrd="0" presId="urn:microsoft.com/office/officeart/2005/8/layout/cycle5"/>
    <dgm:cxn modelId="{47449187-6CD5-4409-B5A2-D6CE7B295A70}" type="presParOf" srcId="{21FB4C09-D23C-44BB-80F7-772CC6DA19F5}" destId="{84CBED96-0325-42DA-8A02-BEA9714DA4A7}" srcOrd="16" destOrd="0" presId="urn:microsoft.com/office/officeart/2005/8/layout/cycle5"/>
    <dgm:cxn modelId="{16F1ADCE-077A-4320-98AD-CF233F6C1E48}" type="presParOf" srcId="{21FB4C09-D23C-44BB-80F7-772CC6DA19F5}" destId="{FA6F7FE1-171D-4D7A-AB73-36871E74C4E2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0EF0FD-F7B6-4749-8DAC-26D0C46B5F7B}">
      <dsp:nvSpPr>
        <dsp:cNvPr id="0" name=""/>
        <dsp:cNvSpPr/>
      </dsp:nvSpPr>
      <dsp:spPr>
        <a:xfrm>
          <a:off x="3439272" y="51340"/>
          <a:ext cx="831844" cy="776137"/>
        </a:xfrm>
        <a:prstGeom prst="round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3477160" y="89228"/>
        <a:ext cx="756068" cy="700361"/>
      </dsp:txXfrm>
    </dsp:sp>
    <dsp:sp modelId="{15EDFBFA-3606-4AF0-A362-4B7585E7F6F8}">
      <dsp:nvSpPr>
        <dsp:cNvPr id="0" name=""/>
        <dsp:cNvSpPr/>
      </dsp:nvSpPr>
      <dsp:spPr>
        <a:xfrm>
          <a:off x="1796477" y="439409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2712719" y="106641"/>
              </a:moveTo>
              <a:arcTo wR="2058717" hR="2058717" stAng="17311341" swAng="1268137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675661-588F-4419-99A9-A14E76D1FF4F}">
      <dsp:nvSpPr>
        <dsp:cNvPr id="0" name=""/>
        <dsp:cNvSpPr/>
      </dsp:nvSpPr>
      <dsp:spPr>
        <a:xfrm>
          <a:off x="5253100" y="1081641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5290688" y="1119229"/>
        <a:ext cx="694815" cy="699076"/>
      </dsp:txXfrm>
    </dsp:sp>
    <dsp:sp modelId="{3011829A-B6F7-42B2-93FE-AFEF785F6A98}">
      <dsp:nvSpPr>
        <dsp:cNvPr id="0" name=""/>
        <dsp:cNvSpPr/>
      </dsp:nvSpPr>
      <dsp:spPr>
        <a:xfrm>
          <a:off x="1762412" y="324473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4097918" y="1775920"/>
              </a:moveTo>
              <a:arcTo wR="2058717" hR="2058717" stAng="21126274" swAng="1283387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A244B-6223-4A12-BDDA-263A81E045AF}">
      <dsp:nvSpPr>
        <dsp:cNvPr id="0" name=""/>
        <dsp:cNvSpPr/>
      </dsp:nvSpPr>
      <dsp:spPr>
        <a:xfrm>
          <a:off x="5194630" y="3102127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5232218" y="3139715"/>
        <a:ext cx="694815" cy="699076"/>
      </dsp:txXfrm>
    </dsp:sp>
    <dsp:sp modelId="{FB2D284A-8018-4453-8CA5-BD8BDA866F85}">
      <dsp:nvSpPr>
        <dsp:cNvPr id="0" name=""/>
        <dsp:cNvSpPr/>
      </dsp:nvSpPr>
      <dsp:spPr>
        <a:xfrm>
          <a:off x="1677997" y="465604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3438821" y="3586339"/>
              </a:moveTo>
              <a:arcTo wR="2058717" hR="2058717" stAng="2874258" swAng="1265280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0A9BF5-3FFE-4BBE-A382-F9B40FA7D8A4}">
      <dsp:nvSpPr>
        <dsp:cNvPr id="0" name=""/>
        <dsp:cNvSpPr/>
      </dsp:nvSpPr>
      <dsp:spPr>
        <a:xfrm>
          <a:off x="3470199" y="4169717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3507787" y="4207305"/>
        <a:ext cx="694815" cy="699076"/>
      </dsp:txXfrm>
    </dsp:sp>
    <dsp:sp modelId="{9E714571-3622-4F12-AA09-A90F781D31F0}">
      <dsp:nvSpPr>
        <dsp:cNvPr id="0" name=""/>
        <dsp:cNvSpPr/>
      </dsp:nvSpPr>
      <dsp:spPr>
        <a:xfrm>
          <a:off x="1796477" y="439409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1428963" y="4018749"/>
              </a:moveTo>
              <a:arcTo wR="2058717" hR="2058717" stAng="6468726" swAng="1300719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06DD4-D205-4477-8AE1-E70597597D96}">
      <dsp:nvSpPr>
        <dsp:cNvPr id="0" name=""/>
        <dsp:cNvSpPr/>
      </dsp:nvSpPr>
      <dsp:spPr>
        <a:xfrm>
          <a:off x="1687297" y="3140359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5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/>
          </a:r>
          <a:br>
            <a:rPr lang="en-AU" sz="1900" kern="1200" dirty="0" smtClean="0"/>
          </a:br>
          <a:endParaRPr lang="en-AU" sz="1900" kern="1200" dirty="0"/>
        </a:p>
      </dsp:txBody>
      <dsp:txXfrm>
        <a:off x="1724885" y="3177947"/>
        <a:ext cx="694815" cy="699076"/>
      </dsp:txXfrm>
    </dsp:sp>
    <dsp:sp modelId="{E9DB2AA7-DB29-4B6A-B25F-94CC8572E52F}">
      <dsp:nvSpPr>
        <dsp:cNvPr id="0" name=""/>
        <dsp:cNvSpPr/>
      </dsp:nvSpPr>
      <dsp:spPr>
        <a:xfrm>
          <a:off x="1780585" y="392888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48345" y="2502253"/>
              </a:moveTo>
              <a:arcTo wR="2058717" hR="2058717" stAng="10053510" swAng="1314406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F0CD95-3F91-41C4-B086-D39C52A0D7BB}">
      <dsp:nvSpPr>
        <dsp:cNvPr id="0" name=""/>
        <dsp:cNvSpPr/>
      </dsp:nvSpPr>
      <dsp:spPr>
        <a:xfrm>
          <a:off x="1649163" y="1090261"/>
          <a:ext cx="769991" cy="774252"/>
        </a:xfrm>
        <a:prstGeom prst="roundRect">
          <a:avLst/>
        </a:prstGeom>
        <a:blipFill rotWithShape="0">
          <a:blip xmlns:r="http://schemas.openxmlformats.org/officeDocument/2006/relationships" r:embed="rId6"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900" kern="1200" dirty="0" smtClean="0"/>
            <a:t> </a:t>
          </a:r>
          <a:endParaRPr lang="en-AU" sz="1900" kern="1200" dirty="0"/>
        </a:p>
      </dsp:txBody>
      <dsp:txXfrm>
        <a:off x="1686751" y="1127849"/>
        <a:ext cx="694815" cy="699076"/>
      </dsp:txXfrm>
    </dsp:sp>
    <dsp:sp modelId="{FA6F7FE1-171D-4D7A-AB73-36871E74C4E2}">
      <dsp:nvSpPr>
        <dsp:cNvPr id="0" name=""/>
        <dsp:cNvSpPr/>
      </dsp:nvSpPr>
      <dsp:spPr>
        <a:xfrm>
          <a:off x="1748321" y="448746"/>
          <a:ext cx="4117434" cy="4117434"/>
        </a:xfrm>
        <a:custGeom>
          <a:avLst/>
          <a:gdLst/>
          <a:ahLst/>
          <a:cxnLst/>
          <a:rect l="0" t="0" r="0" b="0"/>
          <a:pathLst>
            <a:path>
              <a:moveTo>
                <a:pt x="752662" y="467322"/>
              </a:moveTo>
              <a:arcTo wR="2058717" hR="2058717" stAng="13837460" swAng="1317826"/>
            </a:path>
          </a:pathLst>
        </a:custGeom>
        <a:noFill/>
        <a:ln w="6350" cap="flat" cmpd="sng" algn="ctr">
          <a:solidFill>
            <a:schemeClr val="tx1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0.2505</cdr:x>
      <cdr:y>0.09696</cdr:y>
    </cdr:from>
    <cdr:to>
      <cdr:x>0.7269</cdr:x>
      <cdr:y>0.20797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897336" y="222047"/>
          <a:ext cx="1706523" cy="25420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AU" sz="1200" dirty="0">
              <a:latin typeface="Univers 45 Light" pitchFamily="2" charset="0"/>
            </a:rPr>
            <a:t>Human baseline = 87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5300"/>
          </a:xfrm>
          <a:prstGeom prst="rect">
            <a:avLst/>
          </a:prstGeom>
        </p:spPr>
        <p:txBody>
          <a:bodyPr vert="horz" lIns="91021" tIns="45511" rIns="91021" bIns="45511" rtlCol="0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5300"/>
          </a:xfrm>
          <a:prstGeom prst="rect">
            <a:avLst/>
          </a:prstGeom>
        </p:spPr>
        <p:txBody>
          <a:bodyPr vert="horz" lIns="91021" tIns="45511" rIns="91021" bIns="45511" rtlCol="0"/>
          <a:lstStyle>
            <a:lvl1pPr algn="r">
              <a:defRPr sz="1200"/>
            </a:lvl1pPr>
          </a:lstStyle>
          <a:p>
            <a:pPr>
              <a:defRPr/>
            </a:pPr>
            <a:fld id="{50943AA6-93FA-4552-948D-A2AC59DFCD04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3063" y="1233488"/>
            <a:ext cx="5922962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21" tIns="45511" rIns="91021" bIns="45511" rtlCol="0" anchor="ctr"/>
          <a:lstStyle/>
          <a:p>
            <a:pPr lvl="0"/>
            <a:endParaRPr lang="en-AU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51388"/>
            <a:ext cx="5335588" cy="3887787"/>
          </a:xfrm>
          <a:prstGeom prst="rect">
            <a:avLst/>
          </a:prstGeom>
        </p:spPr>
        <p:txBody>
          <a:bodyPr vert="horz" lIns="91021" tIns="45511" rIns="91021" bIns="45511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AU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890838" cy="495300"/>
          </a:xfrm>
          <a:prstGeom prst="rect">
            <a:avLst/>
          </a:prstGeom>
        </p:spPr>
        <p:txBody>
          <a:bodyPr vert="horz" lIns="91021" tIns="45511" rIns="91021" bIns="45511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377363"/>
            <a:ext cx="2889250" cy="495300"/>
          </a:xfrm>
          <a:prstGeom prst="rect">
            <a:avLst/>
          </a:prstGeom>
        </p:spPr>
        <p:txBody>
          <a:bodyPr vert="horz" lIns="91021" tIns="45511" rIns="91021" bIns="45511" rtlCol="0" anchor="b"/>
          <a:lstStyle>
            <a:lvl1pPr algn="r">
              <a:defRPr sz="1200"/>
            </a:lvl1pPr>
          </a:lstStyle>
          <a:p>
            <a:pPr>
              <a:defRPr/>
            </a:pPr>
            <a:fld id="{4D579E69-BEA6-4826-8AEA-F87A82E406B9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07623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None/>
              <a:defRPr/>
            </a:pPr>
            <a:endParaRPr lang="en-AU" altLang="en-US" dirty="0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D5E223-3C8E-4E55-9B1D-703EA3D565E9}" type="slidenum">
              <a:rPr lang="en-AU" altLang="en-US" smtClean="0"/>
              <a:pPr/>
              <a:t>2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96426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  <a:defRPr/>
            </a:pPr>
            <a:endParaRPr lang="en-AU" alt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509C62-5267-4CFF-8EA1-E835FA9C7517}" type="slidenum">
              <a:rPr lang="en-AU" altLang="en-US" smtClean="0"/>
              <a:pPr/>
              <a:t>3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168184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69657" indent="-169657">
              <a:buFontTx/>
              <a:buChar char="•"/>
              <a:defRPr/>
            </a:pPr>
            <a:endParaRPr lang="en-AU" altLang="en-US" dirty="0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505899-F66F-4F41-9812-76401C2A73F0}" type="slidenum">
              <a:rPr lang="en-AU" altLang="en-US" smtClean="0"/>
              <a:pPr/>
              <a:t>4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445636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 b="0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BC0E15-6365-49B4-B417-9767FFBCE30F}" type="slidenum">
              <a:rPr lang="en-AU" altLang="en-US" smtClean="0"/>
              <a:pPr/>
              <a:t>5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818124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  <a:defRPr/>
            </a:pPr>
            <a:endParaRPr lang="en-AU" altLang="en-US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2D067-D43A-4AD2-9212-220827E7F635}" type="slidenum">
              <a:rPr lang="en-AU" altLang="en-US" smtClean="0"/>
              <a:pPr/>
              <a:t>6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1682023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en-AU" altLang="en-US" b="1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E38F0-8F1B-4025-9901-378D35EC36C3}" type="slidenum">
              <a:rPr lang="en-AU" altLang="en-US" smtClean="0"/>
              <a:pPr/>
              <a:t>7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109148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buFontTx/>
              <a:buNone/>
            </a:pPr>
            <a:endParaRPr lang="en-AU" altLang="en-US" b="1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223885-D314-48C5-83A6-87449B579C1F}" type="slidenum">
              <a:rPr lang="en-AU" altLang="en-US" smtClean="0"/>
              <a:pPr/>
              <a:t>8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086631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AU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E32BC9-F5E2-44C1-8EB0-4282995245DD}" type="slidenum">
              <a:rPr lang="en-AU" altLang="en-US" smtClean="0"/>
              <a:pPr/>
              <a:t>9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809377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 b="1" dirty="0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38188" indent="-2825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36650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90675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46288" indent="-2270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034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606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178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75088" indent="-2270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61C22D-D501-44DA-8514-E6B83B799FD0}" type="slidenum">
              <a:rPr lang="en-AU" altLang="en-US" smtClean="0"/>
              <a:pPr/>
              <a:t>10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27829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" b="13678"/>
          <a:stretch>
            <a:fillRect/>
          </a:stretch>
        </p:blipFill>
        <p:spPr bwMode="auto">
          <a:xfrm>
            <a:off x="0" y="-9525"/>
            <a:ext cx="12345988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25606" y="1339206"/>
            <a:ext cx="6573734" cy="3510000"/>
          </a:xfrm>
          <a:prstGeom prst="rect">
            <a:avLst/>
          </a:prstGeom>
        </p:spPr>
        <p:txBody>
          <a:bodyPr anchor="t"/>
          <a:lstStyle>
            <a:lvl1pPr algn="l">
              <a:defRPr sz="8800">
                <a:solidFill>
                  <a:schemeClr val="bg1"/>
                </a:solidFill>
                <a:latin typeface="KPMG Extralight" panose="020B030303020204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1054" y="5036400"/>
            <a:ext cx="6538286" cy="2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Univers 45 Light" pitchFamily="2" charset="0"/>
              </a:defRPr>
            </a:lvl1pPr>
            <a:lvl2pPr>
              <a:defRPr sz="1077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077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077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77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362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B2FF6-81F3-480A-ADF4-DC43313CBF06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C8379-1A57-4568-9BB0-F8C9FBBBF2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626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27FC4-1E63-4224-8330-F9A5A9AC74C7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F6DE1-91E9-422D-9234-E3E27D6A86D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38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63326-99E0-420E-9370-041D344D7E81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41B3A-C514-4D7D-AB02-D9E8BA5CB26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721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9ED80-F239-4949-841C-BFF74A9C1068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94A56-174B-4A2A-ACF2-82B626EA7BD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859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757094-DF30-4D44-9A31-62DC43208D98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E7A6D0-AC70-410B-ACE4-FAD423395DC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031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808037" cy="6858000"/>
          </a:xfrm>
          <a:prstGeom prst="rect">
            <a:avLst/>
          </a:prstGeom>
          <a:blipFill dpi="0" rotWithShape="1">
            <a:blip r:embed="rId2">
              <a:alphaModFix amt="20000"/>
            </a:blip>
            <a:srcRect/>
            <a:stretch>
              <a:fillRect l="-128290" r="-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/>
          </a:p>
        </p:txBody>
      </p:sp>
      <p:sp>
        <p:nvSpPr>
          <p:cNvPr id="4" name="Freeform 19"/>
          <p:cNvSpPr>
            <a:spLocks noChangeAspect="1" noEditPoints="1"/>
          </p:cNvSpPr>
          <p:nvPr userDrawn="1"/>
        </p:nvSpPr>
        <p:spPr bwMode="auto">
          <a:xfrm>
            <a:off x="11080750" y="6359525"/>
            <a:ext cx="757238" cy="307975"/>
          </a:xfrm>
          <a:custGeom>
            <a:avLst/>
            <a:gdLst>
              <a:gd name="T0" fmla="*/ 2147483646 w 283"/>
              <a:gd name="T1" fmla="*/ 2147483646 h 114"/>
              <a:gd name="T2" fmla="*/ 2147483646 w 283"/>
              <a:gd name="T3" fmla="*/ 2147483646 h 114"/>
              <a:gd name="T4" fmla="*/ 2147483646 w 283"/>
              <a:gd name="T5" fmla="*/ 2147483646 h 114"/>
              <a:gd name="T6" fmla="*/ 2147483646 w 283"/>
              <a:gd name="T7" fmla="*/ 2147483646 h 114"/>
              <a:gd name="T8" fmla="*/ 2147483646 w 283"/>
              <a:gd name="T9" fmla="*/ 2147483646 h 114"/>
              <a:gd name="T10" fmla="*/ 2147483646 w 283"/>
              <a:gd name="T11" fmla="*/ 2147483646 h 114"/>
              <a:gd name="T12" fmla="*/ 2147483646 w 283"/>
              <a:gd name="T13" fmla="*/ 2147483646 h 114"/>
              <a:gd name="T14" fmla="*/ 2147483646 w 283"/>
              <a:gd name="T15" fmla="*/ 2147483646 h 114"/>
              <a:gd name="T16" fmla="*/ 2147483646 w 283"/>
              <a:gd name="T17" fmla="*/ 2147483646 h 114"/>
              <a:gd name="T18" fmla="*/ 2147483646 w 283"/>
              <a:gd name="T19" fmla="*/ 2147483646 h 114"/>
              <a:gd name="T20" fmla="*/ 2147483646 w 283"/>
              <a:gd name="T21" fmla="*/ 2147483646 h 114"/>
              <a:gd name="T22" fmla="*/ 2147483646 w 283"/>
              <a:gd name="T23" fmla="*/ 2147483646 h 114"/>
              <a:gd name="T24" fmla="*/ 2147483646 w 283"/>
              <a:gd name="T25" fmla="*/ 2147483646 h 114"/>
              <a:gd name="T26" fmla="*/ 2147483646 w 283"/>
              <a:gd name="T27" fmla="*/ 2147483646 h 114"/>
              <a:gd name="T28" fmla="*/ 2147483646 w 283"/>
              <a:gd name="T29" fmla="*/ 2147483646 h 114"/>
              <a:gd name="T30" fmla="*/ 2147483646 w 283"/>
              <a:gd name="T31" fmla="*/ 2147483646 h 114"/>
              <a:gd name="T32" fmla="*/ 2147483646 w 283"/>
              <a:gd name="T33" fmla="*/ 2147483646 h 114"/>
              <a:gd name="T34" fmla="*/ 2147483646 w 283"/>
              <a:gd name="T35" fmla="*/ 2147483646 h 114"/>
              <a:gd name="T36" fmla="*/ 2147483646 w 283"/>
              <a:gd name="T37" fmla="*/ 2147483646 h 114"/>
              <a:gd name="T38" fmla="*/ 2147483646 w 283"/>
              <a:gd name="T39" fmla="*/ 2147483646 h 114"/>
              <a:gd name="T40" fmla="*/ 2147483646 w 283"/>
              <a:gd name="T41" fmla="*/ 2147483646 h 114"/>
              <a:gd name="T42" fmla="*/ 2147483646 w 283"/>
              <a:gd name="T43" fmla="*/ 2147483646 h 114"/>
              <a:gd name="T44" fmla="*/ 2147483646 w 283"/>
              <a:gd name="T45" fmla="*/ 2147483646 h 114"/>
              <a:gd name="T46" fmla="*/ 2147483646 w 283"/>
              <a:gd name="T47" fmla="*/ 2147483646 h 114"/>
              <a:gd name="T48" fmla="*/ 2147483646 w 283"/>
              <a:gd name="T49" fmla="*/ 2147483646 h 114"/>
              <a:gd name="T50" fmla="*/ 2147483646 w 283"/>
              <a:gd name="T51" fmla="*/ 2147483646 h 114"/>
              <a:gd name="T52" fmla="*/ 2147483646 w 283"/>
              <a:gd name="T53" fmla="*/ 2147483646 h 114"/>
              <a:gd name="T54" fmla="*/ 2147483646 w 283"/>
              <a:gd name="T55" fmla="*/ 2147483646 h 114"/>
              <a:gd name="T56" fmla="*/ 2147483646 w 283"/>
              <a:gd name="T57" fmla="*/ 2147483646 h 114"/>
              <a:gd name="T58" fmla="*/ 2147483646 w 283"/>
              <a:gd name="T59" fmla="*/ 2147483646 h 114"/>
              <a:gd name="T60" fmla="*/ 2147483646 w 283"/>
              <a:gd name="T61" fmla="*/ 0 h 114"/>
              <a:gd name="T62" fmla="*/ 2147483646 w 283"/>
              <a:gd name="T63" fmla="*/ 0 h 114"/>
              <a:gd name="T64" fmla="*/ 2147483646 w 283"/>
              <a:gd name="T65" fmla="*/ 2147483646 h 114"/>
              <a:gd name="T66" fmla="*/ 2147483646 w 283"/>
              <a:gd name="T67" fmla="*/ 2147483646 h 114"/>
              <a:gd name="T68" fmla="*/ 2147483646 w 283"/>
              <a:gd name="T69" fmla="*/ 0 h 114"/>
              <a:gd name="T70" fmla="*/ 2147483646 w 283"/>
              <a:gd name="T71" fmla="*/ 2147483646 h 114"/>
              <a:gd name="T72" fmla="*/ 2147483646 w 283"/>
              <a:gd name="T73" fmla="*/ 2147483646 h 114"/>
              <a:gd name="T74" fmla="*/ 2147483646 w 283"/>
              <a:gd name="T75" fmla="*/ 2147483646 h 114"/>
              <a:gd name="T76" fmla="*/ 2147483646 w 283"/>
              <a:gd name="T77" fmla="*/ 2147483646 h 114"/>
              <a:gd name="T78" fmla="*/ 2147483646 w 283"/>
              <a:gd name="T79" fmla="*/ 2147483646 h 114"/>
              <a:gd name="T80" fmla="*/ 2147483646 w 283"/>
              <a:gd name="T81" fmla="*/ 2147483646 h 114"/>
              <a:gd name="T82" fmla="*/ 2147483646 w 283"/>
              <a:gd name="T83" fmla="*/ 2147483646 h 114"/>
              <a:gd name="T84" fmla="*/ 2147483646 w 283"/>
              <a:gd name="T85" fmla="*/ 2147483646 h 114"/>
              <a:gd name="T86" fmla="*/ 2147483646 w 283"/>
              <a:gd name="T87" fmla="*/ 2147483646 h 114"/>
              <a:gd name="T88" fmla="*/ 2147483646 w 283"/>
              <a:gd name="T89" fmla="*/ 2147483646 h 114"/>
              <a:gd name="T90" fmla="*/ 2147483646 w 283"/>
              <a:gd name="T91" fmla="*/ 2147483646 h 114"/>
              <a:gd name="T92" fmla="*/ 2147483646 w 283"/>
              <a:gd name="T93" fmla="*/ 0 h 11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en-AU" dirty="0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>
              <a:defRPr sz="2800" b="0">
                <a:solidFill>
                  <a:srgbClr val="00338D"/>
                </a:solidFill>
                <a:latin typeface="KPMG Extralight" panose="020B030303020204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383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4" b="13678"/>
          <a:stretch>
            <a:fillRect/>
          </a:stretch>
        </p:blipFill>
        <p:spPr bwMode="auto">
          <a:xfrm>
            <a:off x="0" y="0"/>
            <a:ext cx="12345988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154F2-14FA-4D9C-A938-C5433A64793F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36328-DFAD-4818-887B-B1EB3BB63A0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148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D09A1-0795-4CE4-BFAB-76214B72D8F0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A5D1D-EFBA-466A-9313-F730AF94490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19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86F311-1801-4F10-83A0-880742129A5B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89801-7A0C-48CD-B89E-552682B660B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137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4A366F-B0B5-4B37-97C4-95BFE7500973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088D9-4DDE-4F1B-B1CF-14552D9B50A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3464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956B39-E068-4FBC-8271-DBA64FEFB8F5}" type="datetimeFigureOut">
              <a:rPr lang="en-AU"/>
              <a:pPr>
                <a:defRPr/>
              </a:pPr>
              <a:t>4/09/2019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7DCBF-3D08-4684-8828-30DD6D3DEB6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8846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56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000" cy="454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255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3"/>
          </p:nvPr>
        </p:nvSpPr>
        <p:spPr>
          <a:xfrm>
            <a:off x="6220800" y="1330126"/>
            <a:ext cx="4968000" cy="4546800"/>
          </a:xfrm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580187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HA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11"/>
          </p:nvPr>
        </p:nvSpPr>
        <p:spPr>
          <a:xfrm>
            <a:off x="6220800" y="1330126"/>
            <a:ext cx="4968000" cy="4546800"/>
          </a:xfrm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GB" noProof="0" dirty="0" smtClean="0"/>
          </a:p>
        </p:txBody>
      </p:sp>
      <p:sp>
        <p:nvSpPr>
          <p:cNvPr id="6" name="Chart Placeholder 4"/>
          <p:cNvSpPr>
            <a:spLocks noGrp="1"/>
          </p:cNvSpPr>
          <p:nvPr>
            <p:ph type="chart" sz="quarter" idx="12"/>
          </p:nvPr>
        </p:nvSpPr>
        <p:spPr>
          <a:xfrm>
            <a:off x="1003200" y="1330126"/>
            <a:ext cx="4968000" cy="4546800"/>
          </a:xfrm>
        </p:spPr>
        <p:txBody>
          <a:bodyPr rtlCol="0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noProof="0" dirty="0" smtClean="0"/>
              <a:t>Click icon to add chart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857936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1003200" y="1708149"/>
            <a:ext cx="4968000" cy="4168775"/>
          </a:xfrm>
          <a:ln w="12700">
            <a:solidFill>
              <a:schemeClr val="tx2"/>
            </a:solidFill>
          </a:ln>
        </p:spPr>
        <p:txBody>
          <a:bodyPr lIns="54000" tIns="54000" rIns="54000" bIns="54000"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1003200" y="1322388"/>
            <a:ext cx="4968000" cy="38880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lIns="54000" tIns="54000" rIns="54000" bIns="54000" anchor="ctr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20800" y="1708149"/>
            <a:ext cx="4968000" cy="4168775"/>
          </a:xfrm>
          <a:ln w="12700">
            <a:solidFill>
              <a:schemeClr val="tx2"/>
            </a:solidFill>
          </a:ln>
        </p:spPr>
        <p:txBody>
          <a:bodyPr lIns="54000" tIns="54000" rIns="54000" bIns="54000"/>
          <a:lstStyle>
            <a:lvl1pPr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6220800" y="1322388"/>
            <a:ext cx="4968000" cy="388800"/>
          </a:xfr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lIns="54000" tIns="54000" rIns="54000" bIns="54000" anchor="ctr"/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424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16125" y="1422400"/>
            <a:ext cx="10159754" cy="46044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1016125" y="203863"/>
            <a:ext cx="10159754" cy="169200"/>
          </a:xfrm>
        </p:spPr>
        <p:txBody>
          <a:bodyPr anchor="b"/>
          <a:lstStyle>
            <a:lvl1pPr>
              <a:spcAft>
                <a:spcPts val="0"/>
              </a:spcAft>
              <a:defRPr sz="1089">
                <a:solidFill>
                  <a:srgbClr val="00338D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16125" y="451577"/>
            <a:ext cx="10159754" cy="723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4479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5 - Singular imag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/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500" dirty="0">
              <a:solidFill>
                <a:prstClr val="white"/>
              </a:solidFill>
            </a:endParaRP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/>
          <p:nvPr userDrawn="1"/>
        </p:nvSpPr>
        <p:spPr>
          <a:xfrm>
            <a:off x="0" y="0"/>
            <a:ext cx="9332913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1" tIns="54611" rIns="54611" bIns="54611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500" dirty="0">
              <a:solidFill>
                <a:prstClr val="white"/>
              </a:solidFill>
            </a:endParaRPr>
          </a:p>
        </p:txBody>
      </p:sp>
      <p:sp>
        <p:nvSpPr>
          <p:cNvPr id="6" name="object 3"/>
          <p:cNvSpPr>
            <a:spLocks/>
          </p:cNvSpPr>
          <p:nvPr userDrawn="1"/>
        </p:nvSpPr>
        <p:spPr bwMode="auto">
          <a:xfrm>
            <a:off x="0" y="0"/>
            <a:ext cx="1587500" cy="6858000"/>
          </a:xfrm>
          <a:custGeom>
            <a:avLst/>
            <a:gdLst>
              <a:gd name="T0" fmla="*/ 0 w 1742046"/>
              <a:gd name="T1" fmla="*/ 3667829 h 7772400"/>
              <a:gd name="T2" fmla="*/ 997665 w 1742046"/>
              <a:gd name="T3" fmla="*/ 3667829 h 7772400"/>
              <a:gd name="T4" fmla="*/ 997665 w 1742046"/>
              <a:gd name="T5" fmla="*/ 0 h 7772400"/>
              <a:gd name="T6" fmla="*/ 0 w 1742046"/>
              <a:gd name="T7" fmla="*/ 0 h 7772400"/>
              <a:gd name="T8" fmla="*/ 0 w 1742046"/>
              <a:gd name="T9" fmla="*/ 3667829 h 7772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42046" h="7772400">
                <a:moveTo>
                  <a:pt x="0" y="7772400"/>
                </a:moveTo>
                <a:lnTo>
                  <a:pt x="1742046" y="7772400"/>
                </a:lnTo>
                <a:lnTo>
                  <a:pt x="1742046" y="0"/>
                </a:lnTo>
                <a:lnTo>
                  <a:pt x="0" y="0"/>
                </a:lnTo>
                <a:lnTo>
                  <a:pt x="0" y="7772400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AU"/>
          </a:p>
        </p:txBody>
      </p:sp>
      <p:sp>
        <p:nvSpPr>
          <p:cNvPr id="9" name="Freeform 19"/>
          <p:cNvSpPr>
            <a:spLocks noChangeAspect="1" noEditPoints="1"/>
          </p:cNvSpPr>
          <p:nvPr userDrawn="1"/>
        </p:nvSpPr>
        <p:spPr bwMode="auto">
          <a:xfrm>
            <a:off x="2728913" y="523875"/>
            <a:ext cx="1079500" cy="439738"/>
          </a:xfrm>
          <a:custGeom>
            <a:avLst/>
            <a:gdLst>
              <a:gd name="T0" fmla="*/ 2147483646 w 283"/>
              <a:gd name="T1" fmla="*/ 2147483646 h 114"/>
              <a:gd name="T2" fmla="*/ 2147483646 w 283"/>
              <a:gd name="T3" fmla="*/ 2147483646 h 114"/>
              <a:gd name="T4" fmla="*/ 2147483646 w 283"/>
              <a:gd name="T5" fmla="*/ 2147483646 h 114"/>
              <a:gd name="T6" fmla="*/ 2147483646 w 283"/>
              <a:gd name="T7" fmla="*/ 2147483646 h 114"/>
              <a:gd name="T8" fmla="*/ 2147483646 w 283"/>
              <a:gd name="T9" fmla="*/ 2147483646 h 114"/>
              <a:gd name="T10" fmla="*/ 2147483646 w 283"/>
              <a:gd name="T11" fmla="*/ 2147483646 h 114"/>
              <a:gd name="T12" fmla="*/ 2147483646 w 283"/>
              <a:gd name="T13" fmla="*/ 2147483646 h 114"/>
              <a:gd name="T14" fmla="*/ 2147483646 w 283"/>
              <a:gd name="T15" fmla="*/ 2147483646 h 114"/>
              <a:gd name="T16" fmla="*/ 2147483646 w 283"/>
              <a:gd name="T17" fmla="*/ 2147483646 h 114"/>
              <a:gd name="T18" fmla="*/ 2147483646 w 283"/>
              <a:gd name="T19" fmla="*/ 2147483646 h 114"/>
              <a:gd name="T20" fmla="*/ 2147483646 w 283"/>
              <a:gd name="T21" fmla="*/ 2147483646 h 114"/>
              <a:gd name="T22" fmla="*/ 2147483646 w 283"/>
              <a:gd name="T23" fmla="*/ 2147483646 h 114"/>
              <a:gd name="T24" fmla="*/ 2147483646 w 283"/>
              <a:gd name="T25" fmla="*/ 2147483646 h 114"/>
              <a:gd name="T26" fmla="*/ 2147483646 w 283"/>
              <a:gd name="T27" fmla="*/ 2147483646 h 114"/>
              <a:gd name="T28" fmla="*/ 2147483646 w 283"/>
              <a:gd name="T29" fmla="*/ 2147483646 h 114"/>
              <a:gd name="T30" fmla="*/ 2147483646 w 283"/>
              <a:gd name="T31" fmla="*/ 2147483646 h 114"/>
              <a:gd name="T32" fmla="*/ 2147483646 w 283"/>
              <a:gd name="T33" fmla="*/ 2147483646 h 114"/>
              <a:gd name="T34" fmla="*/ 2147483646 w 283"/>
              <a:gd name="T35" fmla="*/ 2147483646 h 114"/>
              <a:gd name="T36" fmla="*/ 2147483646 w 283"/>
              <a:gd name="T37" fmla="*/ 2147483646 h 114"/>
              <a:gd name="T38" fmla="*/ 2147483646 w 283"/>
              <a:gd name="T39" fmla="*/ 2147483646 h 114"/>
              <a:gd name="T40" fmla="*/ 2147483646 w 283"/>
              <a:gd name="T41" fmla="*/ 2147483646 h 114"/>
              <a:gd name="T42" fmla="*/ 2147483646 w 283"/>
              <a:gd name="T43" fmla="*/ 2147483646 h 114"/>
              <a:gd name="T44" fmla="*/ 2147483646 w 283"/>
              <a:gd name="T45" fmla="*/ 2147483646 h 114"/>
              <a:gd name="T46" fmla="*/ 2147483646 w 283"/>
              <a:gd name="T47" fmla="*/ 2147483646 h 114"/>
              <a:gd name="T48" fmla="*/ 2147483646 w 283"/>
              <a:gd name="T49" fmla="*/ 2147483646 h 114"/>
              <a:gd name="T50" fmla="*/ 2147483646 w 283"/>
              <a:gd name="T51" fmla="*/ 2147483646 h 114"/>
              <a:gd name="T52" fmla="*/ 2147483646 w 283"/>
              <a:gd name="T53" fmla="*/ 2147483646 h 114"/>
              <a:gd name="T54" fmla="*/ 2147483646 w 283"/>
              <a:gd name="T55" fmla="*/ 2147483646 h 114"/>
              <a:gd name="T56" fmla="*/ 2147483646 w 283"/>
              <a:gd name="T57" fmla="*/ 2147483646 h 114"/>
              <a:gd name="T58" fmla="*/ 2147483646 w 283"/>
              <a:gd name="T59" fmla="*/ 2147483646 h 114"/>
              <a:gd name="T60" fmla="*/ 2147483646 w 283"/>
              <a:gd name="T61" fmla="*/ 0 h 114"/>
              <a:gd name="T62" fmla="*/ 2147483646 w 283"/>
              <a:gd name="T63" fmla="*/ 0 h 114"/>
              <a:gd name="T64" fmla="*/ 2147483646 w 283"/>
              <a:gd name="T65" fmla="*/ 2147483646 h 114"/>
              <a:gd name="T66" fmla="*/ 2147483646 w 283"/>
              <a:gd name="T67" fmla="*/ 2147483646 h 114"/>
              <a:gd name="T68" fmla="*/ 2147483646 w 283"/>
              <a:gd name="T69" fmla="*/ 0 h 114"/>
              <a:gd name="T70" fmla="*/ 2147483646 w 283"/>
              <a:gd name="T71" fmla="*/ 2147483646 h 114"/>
              <a:gd name="T72" fmla="*/ 2147483646 w 283"/>
              <a:gd name="T73" fmla="*/ 2147483646 h 114"/>
              <a:gd name="T74" fmla="*/ 2147483646 w 283"/>
              <a:gd name="T75" fmla="*/ 2147483646 h 114"/>
              <a:gd name="T76" fmla="*/ 2147483646 w 283"/>
              <a:gd name="T77" fmla="*/ 2147483646 h 114"/>
              <a:gd name="T78" fmla="*/ 2147483646 w 283"/>
              <a:gd name="T79" fmla="*/ 2147483646 h 114"/>
              <a:gd name="T80" fmla="*/ 2147483646 w 283"/>
              <a:gd name="T81" fmla="*/ 2147483646 h 114"/>
              <a:gd name="T82" fmla="*/ 2147483646 w 283"/>
              <a:gd name="T83" fmla="*/ 2147483646 h 114"/>
              <a:gd name="T84" fmla="*/ 2147483646 w 283"/>
              <a:gd name="T85" fmla="*/ 2147483646 h 114"/>
              <a:gd name="T86" fmla="*/ 2147483646 w 283"/>
              <a:gd name="T87" fmla="*/ 2147483646 h 114"/>
              <a:gd name="T88" fmla="*/ 2147483646 w 283"/>
              <a:gd name="T89" fmla="*/ 2147483646 h 114"/>
              <a:gd name="T90" fmla="*/ 2147483646 w 283"/>
              <a:gd name="T91" fmla="*/ 2147483646 h 114"/>
              <a:gd name="T92" fmla="*/ 2147483646 w 283"/>
              <a:gd name="T93" fmla="*/ 0 h 11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2709863" y="1435300"/>
            <a:ext cx="7022748" cy="3510000"/>
          </a:xfrm>
        </p:spPr>
        <p:txBody>
          <a:bodyPr/>
          <a:lstStyle>
            <a:lvl1pPr algn="l">
              <a:defRPr sz="110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49463" y="5390900"/>
            <a:ext cx="6983148" cy="2160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50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AU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AU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386" r:id="rId2"/>
    <p:sldLayoutId id="2147485387" r:id="rId3"/>
    <p:sldLayoutId id="2147485388" r:id="rId4"/>
    <p:sldLayoutId id="2147485389" r:id="rId5"/>
    <p:sldLayoutId id="2147485390" r:id="rId6"/>
    <p:sldLayoutId id="2147485391" r:id="rId7"/>
    <p:sldLayoutId id="2147485392" r:id="rId8"/>
    <p:sldLayoutId id="2147485393" r:id="rId9"/>
    <p:sldLayoutId id="2147485394" r:id="rId10"/>
    <p:sldLayoutId id="2147485395" r:id="rId11"/>
    <p:sldLayoutId id="2147485396" r:id="rId12"/>
    <p:sldLayoutId id="2147485379" r:id="rId13"/>
    <p:sldLayoutId id="2147485380" r:id="rId14"/>
    <p:sldLayoutId id="2147485381" r:id="rId15"/>
    <p:sldLayoutId id="2147485382" r:id="rId16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998538" y="431800"/>
            <a:ext cx="101949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03300" y="1331913"/>
            <a:ext cx="10194925" cy="454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1096625" y="6267450"/>
            <a:ext cx="449263" cy="149225"/>
          </a:xfrm>
          <a:prstGeom prst="rect">
            <a:avLst/>
          </a:prstGeom>
        </p:spPr>
        <p:txBody>
          <a:bodyPr lIns="0" tIns="0" rIns="0" bIns="0" anchor="b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91696EE-ABE3-4C13-9F61-6698E4B8AEEE}" type="slidenum">
              <a:rPr lang="en-US" altLang="en-US" sz="1000" smtClean="0">
                <a:solidFill>
                  <a:srgbClr val="00338D"/>
                </a:solidFill>
                <a:cs typeface="Arial" panose="020B0604020202020204" pitchFamily="34" charset="0"/>
                <a:sym typeface="Arial" panose="020B0604020202020204" pitchFamily="34" charset="0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altLang="en-US" sz="1000" dirty="0" smtClean="0">
              <a:solidFill>
                <a:srgbClr val="00338D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29" name="TextBox 29" hidden="1"/>
          <p:cNvSpPr txBox="1">
            <a:spLocks noChangeArrowheads="1"/>
          </p:cNvSpPr>
          <p:nvPr userDrawn="1"/>
        </p:nvSpPr>
        <p:spPr bwMode="auto">
          <a:xfrm>
            <a:off x="2235200" y="6267450"/>
            <a:ext cx="7756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600" dirty="0" smtClean="0">
                <a:solidFill>
                  <a:srgbClr val="A6A6A6"/>
                </a:solidFill>
              </a:rPr>
              <a:t>© [year] [legal member firm name], a [jurisdiction] [legal structure] and a member firm of the KPMG network of independent member firms affiliated with KPMG International Cooperative, a Swiss entity. All rights reserved.</a:t>
            </a:r>
            <a:endParaRPr lang="en-GB" altLang="en-US" sz="600" dirty="0" smtClean="0">
              <a:solidFill>
                <a:srgbClr val="A6A6A6"/>
              </a:solidFill>
            </a:endParaRPr>
          </a:p>
        </p:txBody>
      </p:sp>
      <p:sp>
        <p:nvSpPr>
          <p:cNvPr id="1030" name="TextBox 24" hidden="1"/>
          <p:cNvSpPr txBox="1">
            <a:spLocks noChangeArrowheads="1"/>
          </p:cNvSpPr>
          <p:nvPr userDrawn="1"/>
        </p:nvSpPr>
        <p:spPr bwMode="auto">
          <a:xfrm>
            <a:off x="2593975" y="6637338"/>
            <a:ext cx="6954838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altLang="en-US" sz="600" b="1" dirty="0" smtClean="0">
                <a:solidFill>
                  <a:srgbClr val="000000"/>
                </a:solidFill>
              </a:rPr>
              <a:t>Document Classification: KPMG Confidential</a:t>
            </a:r>
          </a:p>
        </p:txBody>
      </p:sp>
      <p:sp>
        <p:nvSpPr>
          <p:cNvPr id="2055" name="Freeform 19"/>
          <p:cNvSpPr>
            <a:spLocks noEditPoints="1"/>
          </p:cNvSpPr>
          <p:nvPr userDrawn="1"/>
        </p:nvSpPr>
        <p:spPr bwMode="auto">
          <a:xfrm>
            <a:off x="530225" y="6267450"/>
            <a:ext cx="484188" cy="196850"/>
          </a:xfrm>
          <a:custGeom>
            <a:avLst/>
            <a:gdLst>
              <a:gd name="T0" fmla="*/ 2147483646 w 283"/>
              <a:gd name="T1" fmla="*/ 2147483646 h 114"/>
              <a:gd name="T2" fmla="*/ 2147483646 w 283"/>
              <a:gd name="T3" fmla="*/ 2147483646 h 114"/>
              <a:gd name="T4" fmla="*/ 2147483646 w 283"/>
              <a:gd name="T5" fmla="*/ 2147483646 h 114"/>
              <a:gd name="T6" fmla="*/ 2147483646 w 283"/>
              <a:gd name="T7" fmla="*/ 2147483646 h 114"/>
              <a:gd name="T8" fmla="*/ 2147483646 w 283"/>
              <a:gd name="T9" fmla="*/ 2147483646 h 114"/>
              <a:gd name="T10" fmla="*/ 2147483646 w 283"/>
              <a:gd name="T11" fmla="*/ 2147483646 h 114"/>
              <a:gd name="T12" fmla="*/ 2147483646 w 283"/>
              <a:gd name="T13" fmla="*/ 2147483646 h 114"/>
              <a:gd name="T14" fmla="*/ 2147483646 w 283"/>
              <a:gd name="T15" fmla="*/ 2147483646 h 114"/>
              <a:gd name="T16" fmla="*/ 2147483646 w 283"/>
              <a:gd name="T17" fmla="*/ 2147483646 h 114"/>
              <a:gd name="T18" fmla="*/ 2147483646 w 283"/>
              <a:gd name="T19" fmla="*/ 2147483646 h 114"/>
              <a:gd name="T20" fmla="*/ 2147483646 w 283"/>
              <a:gd name="T21" fmla="*/ 2147483646 h 114"/>
              <a:gd name="T22" fmla="*/ 2147483646 w 283"/>
              <a:gd name="T23" fmla="*/ 2147483646 h 114"/>
              <a:gd name="T24" fmla="*/ 2147483646 w 283"/>
              <a:gd name="T25" fmla="*/ 2147483646 h 114"/>
              <a:gd name="T26" fmla="*/ 2147483646 w 283"/>
              <a:gd name="T27" fmla="*/ 2147483646 h 114"/>
              <a:gd name="T28" fmla="*/ 2147483646 w 283"/>
              <a:gd name="T29" fmla="*/ 2147483646 h 114"/>
              <a:gd name="T30" fmla="*/ 2147483646 w 283"/>
              <a:gd name="T31" fmla="*/ 2147483646 h 114"/>
              <a:gd name="T32" fmla="*/ 2147483646 w 283"/>
              <a:gd name="T33" fmla="*/ 2147483646 h 114"/>
              <a:gd name="T34" fmla="*/ 2147483646 w 283"/>
              <a:gd name="T35" fmla="*/ 2147483646 h 114"/>
              <a:gd name="T36" fmla="*/ 2147483646 w 283"/>
              <a:gd name="T37" fmla="*/ 2147483646 h 114"/>
              <a:gd name="T38" fmla="*/ 2147483646 w 283"/>
              <a:gd name="T39" fmla="*/ 2147483646 h 114"/>
              <a:gd name="T40" fmla="*/ 2147483646 w 283"/>
              <a:gd name="T41" fmla="*/ 2147483646 h 114"/>
              <a:gd name="T42" fmla="*/ 2147483646 w 283"/>
              <a:gd name="T43" fmla="*/ 2147483646 h 114"/>
              <a:gd name="T44" fmla="*/ 2147483646 w 283"/>
              <a:gd name="T45" fmla="*/ 2147483646 h 114"/>
              <a:gd name="T46" fmla="*/ 2147483646 w 283"/>
              <a:gd name="T47" fmla="*/ 2147483646 h 114"/>
              <a:gd name="T48" fmla="*/ 2147483646 w 283"/>
              <a:gd name="T49" fmla="*/ 2147483646 h 114"/>
              <a:gd name="T50" fmla="*/ 2147483646 w 283"/>
              <a:gd name="T51" fmla="*/ 2147483646 h 114"/>
              <a:gd name="T52" fmla="*/ 2147483646 w 283"/>
              <a:gd name="T53" fmla="*/ 2147483646 h 114"/>
              <a:gd name="T54" fmla="*/ 2147483646 w 283"/>
              <a:gd name="T55" fmla="*/ 2147483646 h 114"/>
              <a:gd name="T56" fmla="*/ 2147483646 w 283"/>
              <a:gd name="T57" fmla="*/ 2147483646 h 114"/>
              <a:gd name="T58" fmla="*/ 2147483646 w 283"/>
              <a:gd name="T59" fmla="*/ 2147483646 h 114"/>
              <a:gd name="T60" fmla="*/ 2147483646 w 283"/>
              <a:gd name="T61" fmla="*/ 0 h 114"/>
              <a:gd name="T62" fmla="*/ 2147483646 w 283"/>
              <a:gd name="T63" fmla="*/ 0 h 114"/>
              <a:gd name="T64" fmla="*/ 2147483646 w 283"/>
              <a:gd name="T65" fmla="*/ 2147483646 h 114"/>
              <a:gd name="T66" fmla="*/ 2147483646 w 283"/>
              <a:gd name="T67" fmla="*/ 2147483646 h 114"/>
              <a:gd name="T68" fmla="*/ 2147483646 w 283"/>
              <a:gd name="T69" fmla="*/ 0 h 114"/>
              <a:gd name="T70" fmla="*/ 2147483646 w 283"/>
              <a:gd name="T71" fmla="*/ 2147483646 h 114"/>
              <a:gd name="T72" fmla="*/ 2147483646 w 283"/>
              <a:gd name="T73" fmla="*/ 2147483646 h 114"/>
              <a:gd name="T74" fmla="*/ 2147483646 w 283"/>
              <a:gd name="T75" fmla="*/ 2147483646 h 114"/>
              <a:gd name="T76" fmla="*/ 2147483646 w 283"/>
              <a:gd name="T77" fmla="*/ 2147483646 h 114"/>
              <a:gd name="T78" fmla="*/ 2147483646 w 283"/>
              <a:gd name="T79" fmla="*/ 2147483646 h 114"/>
              <a:gd name="T80" fmla="*/ 2147483646 w 283"/>
              <a:gd name="T81" fmla="*/ 2147483646 h 114"/>
              <a:gd name="T82" fmla="*/ 2147483646 w 283"/>
              <a:gd name="T83" fmla="*/ 2147483646 h 114"/>
              <a:gd name="T84" fmla="*/ 2147483646 w 283"/>
              <a:gd name="T85" fmla="*/ 2147483646 h 114"/>
              <a:gd name="T86" fmla="*/ 2147483646 w 283"/>
              <a:gd name="T87" fmla="*/ 2147483646 h 114"/>
              <a:gd name="T88" fmla="*/ 2147483646 w 283"/>
              <a:gd name="T89" fmla="*/ 2147483646 h 114"/>
              <a:gd name="T90" fmla="*/ 2147483646 w 283"/>
              <a:gd name="T91" fmla="*/ 2147483646 h 114"/>
              <a:gd name="T92" fmla="*/ 2147483646 w 283"/>
              <a:gd name="T93" fmla="*/ 0 h 114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83" r:id="rId1"/>
    <p:sldLayoutId id="2147485384" r:id="rId2"/>
    <p:sldLayoutId id="2147485397" r:id="rId3"/>
  </p:sldLayoutIdLst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KPMG Extralight" panose="020B0303030202040204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00"/>
        </a:spcAft>
        <a:defRPr sz="1500" b="1" kern="1200">
          <a:solidFill>
            <a:schemeClr val="tx2"/>
          </a:solidFill>
          <a:latin typeface="+mn-lt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ts val="600"/>
        </a:spcAft>
        <a:defRPr sz="1500" kern="1200">
          <a:solidFill>
            <a:schemeClr val="tx2"/>
          </a:solidFill>
          <a:latin typeface="+mn-lt"/>
          <a:ea typeface="+mn-ea"/>
          <a:cs typeface="+mn-cs"/>
        </a:defRPr>
      </a:lvl2pPr>
      <a:lvl3pPr marL="284163" indent="-284163" algn="l" rtl="0" eaLnBrk="0" fontAlgn="base" hangingPunct="0">
        <a:spcBef>
          <a:spcPct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574675" indent="-230188" algn="l" rtl="0" eaLnBrk="0" fontAlgn="base" hangingPunct="0">
        <a:spcBef>
          <a:spcPct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823913" indent="-284163" algn="l" rtl="0" eaLnBrk="0" fontAlgn="base" hangingPunct="0">
        <a:spcBef>
          <a:spcPct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500" kern="1200">
          <a:solidFill>
            <a:schemeClr val="tx2"/>
          </a:solidFill>
          <a:latin typeface="+mn-lt"/>
          <a:ea typeface="+mn-ea"/>
          <a:cs typeface="+mn-cs"/>
        </a:defRPr>
      </a:lvl5pPr>
      <a:lvl6pPr marL="10980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1371600" indent="-2844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—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645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Worksheet2.xls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4.png"/><Relationship Id="rId11" Type="http://schemas.openxmlformats.org/officeDocument/2006/relationships/oleObject" Target="../embeddings/Microsoft_Excel_97-2003_Worksheet3.xls"/><Relationship Id="rId5" Type="http://schemas.openxmlformats.org/officeDocument/2006/relationships/oleObject" Target="../embeddings/Microsoft_Excel_97-2003_Worksheet1.xls"/><Relationship Id="rId10" Type="http://schemas.openxmlformats.org/officeDocument/2006/relationships/oleObject" Target="../embeddings/oleObject3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4"/>
          <p:cNvSpPr>
            <a:spLocks noGrp="1"/>
          </p:cNvSpPr>
          <p:nvPr>
            <p:ph type="ctrTitle"/>
          </p:nvPr>
        </p:nvSpPr>
        <p:spPr>
          <a:xfrm>
            <a:off x="2709863" y="1435100"/>
            <a:ext cx="8967787" cy="3509963"/>
          </a:xfrm>
        </p:spPr>
        <p:txBody>
          <a:bodyPr/>
          <a:lstStyle/>
          <a:p>
            <a:pPr eaLnBrk="1" hangingPunct="1"/>
            <a:r>
              <a:rPr lang="en-US" altLang="en-US" sz="8800" dirty="0" smtClean="0">
                <a:solidFill>
                  <a:schemeClr val="accent1"/>
                </a:solidFill>
              </a:rPr>
              <a:t>Smart Knowledge Agent  </a:t>
            </a: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r>
              <a:rPr lang="en-US" altLang="en-US" sz="6600" dirty="0" smtClean="0"/>
              <a:t>The next generation machine comprehension engine</a:t>
            </a: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r>
              <a:rPr lang="en-US" altLang="en-US" sz="8800" dirty="0" smtClean="0"/>
              <a:t/>
            </a:r>
            <a:br>
              <a:rPr lang="en-US" altLang="en-US" sz="8800" dirty="0" smtClean="0"/>
            </a:br>
            <a:endParaRPr lang="en-AU" altLang="en-US" sz="8800" dirty="0" smtClean="0"/>
          </a:p>
        </p:txBody>
      </p:sp>
      <p:sp>
        <p:nvSpPr>
          <p:cNvPr id="17411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749550" y="5391150"/>
            <a:ext cx="6983413" cy="215900"/>
          </a:xfrm>
        </p:spPr>
        <p:txBody>
          <a:bodyPr/>
          <a:lstStyle/>
          <a:p>
            <a:pPr eaLnBrk="1" hangingPunct="1"/>
            <a:r>
              <a:rPr lang="en-AU" altLang="en-US" smtClean="0"/>
              <a:t>AwA Demonstration</a:t>
            </a:r>
          </a:p>
        </p:txBody>
      </p:sp>
      <p:sp>
        <p:nvSpPr>
          <p:cNvPr id="17412" name="Rectangle 1"/>
          <p:cNvSpPr>
            <a:spLocks noChangeArrowheads="1"/>
          </p:cNvSpPr>
          <p:nvPr/>
        </p:nvSpPr>
        <p:spPr bwMode="auto">
          <a:xfrm>
            <a:off x="2660650" y="5607050"/>
            <a:ext cx="9525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en-US" sz="1100" b="1">
                <a:solidFill>
                  <a:srgbClr val="FFFFFF"/>
                </a:solidFill>
              </a:rPr>
              <a:t>4 Sep 2019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1298575" y="1685925"/>
          <a:ext cx="8585200" cy="30416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0"/>
                <a:gridCol w="1793240"/>
                <a:gridCol w="2321560"/>
              </a:tblGrid>
              <a:tr h="304763">
                <a:tc>
                  <a:txBody>
                    <a:bodyPr/>
                    <a:lstStyle/>
                    <a:p>
                      <a:r>
                        <a:rPr lang="en-AU" sz="1400" b="1" kern="1200" dirty="0" smtClean="0">
                          <a:latin typeface="Univers 45 Light" pitchFamily="2" charset="0"/>
                        </a:rPr>
                        <a:t>Topic</a:t>
                      </a:r>
                      <a:endParaRPr lang="en-AU" sz="1400" b="1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kern="1200" dirty="0" smtClean="0">
                          <a:latin typeface="Univers 45 Light" pitchFamily="2" charset="0"/>
                        </a:rPr>
                        <a:t>Leading</a:t>
                      </a:r>
                      <a:endParaRPr lang="en-AU" sz="1400" b="1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b="1" kern="1200" dirty="0" smtClean="0">
                          <a:latin typeface="Univers 45 Light" pitchFamily="2" charset="0"/>
                        </a:rPr>
                        <a:t>Approximate Timing</a:t>
                      </a:r>
                      <a:endParaRPr lang="en-AU" sz="1400" b="1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 typeface="+mj-lt"/>
                        <a:buNone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Introduction &amp; background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Univers 45 Light" pitchFamily="2" charset="0"/>
                        </a:rPr>
                        <a:t>Catherine</a:t>
                      </a:r>
                      <a:r>
                        <a:rPr lang="en-US" sz="1400" baseline="0" dirty="0" smtClean="0">
                          <a:latin typeface="Univers 45 Light" pitchFamily="2" charset="0"/>
                        </a:rPr>
                        <a:t>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5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5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Digital assistant emerging trends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dirty="0" smtClean="0">
                          <a:latin typeface="Univers 45 Light" pitchFamily="2" charset="0"/>
                        </a:rPr>
                        <a:t>Catherine</a:t>
                      </a: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5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Univers 45 Light" pitchFamily="2" charset="0"/>
                          <a:ea typeface="+mn-ea"/>
                          <a:cs typeface="+mn-cs"/>
                        </a:rPr>
                        <a:t>History</a:t>
                      </a:r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Univers 45 Light" pitchFamily="2" charset="0"/>
                          <a:ea typeface="+mn-ea"/>
                          <a:cs typeface="+mn-cs"/>
                        </a:rPr>
                        <a:t> of Natural Language Processing  and its implementation </a:t>
                      </a:r>
                      <a:endParaRPr lang="en-AU" sz="1400" kern="1200" dirty="0">
                        <a:solidFill>
                          <a:schemeClr val="dk1"/>
                        </a:solidFill>
                        <a:latin typeface="Univers 45 Light" pitchFamily="2" charset="0"/>
                        <a:ea typeface="+mn-ea"/>
                        <a:cs typeface="+mn-cs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Univers 45 Light" pitchFamily="2" charset="0"/>
                        </a:rPr>
                        <a:t>Catherine</a:t>
                      </a:r>
                      <a:r>
                        <a:rPr lang="en-US" sz="1400" baseline="0" dirty="0" smtClean="0">
                          <a:latin typeface="Univers 45 Light" pitchFamily="2" charset="0"/>
                        </a:rPr>
                        <a:t>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10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Operational Blueprint current challenges</a:t>
                      </a: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latin typeface="Univers 45 Light" pitchFamily="2" charset="0"/>
                        </a:rPr>
                        <a:t>Jeremy</a:t>
                      </a:r>
                      <a:r>
                        <a:rPr lang="en-AU" sz="1400" baseline="0" dirty="0" smtClean="0">
                          <a:latin typeface="Univers 45 Light" pitchFamily="2" charset="0"/>
                        </a:rPr>
                        <a:t>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5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Proof of concept (scope,</a:t>
                      </a:r>
                      <a:r>
                        <a:rPr lang="en-US" altLang="en-US" sz="1400" kern="1200" baseline="0" dirty="0" smtClean="0">
                          <a:latin typeface="Univers 45 Light" pitchFamily="2" charset="0"/>
                        </a:rPr>
                        <a:t> demo &amp; feedback)</a:t>
                      </a:r>
                      <a:endParaRPr lang="en-US" altLang="en-US" sz="1400" kern="1200" dirty="0" smtClean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dirty="0" smtClean="0">
                          <a:latin typeface="Univers 45 Light" pitchFamily="2" charset="0"/>
                        </a:rPr>
                        <a:t>Jeremy</a:t>
                      </a:r>
                      <a:r>
                        <a:rPr lang="en-US" altLang="en-US" sz="1400" baseline="0" dirty="0" smtClean="0">
                          <a:latin typeface="Univers 45 Light" pitchFamily="2" charset="0"/>
                        </a:rPr>
                        <a:t> &amp; Timothy </a:t>
                      </a:r>
                      <a:endParaRPr lang="en-US" altLang="en-US" sz="1400" dirty="0" smtClean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10</a:t>
                      </a:r>
                      <a:r>
                        <a:rPr lang="en-US" altLang="en-US" sz="1400" baseline="0" dirty="0" smtClean="0">
                          <a:latin typeface="Univers 45 Light" pitchFamily="2" charset="0"/>
                        </a:rPr>
                        <a:t> </a:t>
                      </a:r>
                      <a:r>
                        <a:rPr lang="en-US" altLang="en-US" sz="1400" dirty="0" err="1" smtClean="0">
                          <a:latin typeface="Univers 45 Light" pitchFamily="2" charset="0"/>
                        </a:rPr>
                        <a:t>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Solution</a:t>
                      </a:r>
                      <a:r>
                        <a:rPr lang="en-US" altLang="en-US" sz="1400" kern="1200" baseline="0" dirty="0" smtClean="0">
                          <a:latin typeface="Univers 45 Light" pitchFamily="2" charset="0"/>
                        </a:rPr>
                        <a:t> Architect </a:t>
                      </a:r>
                      <a:endParaRPr lang="en-US" altLang="en-US" sz="1400" kern="1200" dirty="0" smtClean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Timothy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400" dirty="0" smtClean="0">
                          <a:latin typeface="Univers 45 Light" pitchFamily="2" charset="0"/>
                        </a:rPr>
                        <a:t>20 mins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en-US" sz="1400" kern="1200" dirty="0" smtClean="0">
                          <a:latin typeface="Univers 45 Light" pitchFamily="2" charset="0"/>
                        </a:rPr>
                        <a:t>Demo </a:t>
                      </a: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latin typeface="Univers 45 Light" pitchFamily="2" charset="0"/>
                        </a:rPr>
                        <a:t>Timothy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400" dirty="0" smtClean="0">
                          <a:latin typeface="Univers 45 Light" pitchFamily="2" charset="0"/>
                        </a:rPr>
                        <a:t>5 mins </a:t>
                      </a:r>
                      <a:endParaRPr lang="en-AU" sz="1400" dirty="0">
                        <a:latin typeface="Univers 45 Light" pitchFamily="2" charset="0"/>
                      </a:endParaRPr>
                    </a:p>
                  </a:txBody>
                  <a:tcPr marL="91431" marR="91431" marT="45696" marB="45696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471" name="Title 2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1325562"/>
          </a:xfrm>
        </p:spPr>
        <p:txBody>
          <a:bodyPr/>
          <a:lstStyle/>
          <a:p>
            <a:r>
              <a:rPr lang="en-AU" altLang="en-US" smtClean="0"/>
              <a:t>Smart Knowledge Assistant AwA Agenda</a:t>
            </a:r>
          </a:p>
        </p:txBody>
      </p:sp>
      <p:pic>
        <p:nvPicPr>
          <p:cNvPr id="1847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0500" y="360363"/>
            <a:ext cx="14636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73" name="TextBox 29"/>
          <p:cNvSpPr txBox="1">
            <a:spLocks noChangeArrowheads="1"/>
          </p:cNvSpPr>
          <p:nvPr/>
        </p:nvSpPr>
        <p:spPr bwMode="auto">
          <a:xfrm>
            <a:off x="2417763" y="6389688"/>
            <a:ext cx="69373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600">
                <a:solidFill>
                  <a:srgbClr val="A6A6A6"/>
                </a:solidFill>
                <a:latin typeface="Arial" panose="020B0604020202020204" pitchFamily="34" charset="0"/>
              </a:rPr>
              <a:t>© 2019 KPMG, an Australian partnership and a member firm of the KPMG network of independent member firms affiliated with KPMG International Cooperative (“KPMG International”), a Swiss entity. All rights reserved.  The KPMG name and logo are registered trademarks or trademarks of KPMG International. Liability limited by a scheme approved under Professional Standards Legislation.</a:t>
            </a:r>
            <a:endParaRPr lang="en-GB" altLang="en-US" sz="600">
              <a:solidFill>
                <a:srgbClr val="A6A6A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/>
          <p:nvPr/>
        </p:nvCxnSpPr>
        <p:spPr>
          <a:xfrm>
            <a:off x="1350963" y="3084513"/>
            <a:ext cx="1011713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3" name="Text Placeholder 4"/>
          <p:cNvSpPr txBox="1">
            <a:spLocks/>
          </p:cNvSpPr>
          <p:nvPr/>
        </p:nvSpPr>
        <p:spPr bwMode="auto">
          <a:xfrm>
            <a:off x="1651000" y="1878013"/>
            <a:ext cx="1949450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The </a:t>
            </a:r>
            <a:r>
              <a:rPr lang="en-US" altLang="en-US" sz="1200" dirty="0" smtClean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Clients attend the Emerging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Technology Insight Session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1644650" y="2871788"/>
            <a:ext cx="423863" cy="423862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9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10312400" y="2873375"/>
            <a:ext cx="423863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9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64" name="Oval 63"/>
          <p:cNvSpPr/>
          <p:nvPr/>
        </p:nvSpPr>
        <p:spPr bwMode="auto">
          <a:xfrm>
            <a:off x="6637338" y="2870200"/>
            <a:ext cx="423862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8205788" y="2873375"/>
            <a:ext cx="423862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79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69" name="Oval 68"/>
          <p:cNvSpPr/>
          <p:nvPr/>
        </p:nvSpPr>
        <p:spPr bwMode="auto">
          <a:xfrm>
            <a:off x="4376738" y="2878138"/>
            <a:ext cx="423862" cy="422275"/>
          </a:xfrm>
          <a:prstGeom prst="ellipse">
            <a:avLst/>
          </a:prstGeom>
          <a:solidFill>
            <a:schemeClr val="bg1"/>
          </a:solidFill>
          <a:ln>
            <a:solidFill>
              <a:srgbClr val="00A3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2874" tIns="52874" rIns="52874" bIns="52874" anchor="ctr"/>
          <a:lstStyle/>
          <a:p>
            <a:pPr algn="ctr"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prstClr val="white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6" name="Freeform 511"/>
          <p:cNvSpPr>
            <a:spLocks/>
          </p:cNvSpPr>
          <p:nvPr/>
        </p:nvSpPr>
        <p:spPr bwMode="auto">
          <a:xfrm>
            <a:off x="1801813" y="2995613"/>
            <a:ext cx="150812" cy="80962"/>
          </a:xfrm>
          <a:custGeom>
            <a:avLst/>
            <a:gdLst>
              <a:gd name="T0" fmla="*/ 0 w 216"/>
              <a:gd name="T1" fmla="*/ 0 h 117"/>
              <a:gd name="T2" fmla="*/ 216 w 216"/>
              <a:gd name="T3" fmla="*/ 0 h 117"/>
              <a:gd name="T4" fmla="*/ 216 w 216"/>
              <a:gd name="T5" fmla="*/ 117 h 117"/>
              <a:gd name="T6" fmla="*/ 0 w 216"/>
              <a:gd name="T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" h="117">
                <a:moveTo>
                  <a:pt x="0" y="0"/>
                </a:moveTo>
                <a:lnTo>
                  <a:pt x="216" y="0"/>
                </a:lnTo>
                <a:lnTo>
                  <a:pt x="216" y="117"/>
                </a:lnTo>
                <a:lnTo>
                  <a:pt x="0" y="117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7" name="Oval 512"/>
          <p:cNvSpPr>
            <a:spLocks noChangeArrowheads="1"/>
          </p:cNvSpPr>
          <p:nvPr/>
        </p:nvSpPr>
        <p:spPr bwMode="auto">
          <a:xfrm>
            <a:off x="1741488" y="2962275"/>
            <a:ext cx="41275" cy="41275"/>
          </a:xfrm>
          <a:prstGeom prst="ellips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8" name="Freeform 513"/>
          <p:cNvSpPr>
            <a:spLocks/>
          </p:cNvSpPr>
          <p:nvPr/>
        </p:nvSpPr>
        <p:spPr bwMode="auto">
          <a:xfrm>
            <a:off x="1717675" y="2978150"/>
            <a:ext cx="250825" cy="130175"/>
          </a:xfrm>
          <a:custGeom>
            <a:avLst/>
            <a:gdLst>
              <a:gd name="T0" fmla="*/ 24 w 248"/>
              <a:gd name="T1" fmla="*/ 92 h 128"/>
              <a:gd name="T2" fmla="*/ 24 w 248"/>
              <a:gd name="T3" fmla="*/ 128 h 128"/>
              <a:gd name="T4" fmla="*/ 0 w 248"/>
              <a:gd name="T5" fmla="*/ 128 h 128"/>
              <a:gd name="T6" fmla="*/ 0 w 248"/>
              <a:gd name="T7" fmla="*/ 68 h 128"/>
              <a:gd name="T8" fmla="*/ 28 w 248"/>
              <a:gd name="T9" fmla="*/ 40 h 128"/>
              <a:gd name="T10" fmla="*/ 60 w 248"/>
              <a:gd name="T11" fmla="*/ 40 h 128"/>
              <a:gd name="T12" fmla="*/ 136 w 248"/>
              <a:gd name="T13" fmla="*/ 40 h 128"/>
              <a:gd name="T14" fmla="*/ 136 w 248"/>
              <a:gd name="T15" fmla="*/ 64 h 128"/>
              <a:gd name="T16" fmla="*/ 72 w 248"/>
              <a:gd name="T17" fmla="*/ 64 h 128"/>
              <a:gd name="T18" fmla="*/ 72 w 248"/>
              <a:gd name="T19" fmla="*/ 128 h 128"/>
              <a:gd name="T20" fmla="*/ 248 w 248"/>
              <a:gd name="T21" fmla="*/ 128 h 128"/>
              <a:gd name="T22" fmla="*/ 248 w 248"/>
              <a:gd name="T23" fmla="*/ 0 h 128"/>
              <a:gd name="T24" fmla="*/ 76 w 248"/>
              <a:gd name="T25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8" h="128">
                <a:moveTo>
                  <a:pt x="24" y="92"/>
                </a:moveTo>
                <a:cubicBezTo>
                  <a:pt x="24" y="128"/>
                  <a:pt x="24" y="128"/>
                  <a:pt x="24" y="128"/>
                </a:cubicBezTo>
                <a:cubicBezTo>
                  <a:pt x="0" y="128"/>
                  <a:pt x="0" y="128"/>
                  <a:pt x="0" y="12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53"/>
                  <a:pt x="13" y="40"/>
                  <a:pt x="28" y="40"/>
                </a:cubicBezTo>
                <a:cubicBezTo>
                  <a:pt x="60" y="40"/>
                  <a:pt x="60" y="40"/>
                  <a:pt x="60" y="40"/>
                </a:cubicBezTo>
                <a:cubicBezTo>
                  <a:pt x="136" y="40"/>
                  <a:pt x="136" y="40"/>
                  <a:pt x="136" y="40"/>
                </a:cubicBezTo>
                <a:cubicBezTo>
                  <a:pt x="136" y="64"/>
                  <a:pt x="136" y="64"/>
                  <a:pt x="136" y="64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128"/>
                  <a:pt x="72" y="128"/>
                  <a:pt x="72" y="128"/>
                </a:cubicBezTo>
                <a:cubicBezTo>
                  <a:pt x="248" y="128"/>
                  <a:pt x="248" y="128"/>
                  <a:pt x="248" y="128"/>
                </a:cubicBezTo>
                <a:cubicBezTo>
                  <a:pt x="248" y="0"/>
                  <a:pt x="248" y="0"/>
                  <a:pt x="248" y="0"/>
                </a:cubicBezTo>
                <a:cubicBezTo>
                  <a:pt x="76" y="0"/>
                  <a:pt x="76" y="0"/>
                  <a:pt x="76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49" name="Line 514"/>
          <p:cNvSpPr>
            <a:spLocks noChangeShapeType="1"/>
          </p:cNvSpPr>
          <p:nvPr/>
        </p:nvSpPr>
        <p:spPr bwMode="auto">
          <a:xfrm>
            <a:off x="1801813" y="3092450"/>
            <a:ext cx="153987" cy="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0" name="Freeform 515"/>
          <p:cNvSpPr>
            <a:spLocks/>
          </p:cNvSpPr>
          <p:nvPr/>
        </p:nvSpPr>
        <p:spPr bwMode="auto">
          <a:xfrm>
            <a:off x="1717675" y="3176588"/>
            <a:ext cx="250825" cy="36512"/>
          </a:xfrm>
          <a:custGeom>
            <a:avLst/>
            <a:gdLst>
              <a:gd name="T0" fmla="*/ 220 w 248"/>
              <a:gd name="T1" fmla="*/ 0 h 36"/>
              <a:gd name="T2" fmla="*/ 248 w 248"/>
              <a:gd name="T3" fmla="*/ 16 h 36"/>
              <a:gd name="T4" fmla="*/ 248 w 248"/>
              <a:gd name="T5" fmla="*/ 24 h 36"/>
              <a:gd name="T6" fmla="*/ 240 w 248"/>
              <a:gd name="T7" fmla="*/ 36 h 36"/>
              <a:gd name="T8" fmla="*/ 8 w 248"/>
              <a:gd name="T9" fmla="*/ 36 h 36"/>
              <a:gd name="T10" fmla="*/ 0 w 248"/>
              <a:gd name="T11" fmla="*/ 24 h 36"/>
              <a:gd name="T12" fmla="*/ 0 w 248"/>
              <a:gd name="T13" fmla="*/ 16 h 36"/>
              <a:gd name="T14" fmla="*/ 28 w 248"/>
              <a:gd name="T15" fmla="*/ 0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48" h="36">
                <a:moveTo>
                  <a:pt x="220" y="0"/>
                </a:moveTo>
                <a:cubicBezTo>
                  <a:pt x="248" y="16"/>
                  <a:pt x="248" y="16"/>
                  <a:pt x="248" y="16"/>
                </a:cubicBezTo>
                <a:cubicBezTo>
                  <a:pt x="248" y="16"/>
                  <a:pt x="248" y="17"/>
                  <a:pt x="248" y="24"/>
                </a:cubicBezTo>
                <a:cubicBezTo>
                  <a:pt x="248" y="31"/>
                  <a:pt x="244" y="36"/>
                  <a:pt x="240" y="36"/>
                </a:cubicBezTo>
                <a:cubicBezTo>
                  <a:pt x="8" y="36"/>
                  <a:pt x="8" y="36"/>
                  <a:pt x="8" y="36"/>
                </a:cubicBezTo>
                <a:cubicBezTo>
                  <a:pt x="4" y="36"/>
                  <a:pt x="0" y="31"/>
                  <a:pt x="0" y="24"/>
                </a:cubicBezTo>
                <a:cubicBezTo>
                  <a:pt x="0" y="17"/>
                  <a:pt x="0" y="16"/>
                  <a:pt x="0" y="16"/>
                </a:cubicBezTo>
                <a:cubicBezTo>
                  <a:pt x="28" y="0"/>
                  <a:pt x="28" y="0"/>
                  <a:pt x="28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1" name="Freeform 516"/>
          <p:cNvSpPr>
            <a:spLocks/>
          </p:cNvSpPr>
          <p:nvPr/>
        </p:nvSpPr>
        <p:spPr bwMode="auto">
          <a:xfrm>
            <a:off x="1855788" y="3176588"/>
            <a:ext cx="60325" cy="15875"/>
          </a:xfrm>
          <a:custGeom>
            <a:avLst/>
            <a:gdLst>
              <a:gd name="T0" fmla="*/ 0 w 87"/>
              <a:gd name="T1" fmla="*/ 0 h 24"/>
              <a:gd name="T2" fmla="*/ 46 w 87"/>
              <a:gd name="T3" fmla="*/ 24 h 24"/>
              <a:gd name="T4" fmla="*/ 46 w 87"/>
              <a:gd name="T5" fmla="*/ 24 h 24"/>
              <a:gd name="T6" fmla="*/ 87 w 87"/>
              <a:gd name="T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7" h="24">
                <a:moveTo>
                  <a:pt x="0" y="0"/>
                </a:moveTo>
                <a:lnTo>
                  <a:pt x="46" y="24"/>
                </a:lnTo>
                <a:lnTo>
                  <a:pt x="46" y="24"/>
                </a:lnTo>
                <a:lnTo>
                  <a:pt x="87" y="0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2" name="Freeform 517"/>
          <p:cNvSpPr>
            <a:spLocks/>
          </p:cNvSpPr>
          <p:nvPr/>
        </p:nvSpPr>
        <p:spPr bwMode="auto">
          <a:xfrm>
            <a:off x="1770063" y="3176588"/>
            <a:ext cx="60325" cy="15875"/>
          </a:xfrm>
          <a:custGeom>
            <a:avLst/>
            <a:gdLst>
              <a:gd name="T0" fmla="*/ 0 w 88"/>
              <a:gd name="T1" fmla="*/ 0 h 24"/>
              <a:gd name="T2" fmla="*/ 41 w 88"/>
              <a:gd name="T3" fmla="*/ 24 h 24"/>
              <a:gd name="T4" fmla="*/ 41 w 88"/>
              <a:gd name="T5" fmla="*/ 24 h 24"/>
              <a:gd name="T6" fmla="*/ 88 w 88"/>
              <a:gd name="T7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" h="24">
                <a:moveTo>
                  <a:pt x="0" y="0"/>
                </a:moveTo>
                <a:lnTo>
                  <a:pt x="41" y="24"/>
                </a:lnTo>
                <a:lnTo>
                  <a:pt x="41" y="24"/>
                </a:lnTo>
                <a:lnTo>
                  <a:pt x="88" y="0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3" name="Freeform 518"/>
          <p:cNvSpPr>
            <a:spLocks/>
          </p:cNvSpPr>
          <p:nvPr/>
        </p:nvSpPr>
        <p:spPr bwMode="auto">
          <a:xfrm>
            <a:off x="1738313" y="3132138"/>
            <a:ext cx="39687" cy="47625"/>
          </a:xfrm>
          <a:custGeom>
            <a:avLst/>
            <a:gdLst>
              <a:gd name="T0" fmla="*/ 40 w 40"/>
              <a:gd name="T1" fmla="*/ 22 h 48"/>
              <a:gd name="T2" fmla="*/ 20 w 40"/>
              <a:gd name="T3" fmla="*/ 48 h 48"/>
              <a:gd name="T4" fmla="*/ 0 w 40"/>
              <a:gd name="T5" fmla="*/ 22 h 48"/>
              <a:gd name="T6" fmla="*/ 20 w 40"/>
              <a:gd name="T7" fmla="*/ 0 h 48"/>
              <a:gd name="T8" fmla="*/ 40 w 40"/>
              <a:gd name="T9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8">
                <a:moveTo>
                  <a:pt x="40" y="22"/>
                </a:moveTo>
                <a:cubicBezTo>
                  <a:pt x="40" y="36"/>
                  <a:pt x="32" y="48"/>
                  <a:pt x="20" y="48"/>
                </a:cubicBezTo>
                <a:cubicBezTo>
                  <a:pt x="8" y="48"/>
                  <a:pt x="0" y="36"/>
                  <a:pt x="0" y="22"/>
                </a:cubicBezTo>
                <a:cubicBezTo>
                  <a:pt x="0" y="8"/>
                  <a:pt x="4" y="0"/>
                  <a:pt x="20" y="0"/>
                </a:cubicBezTo>
                <a:cubicBezTo>
                  <a:pt x="36" y="0"/>
                  <a:pt x="40" y="8"/>
                  <a:pt x="40" y="22"/>
                </a:cubicBez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4" name="Freeform 519"/>
          <p:cNvSpPr>
            <a:spLocks/>
          </p:cNvSpPr>
          <p:nvPr/>
        </p:nvSpPr>
        <p:spPr bwMode="auto">
          <a:xfrm>
            <a:off x="1822450" y="3132138"/>
            <a:ext cx="39688" cy="47625"/>
          </a:xfrm>
          <a:custGeom>
            <a:avLst/>
            <a:gdLst>
              <a:gd name="T0" fmla="*/ 40 w 40"/>
              <a:gd name="T1" fmla="*/ 22 h 48"/>
              <a:gd name="T2" fmla="*/ 20 w 40"/>
              <a:gd name="T3" fmla="*/ 48 h 48"/>
              <a:gd name="T4" fmla="*/ 0 w 40"/>
              <a:gd name="T5" fmla="*/ 22 h 48"/>
              <a:gd name="T6" fmla="*/ 20 w 40"/>
              <a:gd name="T7" fmla="*/ 0 h 48"/>
              <a:gd name="T8" fmla="*/ 40 w 40"/>
              <a:gd name="T9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8">
                <a:moveTo>
                  <a:pt x="40" y="22"/>
                </a:moveTo>
                <a:cubicBezTo>
                  <a:pt x="40" y="36"/>
                  <a:pt x="32" y="48"/>
                  <a:pt x="20" y="48"/>
                </a:cubicBezTo>
                <a:cubicBezTo>
                  <a:pt x="8" y="48"/>
                  <a:pt x="0" y="36"/>
                  <a:pt x="0" y="22"/>
                </a:cubicBezTo>
                <a:cubicBezTo>
                  <a:pt x="0" y="8"/>
                  <a:pt x="4" y="0"/>
                  <a:pt x="20" y="0"/>
                </a:cubicBezTo>
                <a:cubicBezTo>
                  <a:pt x="36" y="0"/>
                  <a:pt x="40" y="8"/>
                  <a:pt x="40" y="22"/>
                </a:cubicBez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5" name="Freeform 520"/>
          <p:cNvSpPr>
            <a:spLocks/>
          </p:cNvSpPr>
          <p:nvPr/>
        </p:nvSpPr>
        <p:spPr bwMode="auto">
          <a:xfrm>
            <a:off x="1906588" y="3132138"/>
            <a:ext cx="41275" cy="47625"/>
          </a:xfrm>
          <a:custGeom>
            <a:avLst/>
            <a:gdLst>
              <a:gd name="T0" fmla="*/ 40 w 40"/>
              <a:gd name="T1" fmla="*/ 22 h 48"/>
              <a:gd name="T2" fmla="*/ 20 w 40"/>
              <a:gd name="T3" fmla="*/ 48 h 48"/>
              <a:gd name="T4" fmla="*/ 0 w 40"/>
              <a:gd name="T5" fmla="*/ 22 h 48"/>
              <a:gd name="T6" fmla="*/ 20 w 40"/>
              <a:gd name="T7" fmla="*/ 0 h 48"/>
              <a:gd name="T8" fmla="*/ 40 w 40"/>
              <a:gd name="T9" fmla="*/ 2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" h="48">
                <a:moveTo>
                  <a:pt x="40" y="22"/>
                </a:moveTo>
                <a:cubicBezTo>
                  <a:pt x="40" y="36"/>
                  <a:pt x="32" y="48"/>
                  <a:pt x="20" y="48"/>
                </a:cubicBezTo>
                <a:cubicBezTo>
                  <a:pt x="8" y="48"/>
                  <a:pt x="0" y="36"/>
                  <a:pt x="0" y="22"/>
                </a:cubicBezTo>
                <a:cubicBezTo>
                  <a:pt x="0" y="8"/>
                  <a:pt x="4" y="0"/>
                  <a:pt x="20" y="0"/>
                </a:cubicBezTo>
                <a:cubicBezTo>
                  <a:pt x="36" y="0"/>
                  <a:pt x="40" y="8"/>
                  <a:pt x="40" y="22"/>
                </a:cubicBez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8" name="Line 523"/>
          <p:cNvSpPr>
            <a:spLocks noChangeShapeType="1"/>
          </p:cNvSpPr>
          <p:nvPr/>
        </p:nvSpPr>
        <p:spPr bwMode="auto">
          <a:xfrm>
            <a:off x="1762125" y="3030538"/>
            <a:ext cx="0" cy="7937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59" name="Line 524"/>
          <p:cNvSpPr>
            <a:spLocks noChangeShapeType="1"/>
          </p:cNvSpPr>
          <p:nvPr/>
        </p:nvSpPr>
        <p:spPr bwMode="auto">
          <a:xfrm>
            <a:off x="1762125" y="3048000"/>
            <a:ext cx="0" cy="635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1" name="Line 588"/>
          <p:cNvSpPr>
            <a:spLocks noChangeShapeType="1"/>
          </p:cNvSpPr>
          <p:nvPr/>
        </p:nvSpPr>
        <p:spPr bwMode="auto">
          <a:xfrm>
            <a:off x="10467975" y="3038475"/>
            <a:ext cx="104775" cy="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2" name="Freeform 589"/>
          <p:cNvSpPr>
            <a:spLocks/>
          </p:cNvSpPr>
          <p:nvPr/>
        </p:nvSpPr>
        <p:spPr bwMode="auto">
          <a:xfrm>
            <a:off x="10604500" y="3111500"/>
            <a:ext cx="36513" cy="47625"/>
          </a:xfrm>
          <a:custGeom>
            <a:avLst/>
            <a:gdLst>
              <a:gd name="T0" fmla="*/ 40 w 40"/>
              <a:gd name="T1" fmla="*/ 0 h 53"/>
              <a:gd name="T2" fmla="*/ 23 w 40"/>
              <a:gd name="T3" fmla="*/ 17 h 53"/>
              <a:gd name="T4" fmla="*/ 23 w 40"/>
              <a:gd name="T5" fmla="*/ 29 h 53"/>
              <a:gd name="T6" fmla="*/ 0 w 40"/>
              <a:gd name="T7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53">
                <a:moveTo>
                  <a:pt x="40" y="0"/>
                </a:moveTo>
                <a:lnTo>
                  <a:pt x="23" y="17"/>
                </a:lnTo>
                <a:lnTo>
                  <a:pt x="23" y="29"/>
                </a:lnTo>
                <a:lnTo>
                  <a:pt x="0" y="53"/>
                </a:ln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3" name="Freeform 590"/>
          <p:cNvSpPr>
            <a:spLocks/>
          </p:cNvSpPr>
          <p:nvPr/>
        </p:nvSpPr>
        <p:spPr bwMode="auto">
          <a:xfrm>
            <a:off x="10515600" y="3138488"/>
            <a:ext cx="84138" cy="84137"/>
          </a:xfrm>
          <a:custGeom>
            <a:avLst/>
            <a:gdLst>
              <a:gd name="T0" fmla="*/ 0 w 64"/>
              <a:gd name="T1" fmla="*/ 16 h 64"/>
              <a:gd name="T2" fmla="*/ 44 w 64"/>
              <a:gd name="T3" fmla="*/ 60 h 64"/>
              <a:gd name="T4" fmla="*/ 52 w 64"/>
              <a:gd name="T5" fmla="*/ 64 h 64"/>
              <a:gd name="T6" fmla="*/ 64 w 64"/>
              <a:gd name="T7" fmla="*/ 52 h 64"/>
              <a:gd name="T8" fmla="*/ 60 w 64"/>
              <a:gd name="T9" fmla="*/ 44 h 64"/>
              <a:gd name="T10" fmla="*/ 16 w 64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4" h="64">
                <a:moveTo>
                  <a:pt x="0" y="16"/>
                </a:moveTo>
                <a:cubicBezTo>
                  <a:pt x="44" y="60"/>
                  <a:pt x="44" y="60"/>
                  <a:pt x="44" y="60"/>
                </a:cubicBezTo>
                <a:cubicBezTo>
                  <a:pt x="44" y="60"/>
                  <a:pt x="48" y="64"/>
                  <a:pt x="52" y="64"/>
                </a:cubicBezTo>
                <a:cubicBezTo>
                  <a:pt x="59" y="64"/>
                  <a:pt x="64" y="59"/>
                  <a:pt x="64" y="52"/>
                </a:cubicBezTo>
                <a:cubicBezTo>
                  <a:pt x="64" y="48"/>
                  <a:pt x="60" y="44"/>
                  <a:pt x="60" y="44"/>
                </a:cubicBezTo>
                <a:cubicBezTo>
                  <a:pt x="16" y="0"/>
                  <a:pt x="16" y="0"/>
                  <a:pt x="16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4" name="Freeform 591"/>
          <p:cNvSpPr>
            <a:spLocks/>
          </p:cNvSpPr>
          <p:nvPr/>
        </p:nvSpPr>
        <p:spPr bwMode="auto">
          <a:xfrm>
            <a:off x="10494963" y="3179763"/>
            <a:ext cx="77787" cy="57150"/>
          </a:xfrm>
          <a:custGeom>
            <a:avLst/>
            <a:gdLst>
              <a:gd name="T0" fmla="*/ 56 w 60"/>
              <a:gd name="T1" fmla="*/ 24 h 44"/>
              <a:gd name="T2" fmla="*/ 60 w 60"/>
              <a:gd name="T3" fmla="*/ 32 h 44"/>
              <a:gd name="T4" fmla="*/ 48 w 60"/>
              <a:gd name="T5" fmla="*/ 44 h 44"/>
              <a:gd name="T6" fmla="*/ 40 w 60"/>
              <a:gd name="T7" fmla="*/ 40 h 44"/>
              <a:gd name="T8" fmla="*/ 0 w 60"/>
              <a:gd name="T9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0" h="44">
                <a:moveTo>
                  <a:pt x="56" y="24"/>
                </a:moveTo>
                <a:cubicBezTo>
                  <a:pt x="56" y="24"/>
                  <a:pt x="60" y="28"/>
                  <a:pt x="60" y="32"/>
                </a:cubicBezTo>
                <a:cubicBezTo>
                  <a:pt x="60" y="39"/>
                  <a:pt x="55" y="44"/>
                  <a:pt x="48" y="44"/>
                </a:cubicBezTo>
                <a:cubicBezTo>
                  <a:pt x="44" y="44"/>
                  <a:pt x="40" y="40"/>
                  <a:pt x="40" y="4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5" name="Freeform 592"/>
          <p:cNvSpPr>
            <a:spLocks/>
          </p:cNvSpPr>
          <p:nvPr/>
        </p:nvSpPr>
        <p:spPr bwMode="auto">
          <a:xfrm>
            <a:off x="10399713" y="3111500"/>
            <a:ext cx="142875" cy="136525"/>
          </a:xfrm>
          <a:custGeom>
            <a:avLst/>
            <a:gdLst>
              <a:gd name="T0" fmla="*/ 104 w 108"/>
              <a:gd name="T1" fmla="*/ 84 h 104"/>
              <a:gd name="T2" fmla="*/ 108 w 108"/>
              <a:gd name="T3" fmla="*/ 92 h 104"/>
              <a:gd name="T4" fmla="*/ 96 w 108"/>
              <a:gd name="T5" fmla="*/ 104 h 104"/>
              <a:gd name="T6" fmla="*/ 88 w 108"/>
              <a:gd name="T7" fmla="*/ 100 h 104"/>
              <a:gd name="T8" fmla="*/ 16 w 108"/>
              <a:gd name="T9" fmla="*/ 28 h 104"/>
              <a:gd name="T10" fmla="*/ 16 w 108"/>
              <a:gd name="T11" fmla="*/ 16 h 104"/>
              <a:gd name="T12" fmla="*/ 0 w 108"/>
              <a:gd name="T13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8" h="104">
                <a:moveTo>
                  <a:pt x="104" y="84"/>
                </a:moveTo>
                <a:cubicBezTo>
                  <a:pt x="104" y="84"/>
                  <a:pt x="108" y="88"/>
                  <a:pt x="108" y="92"/>
                </a:cubicBezTo>
                <a:cubicBezTo>
                  <a:pt x="108" y="99"/>
                  <a:pt x="103" y="104"/>
                  <a:pt x="96" y="104"/>
                </a:cubicBezTo>
                <a:cubicBezTo>
                  <a:pt x="92" y="104"/>
                  <a:pt x="88" y="100"/>
                  <a:pt x="88" y="100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16"/>
                  <a:pt x="16" y="16"/>
                  <a:pt x="16" y="16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6" name="Freeform 593"/>
          <p:cNvSpPr>
            <a:spLocks/>
          </p:cNvSpPr>
          <p:nvPr/>
        </p:nvSpPr>
        <p:spPr bwMode="auto">
          <a:xfrm>
            <a:off x="10420350" y="3159125"/>
            <a:ext cx="26988" cy="26988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7" name="Freeform 594"/>
          <p:cNvSpPr>
            <a:spLocks/>
          </p:cNvSpPr>
          <p:nvPr/>
        </p:nvSpPr>
        <p:spPr bwMode="auto">
          <a:xfrm>
            <a:off x="10442575" y="3179763"/>
            <a:ext cx="25400" cy="26987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8" name="Freeform 595"/>
          <p:cNvSpPr>
            <a:spLocks/>
          </p:cNvSpPr>
          <p:nvPr/>
        </p:nvSpPr>
        <p:spPr bwMode="auto">
          <a:xfrm>
            <a:off x="10463213" y="3200400"/>
            <a:ext cx="25400" cy="25400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69" name="Freeform 596"/>
          <p:cNvSpPr>
            <a:spLocks/>
          </p:cNvSpPr>
          <p:nvPr/>
        </p:nvSpPr>
        <p:spPr bwMode="auto">
          <a:xfrm>
            <a:off x="10483850" y="3222625"/>
            <a:ext cx="25400" cy="25400"/>
          </a:xfrm>
          <a:custGeom>
            <a:avLst/>
            <a:gdLst>
              <a:gd name="T0" fmla="*/ 20 w 20"/>
              <a:gd name="T1" fmla="*/ 16 h 20"/>
              <a:gd name="T2" fmla="*/ 12 w 20"/>
              <a:gd name="T3" fmla="*/ 20 h 20"/>
              <a:gd name="T4" fmla="*/ 0 w 20"/>
              <a:gd name="T5" fmla="*/ 8 h 20"/>
              <a:gd name="T6" fmla="*/ 4 w 20"/>
              <a:gd name="T7" fmla="*/ 0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" h="20">
                <a:moveTo>
                  <a:pt x="20" y="16"/>
                </a:moveTo>
                <a:cubicBezTo>
                  <a:pt x="20" y="16"/>
                  <a:pt x="16" y="20"/>
                  <a:pt x="12" y="20"/>
                </a:cubicBezTo>
                <a:cubicBezTo>
                  <a:pt x="5" y="20"/>
                  <a:pt x="0" y="15"/>
                  <a:pt x="0" y="8"/>
                </a:cubicBezTo>
                <a:cubicBezTo>
                  <a:pt x="0" y="4"/>
                  <a:pt x="4" y="0"/>
                  <a:pt x="4" y="0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0" name="Freeform 597"/>
          <p:cNvSpPr>
            <a:spLocks/>
          </p:cNvSpPr>
          <p:nvPr/>
        </p:nvSpPr>
        <p:spPr bwMode="auto">
          <a:xfrm>
            <a:off x="10467975" y="3038475"/>
            <a:ext cx="141288" cy="152400"/>
          </a:xfrm>
          <a:custGeom>
            <a:avLst/>
            <a:gdLst>
              <a:gd name="T0" fmla="*/ 28 w 108"/>
              <a:gd name="T1" fmla="*/ 0 h 116"/>
              <a:gd name="T2" fmla="*/ 4 w 108"/>
              <a:gd name="T3" fmla="*/ 24 h 116"/>
              <a:gd name="T4" fmla="*/ 0 w 108"/>
              <a:gd name="T5" fmla="*/ 32 h 116"/>
              <a:gd name="T6" fmla="*/ 12 w 108"/>
              <a:gd name="T7" fmla="*/ 44 h 116"/>
              <a:gd name="T8" fmla="*/ 20 w 108"/>
              <a:gd name="T9" fmla="*/ 40 h 116"/>
              <a:gd name="T10" fmla="*/ 40 w 108"/>
              <a:gd name="T11" fmla="*/ 20 h 116"/>
              <a:gd name="T12" fmla="*/ 52 w 108"/>
              <a:gd name="T13" fmla="*/ 20 h 116"/>
              <a:gd name="T14" fmla="*/ 52 w 108"/>
              <a:gd name="T15" fmla="*/ 44 h 116"/>
              <a:gd name="T16" fmla="*/ 104 w 108"/>
              <a:gd name="T17" fmla="*/ 96 h 116"/>
              <a:gd name="T18" fmla="*/ 108 w 108"/>
              <a:gd name="T19" fmla="*/ 104 h 116"/>
              <a:gd name="T20" fmla="*/ 96 w 108"/>
              <a:gd name="T21" fmla="*/ 116 h 116"/>
              <a:gd name="T22" fmla="*/ 88 w 108"/>
              <a:gd name="T23" fmla="*/ 112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8" h="116">
                <a:moveTo>
                  <a:pt x="28" y="0"/>
                </a:moveTo>
                <a:cubicBezTo>
                  <a:pt x="4" y="24"/>
                  <a:pt x="4" y="24"/>
                  <a:pt x="4" y="24"/>
                </a:cubicBezTo>
                <a:cubicBezTo>
                  <a:pt x="4" y="24"/>
                  <a:pt x="0" y="28"/>
                  <a:pt x="0" y="32"/>
                </a:cubicBezTo>
                <a:cubicBezTo>
                  <a:pt x="0" y="39"/>
                  <a:pt x="5" y="44"/>
                  <a:pt x="12" y="44"/>
                </a:cubicBezTo>
                <a:cubicBezTo>
                  <a:pt x="16" y="44"/>
                  <a:pt x="20" y="40"/>
                  <a:pt x="20" y="40"/>
                </a:cubicBezTo>
                <a:cubicBezTo>
                  <a:pt x="40" y="20"/>
                  <a:pt x="40" y="20"/>
                  <a:pt x="40" y="20"/>
                </a:cubicBezTo>
                <a:cubicBezTo>
                  <a:pt x="52" y="20"/>
                  <a:pt x="52" y="20"/>
                  <a:pt x="52" y="20"/>
                </a:cubicBezTo>
                <a:cubicBezTo>
                  <a:pt x="52" y="44"/>
                  <a:pt x="52" y="44"/>
                  <a:pt x="52" y="44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4" y="96"/>
                  <a:pt x="108" y="100"/>
                  <a:pt x="108" y="104"/>
                </a:cubicBezTo>
                <a:cubicBezTo>
                  <a:pt x="108" y="111"/>
                  <a:pt x="103" y="116"/>
                  <a:pt x="96" y="116"/>
                </a:cubicBezTo>
                <a:cubicBezTo>
                  <a:pt x="92" y="116"/>
                  <a:pt x="88" y="112"/>
                  <a:pt x="88" y="112"/>
                </a:cubicBez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1" name="Freeform 598"/>
          <p:cNvSpPr>
            <a:spLocks/>
          </p:cNvSpPr>
          <p:nvPr/>
        </p:nvSpPr>
        <p:spPr bwMode="auto">
          <a:xfrm>
            <a:off x="10545763" y="3090863"/>
            <a:ext cx="31750" cy="15875"/>
          </a:xfrm>
          <a:custGeom>
            <a:avLst/>
            <a:gdLst>
              <a:gd name="T0" fmla="*/ 24 w 24"/>
              <a:gd name="T1" fmla="*/ 0 h 12"/>
              <a:gd name="T2" fmla="*/ 12 w 24"/>
              <a:gd name="T3" fmla="*/ 12 h 12"/>
              <a:gd name="T4" fmla="*/ 0 w 24"/>
              <a:gd name="T5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12">
                <a:moveTo>
                  <a:pt x="24" y="0"/>
                </a:moveTo>
                <a:cubicBezTo>
                  <a:pt x="24" y="7"/>
                  <a:pt x="19" y="12"/>
                  <a:pt x="12" y="12"/>
                </a:cubicBezTo>
                <a:cubicBezTo>
                  <a:pt x="0" y="12"/>
                  <a:pt x="0" y="12"/>
                  <a:pt x="0" y="1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2" name="Freeform 599"/>
          <p:cNvSpPr>
            <a:spLocks/>
          </p:cNvSpPr>
          <p:nvPr/>
        </p:nvSpPr>
        <p:spPr bwMode="auto">
          <a:xfrm>
            <a:off x="10561638" y="2965450"/>
            <a:ext cx="120650" cy="146050"/>
          </a:xfrm>
          <a:custGeom>
            <a:avLst/>
            <a:gdLst>
              <a:gd name="T0" fmla="*/ 134 w 134"/>
              <a:gd name="T1" fmla="*/ 135 h 164"/>
              <a:gd name="T2" fmla="*/ 105 w 134"/>
              <a:gd name="T3" fmla="*/ 164 h 164"/>
              <a:gd name="T4" fmla="*/ 93 w 134"/>
              <a:gd name="T5" fmla="*/ 164 h 164"/>
              <a:gd name="T6" fmla="*/ 0 w 134"/>
              <a:gd name="T7" fmla="*/ 71 h 164"/>
              <a:gd name="T8" fmla="*/ 0 w 134"/>
              <a:gd name="T9" fmla="*/ 59 h 164"/>
              <a:gd name="T10" fmla="*/ 58 w 134"/>
              <a:gd name="T11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4" h="164">
                <a:moveTo>
                  <a:pt x="134" y="135"/>
                </a:moveTo>
                <a:lnTo>
                  <a:pt x="105" y="164"/>
                </a:lnTo>
                <a:lnTo>
                  <a:pt x="93" y="164"/>
                </a:lnTo>
                <a:lnTo>
                  <a:pt x="0" y="71"/>
                </a:lnTo>
                <a:lnTo>
                  <a:pt x="0" y="59"/>
                </a:lnTo>
                <a:lnTo>
                  <a:pt x="58" y="0"/>
                </a:ln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3" name="Freeform 600"/>
          <p:cNvSpPr>
            <a:spLocks/>
          </p:cNvSpPr>
          <p:nvPr/>
        </p:nvSpPr>
        <p:spPr bwMode="auto">
          <a:xfrm>
            <a:off x="10358438" y="2965450"/>
            <a:ext cx="120650" cy="146050"/>
          </a:xfrm>
          <a:custGeom>
            <a:avLst/>
            <a:gdLst>
              <a:gd name="T0" fmla="*/ 0 w 134"/>
              <a:gd name="T1" fmla="*/ 135 h 164"/>
              <a:gd name="T2" fmla="*/ 29 w 134"/>
              <a:gd name="T3" fmla="*/ 164 h 164"/>
              <a:gd name="T4" fmla="*/ 41 w 134"/>
              <a:gd name="T5" fmla="*/ 164 h 164"/>
              <a:gd name="T6" fmla="*/ 134 w 134"/>
              <a:gd name="T7" fmla="*/ 71 h 164"/>
              <a:gd name="T8" fmla="*/ 134 w 134"/>
              <a:gd name="T9" fmla="*/ 59 h 164"/>
              <a:gd name="T10" fmla="*/ 76 w 134"/>
              <a:gd name="T11" fmla="*/ 0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4" h="164">
                <a:moveTo>
                  <a:pt x="0" y="135"/>
                </a:moveTo>
                <a:lnTo>
                  <a:pt x="29" y="164"/>
                </a:lnTo>
                <a:lnTo>
                  <a:pt x="41" y="164"/>
                </a:lnTo>
                <a:lnTo>
                  <a:pt x="134" y="71"/>
                </a:lnTo>
                <a:lnTo>
                  <a:pt x="134" y="59"/>
                </a:lnTo>
                <a:lnTo>
                  <a:pt x="76" y="0"/>
                </a:lnTo>
              </a:path>
            </a:pathLst>
          </a:custGeom>
          <a:noFill/>
          <a:ln w="3175" cap="rnd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4" name="Line 601"/>
          <p:cNvSpPr>
            <a:spLocks noChangeShapeType="1"/>
          </p:cNvSpPr>
          <p:nvPr/>
        </p:nvSpPr>
        <p:spPr bwMode="auto">
          <a:xfrm flipV="1">
            <a:off x="10650538" y="3065463"/>
            <a:ext cx="11112" cy="9525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5" name="Line 602"/>
          <p:cNvSpPr>
            <a:spLocks noChangeShapeType="1"/>
          </p:cNvSpPr>
          <p:nvPr/>
        </p:nvSpPr>
        <p:spPr bwMode="auto">
          <a:xfrm>
            <a:off x="10380663" y="3065463"/>
            <a:ext cx="9525" cy="9525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6" name="Line 603"/>
          <p:cNvSpPr>
            <a:spLocks noChangeShapeType="1"/>
          </p:cNvSpPr>
          <p:nvPr/>
        </p:nvSpPr>
        <p:spPr bwMode="auto">
          <a:xfrm>
            <a:off x="10499725" y="3175000"/>
            <a:ext cx="0" cy="0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177" name="Line 604"/>
          <p:cNvSpPr>
            <a:spLocks noChangeShapeType="1"/>
          </p:cNvSpPr>
          <p:nvPr/>
        </p:nvSpPr>
        <p:spPr bwMode="auto">
          <a:xfrm>
            <a:off x="10488613" y="3186113"/>
            <a:ext cx="0" cy="0"/>
          </a:xfrm>
          <a:prstGeom prst="line">
            <a:avLst/>
          </a:prstGeom>
          <a:noFill/>
          <a:ln w="3175" cap="rnd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5" name="Freeform 1619"/>
          <p:cNvSpPr>
            <a:spLocks/>
          </p:cNvSpPr>
          <p:nvPr/>
        </p:nvSpPr>
        <p:spPr bwMode="auto">
          <a:xfrm>
            <a:off x="6750050" y="2947988"/>
            <a:ext cx="195263" cy="261937"/>
          </a:xfrm>
          <a:custGeom>
            <a:avLst/>
            <a:gdLst>
              <a:gd name="T0" fmla="*/ 268 w 268"/>
              <a:gd name="T1" fmla="*/ 343 h 361"/>
              <a:gd name="T2" fmla="*/ 215 w 268"/>
              <a:gd name="T3" fmla="*/ 291 h 361"/>
              <a:gd name="T4" fmla="*/ 198 w 268"/>
              <a:gd name="T5" fmla="*/ 291 h 361"/>
              <a:gd name="T6" fmla="*/ 198 w 268"/>
              <a:gd name="T7" fmla="*/ 308 h 361"/>
              <a:gd name="T8" fmla="*/ 250 w 268"/>
              <a:gd name="T9" fmla="*/ 361 h 361"/>
              <a:gd name="T10" fmla="*/ 0 w 268"/>
              <a:gd name="T11" fmla="*/ 361 h 361"/>
              <a:gd name="T12" fmla="*/ 0 w 268"/>
              <a:gd name="T13" fmla="*/ 0 h 361"/>
              <a:gd name="T14" fmla="*/ 221 w 268"/>
              <a:gd name="T15" fmla="*/ 0 h 361"/>
              <a:gd name="T16" fmla="*/ 268 w 268"/>
              <a:gd name="T17" fmla="*/ 46 h 361"/>
              <a:gd name="T18" fmla="*/ 268 w 268"/>
              <a:gd name="T19" fmla="*/ 343 h 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8" h="361">
                <a:moveTo>
                  <a:pt x="268" y="343"/>
                </a:moveTo>
                <a:lnTo>
                  <a:pt x="215" y="291"/>
                </a:lnTo>
                <a:lnTo>
                  <a:pt x="198" y="291"/>
                </a:lnTo>
                <a:lnTo>
                  <a:pt x="198" y="308"/>
                </a:lnTo>
                <a:lnTo>
                  <a:pt x="250" y="361"/>
                </a:lnTo>
                <a:lnTo>
                  <a:pt x="0" y="361"/>
                </a:lnTo>
                <a:lnTo>
                  <a:pt x="0" y="0"/>
                </a:lnTo>
                <a:lnTo>
                  <a:pt x="221" y="0"/>
                </a:lnTo>
                <a:lnTo>
                  <a:pt x="268" y="46"/>
                </a:lnTo>
                <a:lnTo>
                  <a:pt x="268" y="343"/>
                </a:ln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6" name="Line 1620"/>
          <p:cNvSpPr>
            <a:spLocks noChangeShapeType="1"/>
          </p:cNvSpPr>
          <p:nvPr/>
        </p:nvSpPr>
        <p:spPr bwMode="auto">
          <a:xfrm flipH="1" flipV="1">
            <a:off x="6884988" y="3151188"/>
            <a:ext cx="9525" cy="7937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7" name="Freeform 1621"/>
          <p:cNvSpPr>
            <a:spLocks/>
          </p:cNvSpPr>
          <p:nvPr/>
        </p:nvSpPr>
        <p:spPr bwMode="auto">
          <a:xfrm>
            <a:off x="6792913" y="3057525"/>
            <a:ext cx="109537" cy="109538"/>
          </a:xfrm>
          <a:custGeom>
            <a:avLst/>
            <a:gdLst>
              <a:gd name="T0" fmla="*/ 104 w 104"/>
              <a:gd name="T1" fmla="*/ 52 h 104"/>
              <a:gd name="T2" fmla="*/ 52 w 104"/>
              <a:gd name="T3" fmla="*/ 104 h 104"/>
              <a:gd name="T4" fmla="*/ 0 w 104"/>
              <a:gd name="T5" fmla="*/ 52 h 104"/>
              <a:gd name="T6" fmla="*/ 52 w 104"/>
              <a:gd name="T7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" h="104">
                <a:moveTo>
                  <a:pt x="104" y="52"/>
                </a:moveTo>
                <a:cubicBezTo>
                  <a:pt x="104" y="81"/>
                  <a:pt x="81" y="104"/>
                  <a:pt x="52" y="104"/>
                </a:cubicBezTo>
                <a:cubicBezTo>
                  <a:pt x="23" y="104"/>
                  <a:pt x="0" y="81"/>
                  <a:pt x="0" y="52"/>
                </a:cubicBezTo>
                <a:cubicBezTo>
                  <a:pt x="0" y="23"/>
                  <a:pt x="23" y="0"/>
                  <a:pt x="52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99" name="Freeform 1623"/>
          <p:cNvSpPr>
            <a:spLocks/>
          </p:cNvSpPr>
          <p:nvPr/>
        </p:nvSpPr>
        <p:spPr bwMode="auto">
          <a:xfrm>
            <a:off x="6813550" y="3078163"/>
            <a:ext cx="68263" cy="68262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09" name="Freeform 1633"/>
          <p:cNvSpPr>
            <a:spLocks/>
          </p:cNvSpPr>
          <p:nvPr/>
        </p:nvSpPr>
        <p:spPr bwMode="auto">
          <a:xfrm>
            <a:off x="6859588" y="3057525"/>
            <a:ext cx="42862" cy="42863"/>
          </a:xfrm>
          <a:custGeom>
            <a:avLst/>
            <a:gdLst>
              <a:gd name="T0" fmla="*/ 0 w 40"/>
              <a:gd name="T1" fmla="*/ 0 h 40"/>
              <a:gd name="T2" fmla="*/ 40 w 40"/>
              <a:gd name="T3" fmla="*/ 40 h 40"/>
              <a:gd name="T4" fmla="*/ 0 w 40"/>
              <a:gd name="T5" fmla="*/ 40 h 40"/>
              <a:gd name="T6" fmla="*/ 0 w 40"/>
              <a:gd name="T7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40">
                <a:moveTo>
                  <a:pt x="0" y="0"/>
                </a:moveTo>
                <a:cubicBezTo>
                  <a:pt x="22" y="0"/>
                  <a:pt x="40" y="18"/>
                  <a:pt x="40" y="40"/>
                </a:cubicBezTo>
                <a:cubicBezTo>
                  <a:pt x="0" y="40"/>
                  <a:pt x="0" y="40"/>
                  <a:pt x="0" y="40"/>
                </a:cubicBezTo>
                <a:lnTo>
                  <a:pt x="0" y="0"/>
                </a:ln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0" name="Freeform 1634"/>
          <p:cNvSpPr>
            <a:spLocks/>
          </p:cNvSpPr>
          <p:nvPr/>
        </p:nvSpPr>
        <p:spPr bwMode="auto">
          <a:xfrm>
            <a:off x="6813550" y="3113088"/>
            <a:ext cx="60325" cy="25400"/>
          </a:xfrm>
          <a:custGeom>
            <a:avLst/>
            <a:gdLst>
              <a:gd name="T0" fmla="*/ 82 w 82"/>
              <a:gd name="T1" fmla="*/ 35 h 35"/>
              <a:gd name="T2" fmla="*/ 47 w 82"/>
              <a:gd name="T3" fmla="*/ 0 h 35"/>
              <a:gd name="T4" fmla="*/ 0 w 82"/>
              <a:gd name="T5" fmla="*/ 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2" h="35">
                <a:moveTo>
                  <a:pt x="82" y="35"/>
                </a:moveTo>
                <a:lnTo>
                  <a:pt x="47" y="0"/>
                </a:lnTo>
                <a:lnTo>
                  <a:pt x="0" y="0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2" name="Freeform 271"/>
          <p:cNvSpPr>
            <a:spLocks/>
          </p:cNvSpPr>
          <p:nvPr/>
        </p:nvSpPr>
        <p:spPr bwMode="auto">
          <a:xfrm>
            <a:off x="4452938" y="3198813"/>
            <a:ext cx="282575" cy="26987"/>
          </a:xfrm>
          <a:custGeom>
            <a:avLst/>
            <a:gdLst>
              <a:gd name="T0" fmla="*/ 240 w 257"/>
              <a:gd name="T1" fmla="*/ 25 h 25"/>
              <a:gd name="T2" fmla="*/ 16 w 257"/>
              <a:gd name="T3" fmla="*/ 25 h 25"/>
              <a:gd name="T4" fmla="*/ 0 w 257"/>
              <a:gd name="T5" fmla="*/ 8 h 25"/>
              <a:gd name="T6" fmla="*/ 0 w 257"/>
              <a:gd name="T7" fmla="*/ 0 h 25"/>
              <a:gd name="T8" fmla="*/ 99 w 257"/>
              <a:gd name="T9" fmla="*/ 0 h 25"/>
              <a:gd name="T10" fmla="*/ 107 w 257"/>
              <a:gd name="T11" fmla="*/ 8 h 25"/>
              <a:gd name="T12" fmla="*/ 149 w 257"/>
              <a:gd name="T13" fmla="*/ 8 h 25"/>
              <a:gd name="T14" fmla="*/ 157 w 257"/>
              <a:gd name="T15" fmla="*/ 0 h 25"/>
              <a:gd name="T16" fmla="*/ 257 w 257"/>
              <a:gd name="T17" fmla="*/ 0 h 25"/>
              <a:gd name="T18" fmla="*/ 257 w 257"/>
              <a:gd name="T19" fmla="*/ 8 h 25"/>
              <a:gd name="T20" fmla="*/ 240 w 257"/>
              <a:gd name="T21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7" h="25">
                <a:moveTo>
                  <a:pt x="240" y="25"/>
                </a:moveTo>
                <a:lnTo>
                  <a:pt x="16" y="25"/>
                </a:lnTo>
                <a:lnTo>
                  <a:pt x="0" y="8"/>
                </a:lnTo>
                <a:lnTo>
                  <a:pt x="0" y="0"/>
                </a:lnTo>
                <a:lnTo>
                  <a:pt x="99" y="0"/>
                </a:lnTo>
                <a:lnTo>
                  <a:pt x="107" y="8"/>
                </a:lnTo>
                <a:lnTo>
                  <a:pt x="149" y="8"/>
                </a:lnTo>
                <a:lnTo>
                  <a:pt x="157" y="0"/>
                </a:lnTo>
                <a:lnTo>
                  <a:pt x="257" y="0"/>
                </a:lnTo>
                <a:lnTo>
                  <a:pt x="257" y="8"/>
                </a:lnTo>
                <a:lnTo>
                  <a:pt x="240" y="25"/>
                </a:lnTo>
                <a:close/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3" name="Freeform 272"/>
          <p:cNvSpPr>
            <a:spLocks/>
          </p:cNvSpPr>
          <p:nvPr/>
        </p:nvSpPr>
        <p:spPr bwMode="auto">
          <a:xfrm>
            <a:off x="4479925" y="3043238"/>
            <a:ext cx="228600" cy="141287"/>
          </a:xfrm>
          <a:custGeom>
            <a:avLst/>
            <a:gdLst>
              <a:gd name="T0" fmla="*/ 200 w 200"/>
              <a:gd name="T1" fmla="*/ 124 h 124"/>
              <a:gd name="T2" fmla="*/ 200 w 200"/>
              <a:gd name="T3" fmla="*/ 12 h 124"/>
              <a:gd name="T4" fmla="*/ 188 w 200"/>
              <a:gd name="T5" fmla="*/ 0 h 124"/>
              <a:gd name="T6" fmla="*/ 12 w 200"/>
              <a:gd name="T7" fmla="*/ 0 h 124"/>
              <a:gd name="T8" fmla="*/ 0 w 200"/>
              <a:gd name="T9" fmla="*/ 12 h 124"/>
              <a:gd name="T10" fmla="*/ 0 w 200"/>
              <a:gd name="T11" fmla="*/ 124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0" h="124">
                <a:moveTo>
                  <a:pt x="200" y="124"/>
                </a:moveTo>
                <a:cubicBezTo>
                  <a:pt x="200" y="12"/>
                  <a:pt x="200" y="12"/>
                  <a:pt x="200" y="12"/>
                </a:cubicBezTo>
                <a:cubicBezTo>
                  <a:pt x="200" y="5"/>
                  <a:pt x="195" y="0"/>
                  <a:pt x="18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5" y="0"/>
                  <a:pt x="0" y="5"/>
                  <a:pt x="0" y="12"/>
                </a:cubicBezTo>
                <a:cubicBezTo>
                  <a:pt x="0" y="124"/>
                  <a:pt x="0" y="124"/>
                  <a:pt x="0" y="124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4" name="Freeform 273"/>
          <p:cNvSpPr>
            <a:spLocks/>
          </p:cNvSpPr>
          <p:nvPr/>
        </p:nvSpPr>
        <p:spPr bwMode="auto">
          <a:xfrm>
            <a:off x="4511675" y="3092450"/>
            <a:ext cx="165100" cy="55563"/>
          </a:xfrm>
          <a:custGeom>
            <a:avLst/>
            <a:gdLst>
              <a:gd name="T0" fmla="*/ 0 w 149"/>
              <a:gd name="T1" fmla="*/ 25 h 50"/>
              <a:gd name="T2" fmla="*/ 8 w 149"/>
              <a:gd name="T3" fmla="*/ 25 h 50"/>
              <a:gd name="T4" fmla="*/ 24 w 149"/>
              <a:gd name="T5" fmla="*/ 9 h 50"/>
              <a:gd name="T6" fmla="*/ 58 w 149"/>
              <a:gd name="T7" fmla="*/ 50 h 50"/>
              <a:gd name="T8" fmla="*/ 91 w 149"/>
              <a:gd name="T9" fmla="*/ 0 h 50"/>
              <a:gd name="T10" fmla="*/ 124 w 149"/>
              <a:gd name="T11" fmla="*/ 42 h 50"/>
              <a:gd name="T12" fmla="*/ 141 w 149"/>
              <a:gd name="T13" fmla="*/ 25 h 50"/>
              <a:gd name="T14" fmla="*/ 149 w 149"/>
              <a:gd name="T15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9" h="50">
                <a:moveTo>
                  <a:pt x="0" y="25"/>
                </a:moveTo>
                <a:lnTo>
                  <a:pt x="8" y="25"/>
                </a:lnTo>
                <a:lnTo>
                  <a:pt x="24" y="9"/>
                </a:lnTo>
                <a:lnTo>
                  <a:pt x="58" y="50"/>
                </a:lnTo>
                <a:lnTo>
                  <a:pt x="91" y="0"/>
                </a:lnTo>
                <a:lnTo>
                  <a:pt x="124" y="42"/>
                </a:lnTo>
                <a:lnTo>
                  <a:pt x="141" y="25"/>
                </a:lnTo>
                <a:lnTo>
                  <a:pt x="149" y="25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5" name="Freeform 274"/>
          <p:cNvSpPr>
            <a:spLocks/>
          </p:cNvSpPr>
          <p:nvPr/>
        </p:nvSpPr>
        <p:spPr bwMode="auto">
          <a:xfrm>
            <a:off x="4516438" y="2952750"/>
            <a:ext cx="155575" cy="76200"/>
          </a:xfrm>
          <a:custGeom>
            <a:avLst/>
            <a:gdLst>
              <a:gd name="T0" fmla="*/ 136 w 136"/>
              <a:gd name="T1" fmla="*/ 68 h 68"/>
              <a:gd name="T2" fmla="*/ 135 w 136"/>
              <a:gd name="T3" fmla="*/ 58 h 68"/>
              <a:gd name="T4" fmla="*/ 128 w 136"/>
              <a:gd name="T5" fmla="*/ 60 h 68"/>
              <a:gd name="T6" fmla="*/ 112 w 136"/>
              <a:gd name="T7" fmla="*/ 44 h 68"/>
              <a:gd name="T8" fmla="*/ 123 w 136"/>
              <a:gd name="T9" fmla="*/ 29 h 68"/>
              <a:gd name="T10" fmla="*/ 107 w 136"/>
              <a:gd name="T11" fmla="*/ 13 h 68"/>
              <a:gd name="T12" fmla="*/ 92 w 136"/>
              <a:gd name="T13" fmla="*/ 24 h 68"/>
              <a:gd name="T14" fmla="*/ 76 w 136"/>
              <a:gd name="T15" fmla="*/ 8 h 68"/>
              <a:gd name="T16" fmla="*/ 78 w 136"/>
              <a:gd name="T17" fmla="*/ 1 h 68"/>
              <a:gd name="T18" fmla="*/ 68 w 136"/>
              <a:gd name="T19" fmla="*/ 0 h 68"/>
              <a:gd name="T20" fmla="*/ 58 w 136"/>
              <a:gd name="T21" fmla="*/ 1 h 68"/>
              <a:gd name="T22" fmla="*/ 60 w 136"/>
              <a:gd name="T23" fmla="*/ 8 h 68"/>
              <a:gd name="T24" fmla="*/ 44 w 136"/>
              <a:gd name="T25" fmla="*/ 24 h 68"/>
              <a:gd name="T26" fmla="*/ 29 w 136"/>
              <a:gd name="T27" fmla="*/ 13 h 68"/>
              <a:gd name="T28" fmla="*/ 13 w 136"/>
              <a:gd name="T29" fmla="*/ 29 h 68"/>
              <a:gd name="T30" fmla="*/ 24 w 136"/>
              <a:gd name="T31" fmla="*/ 44 h 68"/>
              <a:gd name="T32" fmla="*/ 8 w 136"/>
              <a:gd name="T33" fmla="*/ 60 h 68"/>
              <a:gd name="T34" fmla="*/ 1 w 136"/>
              <a:gd name="T35" fmla="*/ 58 h 68"/>
              <a:gd name="T36" fmla="*/ 0 w 136"/>
              <a:gd name="T37" fmla="*/ 6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6" h="68">
                <a:moveTo>
                  <a:pt x="136" y="68"/>
                </a:moveTo>
                <a:cubicBezTo>
                  <a:pt x="136" y="65"/>
                  <a:pt x="136" y="61"/>
                  <a:pt x="135" y="58"/>
                </a:cubicBezTo>
                <a:cubicBezTo>
                  <a:pt x="133" y="59"/>
                  <a:pt x="131" y="60"/>
                  <a:pt x="128" y="60"/>
                </a:cubicBezTo>
                <a:cubicBezTo>
                  <a:pt x="119" y="60"/>
                  <a:pt x="112" y="53"/>
                  <a:pt x="112" y="44"/>
                </a:cubicBezTo>
                <a:cubicBezTo>
                  <a:pt x="112" y="37"/>
                  <a:pt x="117" y="31"/>
                  <a:pt x="123" y="29"/>
                </a:cubicBezTo>
                <a:cubicBezTo>
                  <a:pt x="119" y="22"/>
                  <a:pt x="114" y="17"/>
                  <a:pt x="107" y="13"/>
                </a:cubicBezTo>
                <a:cubicBezTo>
                  <a:pt x="105" y="19"/>
                  <a:pt x="99" y="24"/>
                  <a:pt x="92" y="24"/>
                </a:cubicBezTo>
                <a:cubicBezTo>
                  <a:pt x="83" y="24"/>
                  <a:pt x="76" y="17"/>
                  <a:pt x="76" y="8"/>
                </a:cubicBezTo>
                <a:cubicBezTo>
                  <a:pt x="76" y="5"/>
                  <a:pt x="77" y="3"/>
                  <a:pt x="78" y="1"/>
                </a:cubicBezTo>
                <a:cubicBezTo>
                  <a:pt x="75" y="0"/>
                  <a:pt x="71" y="0"/>
                  <a:pt x="68" y="0"/>
                </a:cubicBezTo>
                <a:cubicBezTo>
                  <a:pt x="65" y="0"/>
                  <a:pt x="61" y="0"/>
                  <a:pt x="58" y="1"/>
                </a:cubicBezTo>
                <a:cubicBezTo>
                  <a:pt x="59" y="3"/>
                  <a:pt x="60" y="5"/>
                  <a:pt x="60" y="8"/>
                </a:cubicBezTo>
                <a:cubicBezTo>
                  <a:pt x="60" y="17"/>
                  <a:pt x="53" y="24"/>
                  <a:pt x="44" y="24"/>
                </a:cubicBezTo>
                <a:cubicBezTo>
                  <a:pt x="37" y="24"/>
                  <a:pt x="31" y="19"/>
                  <a:pt x="29" y="13"/>
                </a:cubicBezTo>
                <a:cubicBezTo>
                  <a:pt x="22" y="17"/>
                  <a:pt x="17" y="22"/>
                  <a:pt x="13" y="29"/>
                </a:cubicBezTo>
                <a:cubicBezTo>
                  <a:pt x="19" y="31"/>
                  <a:pt x="24" y="37"/>
                  <a:pt x="24" y="44"/>
                </a:cubicBezTo>
                <a:cubicBezTo>
                  <a:pt x="24" y="53"/>
                  <a:pt x="17" y="60"/>
                  <a:pt x="8" y="60"/>
                </a:cubicBezTo>
                <a:cubicBezTo>
                  <a:pt x="5" y="60"/>
                  <a:pt x="3" y="59"/>
                  <a:pt x="1" y="58"/>
                </a:cubicBezTo>
                <a:cubicBezTo>
                  <a:pt x="0" y="61"/>
                  <a:pt x="0" y="65"/>
                  <a:pt x="0" y="68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6" name="Freeform 275"/>
          <p:cNvSpPr>
            <a:spLocks/>
          </p:cNvSpPr>
          <p:nvPr/>
        </p:nvSpPr>
        <p:spPr bwMode="auto">
          <a:xfrm>
            <a:off x="4579938" y="3016250"/>
            <a:ext cx="28575" cy="12700"/>
          </a:xfrm>
          <a:custGeom>
            <a:avLst/>
            <a:gdLst>
              <a:gd name="T0" fmla="*/ 0 w 24"/>
              <a:gd name="T1" fmla="*/ 12 h 12"/>
              <a:gd name="T2" fmla="*/ 12 w 24"/>
              <a:gd name="T3" fmla="*/ 0 h 12"/>
              <a:gd name="T4" fmla="*/ 24 w 24"/>
              <a:gd name="T5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" h="12">
                <a:moveTo>
                  <a:pt x="0" y="12"/>
                </a:moveTo>
                <a:cubicBezTo>
                  <a:pt x="0" y="5"/>
                  <a:pt x="5" y="0"/>
                  <a:pt x="12" y="0"/>
                </a:cubicBezTo>
                <a:cubicBezTo>
                  <a:pt x="19" y="0"/>
                  <a:pt x="24" y="5"/>
                  <a:pt x="24" y="1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7" name="Freeform 276"/>
          <p:cNvSpPr>
            <a:spLocks/>
          </p:cNvSpPr>
          <p:nvPr/>
        </p:nvSpPr>
        <p:spPr bwMode="auto">
          <a:xfrm>
            <a:off x="4557713" y="2994025"/>
            <a:ext cx="73025" cy="34925"/>
          </a:xfrm>
          <a:custGeom>
            <a:avLst/>
            <a:gdLst>
              <a:gd name="T0" fmla="*/ 0 w 64"/>
              <a:gd name="T1" fmla="*/ 32 h 32"/>
              <a:gd name="T2" fmla="*/ 32 w 64"/>
              <a:gd name="T3" fmla="*/ 0 h 32"/>
              <a:gd name="T4" fmla="*/ 64 w 64"/>
              <a:gd name="T5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4" h="32">
                <a:moveTo>
                  <a:pt x="0" y="32"/>
                </a:moveTo>
                <a:cubicBezTo>
                  <a:pt x="0" y="14"/>
                  <a:pt x="14" y="0"/>
                  <a:pt x="32" y="0"/>
                </a:cubicBezTo>
                <a:cubicBezTo>
                  <a:pt x="50" y="0"/>
                  <a:pt x="64" y="14"/>
                  <a:pt x="64" y="3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18" name="Rectangle 277"/>
          <p:cNvSpPr>
            <a:spLocks noChangeArrowheads="1"/>
          </p:cNvSpPr>
          <p:nvPr/>
        </p:nvSpPr>
        <p:spPr bwMode="auto">
          <a:xfrm>
            <a:off x="4497388" y="3060700"/>
            <a:ext cx="192087" cy="119063"/>
          </a:xfrm>
          <a:prstGeom prst="rect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1" name="Line 772"/>
          <p:cNvSpPr>
            <a:spLocks noChangeShapeType="1"/>
          </p:cNvSpPr>
          <p:nvPr/>
        </p:nvSpPr>
        <p:spPr bwMode="auto">
          <a:xfrm>
            <a:off x="8510588" y="3036888"/>
            <a:ext cx="0" cy="301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2" name="Freeform 773"/>
          <p:cNvSpPr>
            <a:spLocks/>
          </p:cNvSpPr>
          <p:nvPr/>
        </p:nvSpPr>
        <p:spPr bwMode="auto">
          <a:xfrm>
            <a:off x="8266113" y="3036888"/>
            <a:ext cx="112712" cy="30162"/>
          </a:xfrm>
          <a:custGeom>
            <a:avLst/>
            <a:gdLst>
              <a:gd name="T0" fmla="*/ 96 w 96"/>
              <a:gd name="T1" fmla="*/ 24 h 24"/>
              <a:gd name="T2" fmla="*/ 12 w 96"/>
              <a:gd name="T3" fmla="*/ 24 h 24"/>
              <a:gd name="T4" fmla="*/ 0 w 96"/>
              <a:gd name="T5" fmla="*/ 12 h 24"/>
              <a:gd name="T6" fmla="*/ 12 w 96"/>
              <a:gd name="T7" fmla="*/ 0 h 24"/>
              <a:gd name="T8" fmla="*/ 96 w 96"/>
              <a:gd name="T9" fmla="*/ 0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" h="24">
                <a:moveTo>
                  <a:pt x="96" y="24"/>
                </a:moveTo>
                <a:cubicBezTo>
                  <a:pt x="12" y="24"/>
                  <a:pt x="12" y="24"/>
                  <a:pt x="12" y="24"/>
                </a:cubicBezTo>
                <a:cubicBezTo>
                  <a:pt x="5" y="24"/>
                  <a:pt x="0" y="19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6" y="0"/>
                  <a:pt x="96" y="0"/>
                  <a:pt x="96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3" name="Freeform 774"/>
          <p:cNvSpPr>
            <a:spLocks/>
          </p:cNvSpPr>
          <p:nvPr/>
        </p:nvSpPr>
        <p:spPr bwMode="auto">
          <a:xfrm>
            <a:off x="8453438" y="3036888"/>
            <a:ext cx="103187" cy="30162"/>
          </a:xfrm>
          <a:custGeom>
            <a:avLst/>
            <a:gdLst>
              <a:gd name="T0" fmla="*/ 0 w 91"/>
              <a:gd name="T1" fmla="*/ 0 h 25"/>
              <a:gd name="T2" fmla="*/ 70 w 91"/>
              <a:gd name="T3" fmla="*/ 0 h 25"/>
              <a:gd name="T4" fmla="*/ 91 w 91"/>
              <a:gd name="T5" fmla="*/ 12 h 25"/>
              <a:gd name="T6" fmla="*/ 70 w 91"/>
              <a:gd name="T7" fmla="*/ 25 h 25"/>
              <a:gd name="T8" fmla="*/ 0 w 91"/>
              <a:gd name="T9" fmla="*/ 25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" h="25">
                <a:moveTo>
                  <a:pt x="0" y="0"/>
                </a:moveTo>
                <a:lnTo>
                  <a:pt x="70" y="0"/>
                </a:lnTo>
                <a:lnTo>
                  <a:pt x="91" y="12"/>
                </a:lnTo>
                <a:lnTo>
                  <a:pt x="70" y="25"/>
                </a:lnTo>
                <a:lnTo>
                  <a:pt x="0" y="25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4" name="Line 775"/>
          <p:cNvSpPr>
            <a:spLocks noChangeShapeType="1"/>
          </p:cNvSpPr>
          <p:nvPr/>
        </p:nvSpPr>
        <p:spPr bwMode="auto">
          <a:xfrm>
            <a:off x="8313738" y="3036888"/>
            <a:ext cx="0" cy="301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5" name="Line 776"/>
          <p:cNvSpPr>
            <a:spLocks noChangeShapeType="1"/>
          </p:cNvSpPr>
          <p:nvPr/>
        </p:nvSpPr>
        <p:spPr bwMode="auto">
          <a:xfrm>
            <a:off x="8294688" y="3036888"/>
            <a:ext cx="0" cy="301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6" name="Freeform 777"/>
          <p:cNvSpPr>
            <a:spLocks/>
          </p:cNvSpPr>
          <p:nvPr/>
        </p:nvSpPr>
        <p:spPr bwMode="auto">
          <a:xfrm>
            <a:off x="8378825" y="3013075"/>
            <a:ext cx="74613" cy="130175"/>
          </a:xfrm>
          <a:custGeom>
            <a:avLst/>
            <a:gdLst>
              <a:gd name="T0" fmla="*/ 52 w 64"/>
              <a:gd name="T1" fmla="*/ 108 h 108"/>
              <a:gd name="T2" fmla="*/ 52 w 64"/>
              <a:gd name="T3" fmla="*/ 100 h 108"/>
              <a:gd name="T4" fmla="*/ 64 w 64"/>
              <a:gd name="T5" fmla="*/ 60 h 108"/>
              <a:gd name="T6" fmla="*/ 64 w 64"/>
              <a:gd name="T7" fmla="*/ 20 h 108"/>
              <a:gd name="T8" fmla="*/ 56 w 64"/>
              <a:gd name="T9" fmla="*/ 12 h 108"/>
              <a:gd name="T10" fmla="*/ 48 w 64"/>
              <a:gd name="T11" fmla="*/ 20 h 108"/>
              <a:gd name="T12" fmla="*/ 48 w 64"/>
              <a:gd name="T13" fmla="*/ 16 h 108"/>
              <a:gd name="T14" fmla="*/ 40 w 64"/>
              <a:gd name="T15" fmla="*/ 8 h 108"/>
              <a:gd name="T16" fmla="*/ 32 w 64"/>
              <a:gd name="T17" fmla="*/ 16 h 108"/>
              <a:gd name="T18" fmla="*/ 32 w 64"/>
              <a:gd name="T19" fmla="*/ 8 h 108"/>
              <a:gd name="T20" fmla="*/ 24 w 64"/>
              <a:gd name="T21" fmla="*/ 0 h 108"/>
              <a:gd name="T22" fmla="*/ 16 w 64"/>
              <a:gd name="T23" fmla="*/ 8 h 108"/>
              <a:gd name="T24" fmla="*/ 16 w 64"/>
              <a:gd name="T25" fmla="*/ 16 h 108"/>
              <a:gd name="T26" fmla="*/ 8 w 64"/>
              <a:gd name="T27" fmla="*/ 8 h 108"/>
              <a:gd name="T28" fmla="*/ 0 w 64"/>
              <a:gd name="T29" fmla="*/ 16 h 108"/>
              <a:gd name="T30" fmla="*/ 0 w 64"/>
              <a:gd name="T31" fmla="*/ 52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4" h="108">
                <a:moveTo>
                  <a:pt x="52" y="108"/>
                </a:moveTo>
                <a:cubicBezTo>
                  <a:pt x="52" y="100"/>
                  <a:pt x="52" y="100"/>
                  <a:pt x="52" y="100"/>
                </a:cubicBezTo>
                <a:cubicBezTo>
                  <a:pt x="64" y="60"/>
                  <a:pt x="64" y="60"/>
                  <a:pt x="64" y="60"/>
                </a:cubicBezTo>
                <a:cubicBezTo>
                  <a:pt x="64" y="20"/>
                  <a:pt x="64" y="20"/>
                  <a:pt x="64" y="20"/>
                </a:cubicBezTo>
                <a:cubicBezTo>
                  <a:pt x="64" y="16"/>
                  <a:pt x="60" y="12"/>
                  <a:pt x="56" y="12"/>
                </a:cubicBezTo>
                <a:cubicBezTo>
                  <a:pt x="52" y="12"/>
                  <a:pt x="48" y="16"/>
                  <a:pt x="48" y="20"/>
                </a:cubicBezTo>
                <a:cubicBezTo>
                  <a:pt x="48" y="16"/>
                  <a:pt x="48" y="16"/>
                  <a:pt x="48" y="16"/>
                </a:cubicBezTo>
                <a:cubicBezTo>
                  <a:pt x="48" y="12"/>
                  <a:pt x="44" y="8"/>
                  <a:pt x="40" y="8"/>
                </a:cubicBezTo>
                <a:cubicBezTo>
                  <a:pt x="36" y="8"/>
                  <a:pt x="32" y="12"/>
                  <a:pt x="32" y="16"/>
                </a:cubicBezTo>
                <a:cubicBezTo>
                  <a:pt x="32" y="8"/>
                  <a:pt x="32" y="8"/>
                  <a:pt x="32" y="8"/>
                </a:cubicBezTo>
                <a:cubicBezTo>
                  <a:pt x="32" y="4"/>
                  <a:pt x="28" y="0"/>
                  <a:pt x="24" y="0"/>
                </a:cubicBezTo>
                <a:cubicBezTo>
                  <a:pt x="20" y="0"/>
                  <a:pt x="16" y="4"/>
                  <a:pt x="16" y="8"/>
                </a:cubicBezTo>
                <a:cubicBezTo>
                  <a:pt x="16" y="16"/>
                  <a:pt x="16" y="16"/>
                  <a:pt x="16" y="16"/>
                </a:cubicBezTo>
                <a:cubicBezTo>
                  <a:pt x="16" y="12"/>
                  <a:pt x="12" y="8"/>
                  <a:pt x="8" y="8"/>
                </a:cubicBezTo>
                <a:cubicBezTo>
                  <a:pt x="4" y="8"/>
                  <a:pt x="0" y="12"/>
                  <a:pt x="0" y="16"/>
                </a:cubicBezTo>
                <a:cubicBezTo>
                  <a:pt x="0" y="52"/>
                  <a:pt x="0" y="52"/>
                  <a:pt x="0" y="52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7" name="Line 778"/>
          <p:cNvSpPr>
            <a:spLocks noChangeShapeType="1"/>
          </p:cNvSpPr>
          <p:nvPr/>
        </p:nvSpPr>
        <p:spPr bwMode="auto">
          <a:xfrm>
            <a:off x="8397875" y="30321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8" name="Line 779"/>
          <p:cNvSpPr>
            <a:spLocks noChangeShapeType="1"/>
          </p:cNvSpPr>
          <p:nvPr/>
        </p:nvSpPr>
        <p:spPr bwMode="auto">
          <a:xfrm>
            <a:off x="8416925" y="30321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69" name="Line 780"/>
          <p:cNvSpPr>
            <a:spLocks noChangeShapeType="1"/>
          </p:cNvSpPr>
          <p:nvPr/>
        </p:nvSpPr>
        <p:spPr bwMode="auto">
          <a:xfrm>
            <a:off x="8434388" y="3036888"/>
            <a:ext cx="0" cy="476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0" name="Freeform 781"/>
          <p:cNvSpPr>
            <a:spLocks/>
          </p:cNvSpPr>
          <p:nvPr/>
        </p:nvSpPr>
        <p:spPr bwMode="auto">
          <a:xfrm>
            <a:off x="8359775" y="3067050"/>
            <a:ext cx="23813" cy="76200"/>
          </a:xfrm>
          <a:custGeom>
            <a:avLst/>
            <a:gdLst>
              <a:gd name="T0" fmla="*/ 0 w 21"/>
              <a:gd name="T1" fmla="*/ 0 h 66"/>
              <a:gd name="T2" fmla="*/ 0 w 21"/>
              <a:gd name="T3" fmla="*/ 8 h 66"/>
              <a:gd name="T4" fmla="*/ 0 w 21"/>
              <a:gd name="T5" fmla="*/ 16 h 66"/>
              <a:gd name="T6" fmla="*/ 8 w 21"/>
              <a:gd name="T7" fmla="*/ 33 h 66"/>
              <a:gd name="T8" fmla="*/ 21 w 21"/>
              <a:gd name="T9" fmla="*/ 49 h 66"/>
              <a:gd name="T10" fmla="*/ 21 w 21"/>
              <a:gd name="T11" fmla="*/ 66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" h="66">
                <a:moveTo>
                  <a:pt x="0" y="0"/>
                </a:moveTo>
                <a:lnTo>
                  <a:pt x="0" y="8"/>
                </a:lnTo>
                <a:lnTo>
                  <a:pt x="0" y="16"/>
                </a:lnTo>
                <a:lnTo>
                  <a:pt x="8" y="33"/>
                </a:lnTo>
                <a:lnTo>
                  <a:pt x="21" y="49"/>
                </a:lnTo>
                <a:lnTo>
                  <a:pt x="21" y="66"/>
                </a:ln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1" name="Line 782"/>
          <p:cNvSpPr>
            <a:spLocks noChangeShapeType="1"/>
          </p:cNvSpPr>
          <p:nvPr/>
        </p:nvSpPr>
        <p:spPr bwMode="auto">
          <a:xfrm flipH="1">
            <a:off x="8393113" y="3162300"/>
            <a:ext cx="7937" cy="0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2" name="Freeform 783"/>
          <p:cNvSpPr>
            <a:spLocks/>
          </p:cNvSpPr>
          <p:nvPr/>
        </p:nvSpPr>
        <p:spPr bwMode="auto">
          <a:xfrm>
            <a:off x="8378825" y="3143250"/>
            <a:ext cx="66675" cy="95250"/>
          </a:xfrm>
          <a:custGeom>
            <a:avLst/>
            <a:gdLst>
              <a:gd name="T0" fmla="*/ 0 w 56"/>
              <a:gd name="T1" fmla="*/ 80 h 80"/>
              <a:gd name="T2" fmla="*/ 0 w 56"/>
              <a:gd name="T3" fmla="*/ 4 h 80"/>
              <a:gd name="T4" fmla="*/ 4 w 56"/>
              <a:gd name="T5" fmla="*/ 0 h 80"/>
              <a:gd name="T6" fmla="*/ 52 w 56"/>
              <a:gd name="T7" fmla="*/ 0 h 80"/>
              <a:gd name="T8" fmla="*/ 56 w 56"/>
              <a:gd name="T9" fmla="*/ 4 h 80"/>
              <a:gd name="T10" fmla="*/ 56 w 56"/>
              <a:gd name="T11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6" h="80">
                <a:moveTo>
                  <a:pt x="0" y="80"/>
                </a:move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4" y="0"/>
                  <a:pt x="56" y="2"/>
                  <a:pt x="56" y="4"/>
                </a:cubicBezTo>
                <a:cubicBezTo>
                  <a:pt x="56" y="80"/>
                  <a:pt x="56" y="80"/>
                  <a:pt x="56" y="8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3" name="Line 784"/>
          <p:cNvSpPr>
            <a:spLocks noChangeShapeType="1"/>
          </p:cNvSpPr>
          <p:nvPr/>
        </p:nvSpPr>
        <p:spPr bwMode="auto">
          <a:xfrm flipV="1">
            <a:off x="8462963" y="322897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4" name="Line 785"/>
          <p:cNvSpPr>
            <a:spLocks noChangeShapeType="1"/>
          </p:cNvSpPr>
          <p:nvPr/>
        </p:nvSpPr>
        <p:spPr bwMode="auto">
          <a:xfrm flipV="1">
            <a:off x="8462963" y="32099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5" name="Line 786"/>
          <p:cNvSpPr>
            <a:spLocks noChangeShapeType="1"/>
          </p:cNvSpPr>
          <p:nvPr/>
        </p:nvSpPr>
        <p:spPr bwMode="auto">
          <a:xfrm flipV="1">
            <a:off x="8462963" y="3189288"/>
            <a:ext cx="0" cy="1111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6" name="Line 787"/>
          <p:cNvSpPr>
            <a:spLocks noChangeShapeType="1"/>
          </p:cNvSpPr>
          <p:nvPr/>
        </p:nvSpPr>
        <p:spPr bwMode="auto">
          <a:xfrm flipV="1">
            <a:off x="8359775" y="322897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7" name="Line 788"/>
          <p:cNvSpPr>
            <a:spLocks noChangeShapeType="1"/>
          </p:cNvSpPr>
          <p:nvPr/>
        </p:nvSpPr>
        <p:spPr bwMode="auto">
          <a:xfrm flipV="1">
            <a:off x="8359775" y="3209925"/>
            <a:ext cx="0" cy="9525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8" name="Line 789"/>
          <p:cNvSpPr>
            <a:spLocks noChangeShapeType="1"/>
          </p:cNvSpPr>
          <p:nvPr/>
        </p:nvSpPr>
        <p:spPr bwMode="auto">
          <a:xfrm flipV="1">
            <a:off x="8359775" y="3189288"/>
            <a:ext cx="0" cy="11112"/>
          </a:xfrm>
          <a:prstGeom prst="line">
            <a:avLst/>
          </a:pr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79" name="Freeform 790"/>
          <p:cNvSpPr>
            <a:spLocks/>
          </p:cNvSpPr>
          <p:nvPr/>
        </p:nvSpPr>
        <p:spPr bwMode="auto">
          <a:xfrm>
            <a:off x="8286750" y="3079750"/>
            <a:ext cx="60325" cy="96838"/>
          </a:xfrm>
          <a:custGeom>
            <a:avLst/>
            <a:gdLst>
              <a:gd name="T0" fmla="*/ 51 w 51"/>
              <a:gd name="T1" fmla="*/ 80 h 80"/>
              <a:gd name="T2" fmla="*/ 0 w 51"/>
              <a:gd name="T3" fmla="*/ 0 h 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1" h="80">
                <a:moveTo>
                  <a:pt x="51" y="80"/>
                </a:moveTo>
                <a:cubicBezTo>
                  <a:pt x="23" y="63"/>
                  <a:pt x="3" y="34"/>
                  <a:pt x="0" y="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80" name="Freeform 791"/>
          <p:cNvSpPr>
            <a:spLocks/>
          </p:cNvSpPr>
          <p:nvPr/>
        </p:nvSpPr>
        <p:spPr bwMode="auto">
          <a:xfrm>
            <a:off x="8478838" y="3079750"/>
            <a:ext cx="58737" cy="96838"/>
          </a:xfrm>
          <a:custGeom>
            <a:avLst/>
            <a:gdLst>
              <a:gd name="T0" fmla="*/ 50 w 50"/>
              <a:gd name="T1" fmla="*/ 0 h 80"/>
              <a:gd name="T2" fmla="*/ 0 w 50"/>
              <a:gd name="T3" fmla="*/ 80 h 8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0" h="80">
                <a:moveTo>
                  <a:pt x="50" y="0"/>
                </a:moveTo>
                <a:cubicBezTo>
                  <a:pt x="47" y="34"/>
                  <a:pt x="27" y="63"/>
                  <a:pt x="0" y="80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381" name="Freeform 792"/>
          <p:cNvSpPr>
            <a:spLocks/>
          </p:cNvSpPr>
          <p:nvPr/>
        </p:nvSpPr>
        <p:spPr bwMode="auto">
          <a:xfrm>
            <a:off x="8291513" y="2936875"/>
            <a:ext cx="239712" cy="84138"/>
          </a:xfrm>
          <a:custGeom>
            <a:avLst/>
            <a:gdLst>
              <a:gd name="T0" fmla="*/ 0 w 204"/>
              <a:gd name="T1" fmla="*/ 71 h 71"/>
              <a:gd name="T2" fmla="*/ 102 w 204"/>
              <a:gd name="T3" fmla="*/ 0 h 71"/>
              <a:gd name="T4" fmla="*/ 204 w 204"/>
              <a:gd name="T5" fmla="*/ 71 h 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4" h="71">
                <a:moveTo>
                  <a:pt x="0" y="71"/>
                </a:moveTo>
                <a:cubicBezTo>
                  <a:pt x="15" y="30"/>
                  <a:pt x="55" y="0"/>
                  <a:pt x="102" y="0"/>
                </a:cubicBezTo>
                <a:cubicBezTo>
                  <a:pt x="149" y="0"/>
                  <a:pt x="188" y="30"/>
                  <a:pt x="204" y="71"/>
                </a:cubicBezTo>
              </a:path>
            </a:pathLst>
          </a:custGeom>
          <a:noFill/>
          <a:ln w="3175" cap="flat">
            <a:solidFill>
              <a:srgbClr val="00A3A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533" tIns="44766" rIns="89533" bIns="44766"/>
          <a:lstStyle/>
          <a:p>
            <a:pPr defTabSz="97463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919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22" name="Text Placeholder 4"/>
          <p:cNvSpPr txBox="1">
            <a:spLocks/>
          </p:cNvSpPr>
          <p:nvPr/>
        </p:nvSpPr>
        <p:spPr bwMode="auto">
          <a:xfrm>
            <a:off x="1651000" y="1546225"/>
            <a:ext cx="1295400" cy="36353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0" kern="120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1pPr>
            <a:lvl2pPr marL="0" indent="0" algn="l" defTabSz="986912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 sz="1800" b="1" kern="1200">
                <a:solidFill>
                  <a:schemeClr val="tx2"/>
                </a:solidFill>
                <a:latin typeface="Univers 45 Light" pitchFamily="2" charset="0"/>
                <a:ea typeface="+mn-ea"/>
                <a:cs typeface="+mn-cs"/>
              </a:defRPr>
            </a:lvl2pPr>
            <a:lvl3pPr marL="0" indent="0" algn="l" defTabSz="986912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200" b="1" kern="1200">
                <a:solidFill>
                  <a:schemeClr val="accent1"/>
                </a:solidFill>
                <a:latin typeface="Univers 45 Light" pitchFamily="2" charset="0"/>
                <a:ea typeface="+mn-ea"/>
                <a:cs typeface="+mn-cs"/>
              </a:defRPr>
            </a:lvl3pPr>
            <a:lvl4pPr marL="171450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000" b="0" kern="1200" baseline="0" dirty="0" smtClean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4pPr>
            <a:lvl5pPr marL="354013" indent="-176213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b="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5pPr>
            <a:lvl6pPr marL="541338" indent="-187325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6pPr>
            <a:lvl7pPr marL="185046" indent="-185046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7pPr>
            <a:lvl8pPr marL="363538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8pPr>
            <a:lvl9pPr marL="387350" indent="0" algn="l" defTabSz="98691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9pPr>
          </a:lstStyle>
          <a:p>
            <a:pPr fontAlgn="auto">
              <a:spcAft>
                <a:spcPts val="979"/>
              </a:spcAft>
              <a:defRPr/>
            </a:pPr>
            <a:r>
              <a:rPr lang="en-US" sz="1050" b="1" dirty="0" smtClean="0">
                <a:solidFill>
                  <a:srgbClr val="000000"/>
                </a:solidFill>
                <a:cs typeface="Calibri" panose="020F0502020204030204" pitchFamily="34" charset="0"/>
              </a:rPr>
              <a:t>March 2019</a:t>
            </a:r>
            <a:endParaRPr lang="en-US" sz="1050" b="1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20553" name="Text Placeholder 4"/>
          <p:cNvSpPr txBox="1">
            <a:spLocks/>
          </p:cNvSpPr>
          <p:nvPr/>
        </p:nvSpPr>
        <p:spPr bwMode="auto">
          <a:xfrm>
            <a:off x="4344988" y="3563938"/>
            <a:ext cx="24685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During this session KPMG showcased a financial services bot that had the ability to search through 1,000 policies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0554" name="Text Placeholder 4"/>
          <p:cNvSpPr txBox="1">
            <a:spLocks/>
          </p:cNvSpPr>
          <p:nvPr/>
        </p:nvSpPr>
        <p:spPr bwMode="auto">
          <a:xfrm>
            <a:off x="6637338" y="1878013"/>
            <a:ext cx="24431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Discussion was held regarding if this could be trialed using Operational Blueprint as a knowledge source 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425" name="Text Placeholder 4"/>
          <p:cNvSpPr txBox="1">
            <a:spLocks/>
          </p:cNvSpPr>
          <p:nvPr/>
        </p:nvSpPr>
        <p:spPr bwMode="auto">
          <a:xfrm>
            <a:off x="10264775" y="1546225"/>
            <a:ext cx="1295400" cy="36353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1000" b="0" kern="120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1pPr>
            <a:lvl2pPr marL="0" indent="0" algn="l" defTabSz="986912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Tx/>
              <a:buNone/>
              <a:defRPr sz="1800" b="1" kern="1200">
                <a:solidFill>
                  <a:schemeClr val="tx2"/>
                </a:solidFill>
                <a:latin typeface="Univers 45 Light" pitchFamily="2" charset="0"/>
                <a:ea typeface="+mn-ea"/>
                <a:cs typeface="+mn-cs"/>
              </a:defRPr>
            </a:lvl2pPr>
            <a:lvl3pPr marL="0" indent="0" algn="l" defTabSz="986912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Tx/>
              <a:buNone/>
              <a:defRPr sz="1200" b="1" kern="1200">
                <a:solidFill>
                  <a:schemeClr val="accent1"/>
                </a:solidFill>
                <a:latin typeface="Univers 45 Light" pitchFamily="2" charset="0"/>
                <a:ea typeface="+mn-ea"/>
                <a:cs typeface="+mn-cs"/>
              </a:defRPr>
            </a:lvl3pPr>
            <a:lvl4pPr marL="171450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lang="en-US" sz="1000" b="0" kern="1200" baseline="0" dirty="0" smtClean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4pPr>
            <a:lvl5pPr marL="354013" indent="-176213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b="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5pPr>
            <a:lvl6pPr marL="541338" indent="-187325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tabLst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6pPr>
            <a:lvl7pPr marL="185046" indent="-185046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7pPr>
            <a:lvl8pPr marL="363538" indent="-171450" algn="l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Univers 45 Light" pitchFamily="2" charset="0"/>
              <a:buChar char="–"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8pPr>
            <a:lvl9pPr marL="387350" indent="0" algn="l" defTabSz="986912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Univers 45 Light" pitchFamily="2" charset="0"/>
                <a:ea typeface="+mn-ea"/>
                <a:cs typeface="+mn-cs"/>
              </a:defRPr>
            </a:lvl9pPr>
          </a:lstStyle>
          <a:p>
            <a:pPr fontAlgn="auto">
              <a:spcAft>
                <a:spcPts val="979"/>
              </a:spcAft>
              <a:defRPr/>
            </a:pPr>
            <a:r>
              <a:rPr lang="en-US" sz="1050" b="1" dirty="0" smtClean="0">
                <a:solidFill>
                  <a:srgbClr val="000000"/>
                </a:solidFill>
                <a:cs typeface="Calibri" panose="020F0502020204030204" pitchFamily="34" charset="0"/>
              </a:rPr>
              <a:t>May 2019</a:t>
            </a:r>
            <a:endParaRPr lang="en-US" sz="1050" b="1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20556" name="Text Placeholder 4"/>
          <p:cNvSpPr txBox="1">
            <a:spLocks/>
          </p:cNvSpPr>
          <p:nvPr/>
        </p:nvSpPr>
        <p:spPr bwMode="auto">
          <a:xfrm>
            <a:off x="10282238" y="1878013"/>
            <a:ext cx="9620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POC agreement signed 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0557" name="Text Placeholder 4"/>
          <p:cNvSpPr txBox="1">
            <a:spLocks/>
          </p:cNvSpPr>
          <p:nvPr/>
        </p:nvSpPr>
        <p:spPr bwMode="auto">
          <a:xfrm>
            <a:off x="8239125" y="3506788"/>
            <a:ext cx="185261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After some investigation KPMG provided an agreement to commence a limited Proof of Concept (POC)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0558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1325562"/>
          </a:xfrm>
        </p:spPr>
        <p:txBody>
          <a:bodyPr/>
          <a:lstStyle/>
          <a:p>
            <a:r>
              <a:rPr lang="en-AU" altLang="en-US" smtClean="0"/>
              <a:t>Introduction &amp; Background</a:t>
            </a:r>
            <a:r>
              <a:rPr lang="en-AU" altLang="en-US" b="1" smtClean="0"/>
              <a:t/>
            </a:r>
            <a:br>
              <a:rPr lang="en-AU" altLang="en-US" b="1" smtClean="0"/>
            </a:br>
            <a:endParaRPr lang="en-AU" altLang="en-US" smtClean="0"/>
          </a:p>
        </p:txBody>
      </p:sp>
      <p:pic>
        <p:nvPicPr>
          <p:cNvPr id="20559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530600"/>
            <a:ext cx="2252662" cy="142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0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" t="4813" r="3970"/>
          <a:stretch>
            <a:fillRect/>
          </a:stretch>
        </p:blipFill>
        <p:spPr bwMode="auto">
          <a:xfrm>
            <a:off x="4375150" y="4575175"/>
            <a:ext cx="2417763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1325562"/>
          </a:xfrm>
        </p:spPr>
        <p:txBody>
          <a:bodyPr/>
          <a:lstStyle/>
          <a:p>
            <a:r>
              <a:rPr lang="en-AU" altLang="en-US" smtClean="0"/>
              <a:t>Digital assistant emerging trends</a:t>
            </a:r>
          </a:p>
        </p:txBody>
      </p:sp>
      <p:pic>
        <p:nvPicPr>
          <p:cNvPr id="22531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350" y="4916488"/>
            <a:ext cx="1846263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Placeholder 4"/>
          <p:cNvSpPr txBox="1">
            <a:spLocks/>
          </p:cNvSpPr>
          <p:nvPr/>
        </p:nvSpPr>
        <p:spPr bwMode="auto">
          <a:xfrm>
            <a:off x="1320800" y="5421313"/>
            <a:ext cx="1185863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Voice enabled welfare application bot (USA)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2533" name="Title 1"/>
          <p:cNvSpPr txBox="1">
            <a:spLocks/>
          </p:cNvSpPr>
          <p:nvPr/>
        </p:nvSpPr>
        <p:spPr bwMode="auto">
          <a:xfrm>
            <a:off x="5053013" y="1258888"/>
            <a:ext cx="11890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More Pervasive</a:t>
            </a:r>
          </a:p>
        </p:txBody>
      </p:sp>
      <p:pic>
        <p:nvPicPr>
          <p:cNvPr id="2253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1624013"/>
            <a:ext cx="3684588" cy="200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5" name="Freeform 5"/>
          <p:cNvSpPr>
            <a:spLocks noChangeAspect="1" noEditPoints="1"/>
          </p:cNvSpPr>
          <p:nvPr/>
        </p:nvSpPr>
        <p:spPr bwMode="auto">
          <a:xfrm>
            <a:off x="9585325" y="3402013"/>
            <a:ext cx="263525" cy="244475"/>
          </a:xfrm>
          <a:custGeom>
            <a:avLst/>
            <a:gdLst>
              <a:gd name="T0" fmla="*/ 2147483646 w 676"/>
              <a:gd name="T1" fmla="*/ 2147483646 h 627"/>
              <a:gd name="T2" fmla="*/ 2147483646 w 676"/>
              <a:gd name="T3" fmla="*/ 2147483646 h 627"/>
              <a:gd name="T4" fmla="*/ 2147483646 w 676"/>
              <a:gd name="T5" fmla="*/ 2147483646 h 627"/>
              <a:gd name="T6" fmla="*/ 2147483646 w 676"/>
              <a:gd name="T7" fmla="*/ 2147483646 h 627"/>
              <a:gd name="T8" fmla="*/ 2147483646 w 676"/>
              <a:gd name="T9" fmla="*/ 2147483646 h 627"/>
              <a:gd name="T10" fmla="*/ 2147483646 w 676"/>
              <a:gd name="T11" fmla="*/ 2147483646 h 627"/>
              <a:gd name="T12" fmla="*/ 0 w 676"/>
              <a:gd name="T13" fmla="*/ 2147483646 h 627"/>
              <a:gd name="T14" fmla="*/ 2147483646 w 676"/>
              <a:gd name="T15" fmla="*/ 2147483646 h 627"/>
              <a:gd name="T16" fmla="*/ 2147483646 w 676"/>
              <a:gd name="T17" fmla="*/ 2147483646 h 627"/>
              <a:gd name="T18" fmla="*/ 2147483646 w 676"/>
              <a:gd name="T19" fmla="*/ 2147483646 h 627"/>
              <a:gd name="T20" fmla="*/ 2147483646 w 676"/>
              <a:gd name="T21" fmla="*/ 2147483646 h 627"/>
              <a:gd name="T22" fmla="*/ 2147483646 w 676"/>
              <a:gd name="T23" fmla="*/ 2147483646 h 627"/>
              <a:gd name="T24" fmla="*/ 2147483646 w 676"/>
              <a:gd name="T25" fmla="*/ 2147483646 h 627"/>
              <a:gd name="T26" fmla="*/ 2147483646 w 676"/>
              <a:gd name="T27" fmla="*/ 2147483646 h 627"/>
              <a:gd name="T28" fmla="*/ 2147483646 w 676"/>
              <a:gd name="T29" fmla="*/ 2147483646 h 627"/>
              <a:gd name="T30" fmla="*/ 2147483646 w 676"/>
              <a:gd name="T31" fmla="*/ 2147483646 h 627"/>
              <a:gd name="T32" fmla="*/ 2147483646 w 676"/>
              <a:gd name="T33" fmla="*/ 2147483646 h 627"/>
              <a:gd name="T34" fmla="*/ 2147483646 w 676"/>
              <a:gd name="T35" fmla="*/ 2147483646 h 627"/>
              <a:gd name="T36" fmla="*/ 2147483646 w 676"/>
              <a:gd name="T37" fmla="*/ 2147483646 h 627"/>
              <a:gd name="T38" fmla="*/ 2147483646 w 676"/>
              <a:gd name="T39" fmla="*/ 2147483646 h 627"/>
              <a:gd name="T40" fmla="*/ 2147483646 w 676"/>
              <a:gd name="T41" fmla="*/ 2147483646 h 627"/>
              <a:gd name="T42" fmla="*/ 2147483646 w 676"/>
              <a:gd name="T43" fmla="*/ 2147483646 h 627"/>
              <a:gd name="T44" fmla="*/ 2147483646 w 676"/>
              <a:gd name="T45" fmla="*/ 2147483646 h 627"/>
              <a:gd name="T46" fmla="*/ 2147483646 w 676"/>
              <a:gd name="T47" fmla="*/ 2147483646 h 627"/>
              <a:gd name="T48" fmla="*/ 2147483646 w 676"/>
              <a:gd name="T49" fmla="*/ 2147483646 h 627"/>
              <a:gd name="T50" fmla="*/ 2147483646 w 676"/>
              <a:gd name="T51" fmla="*/ 2147483646 h 627"/>
              <a:gd name="T52" fmla="*/ 2147483646 w 676"/>
              <a:gd name="T53" fmla="*/ 2147483646 h 627"/>
              <a:gd name="T54" fmla="*/ 2147483646 w 676"/>
              <a:gd name="T55" fmla="*/ 2147483646 h 627"/>
              <a:gd name="T56" fmla="*/ 2147483646 w 676"/>
              <a:gd name="T57" fmla="*/ 2147483646 h 627"/>
              <a:gd name="T58" fmla="*/ 2147483646 w 676"/>
              <a:gd name="T59" fmla="*/ 2147483646 h 627"/>
              <a:gd name="T60" fmla="*/ 2147483646 w 676"/>
              <a:gd name="T61" fmla="*/ 2147483646 h 627"/>
              <a:gd name="T62" fmla="*/ 2147483646 w 676"/>
              <a:gd name="T63" fmla="*/ 2147483646 h 627"/>
              <a:gd name="T64" fmla="*/ 2147483646 w 676"/>
              <a:gd name="T65" fmla="*/ 2147483646 h 627"/>
              <a:gd name="T66" fmla="*/ 2147483646 w 676"/>
              <a:gd name="T67" fmla="*/ 2147483646 h 627"/>
              <a:gd name="T68" fmla="*/ 2147483646 w 676"/>
              <a:gd name="T69" fmla="*/ 2147483646 h 627"/>
              <a:gd name="T70" fmla="*/ 2147483646 w 676"/>
              <a:gd name="T71" fmla="*/ 2147483646 h 627"/>
              <a:gd name="T72" fmla="*/ 2147483646 w 676"/>
              <a:gd name="T73" fmla="*/ 2147483646 h 627"/>
              <a:gd name="T74" fmla="*/ 2147483646 w 676"/>
              <a:gd name="T75" fmla="*/ 2147483646 h 627"/>
              <a:gd name="T76" fmla="*/ 2147483646 w 676"/>
              <a:gd name="T77" fmla="*/ 2147483646 h 627"/>
              <a:gd name="T78" fmla="*/ 2147483646 w 676"/>
              <a:gd name="T79" fmla="*/ 2147483646 h 627"/>
              <a:gd name="T80" fmla="*/ 2147483646 w 676"/>
              <a:gd name="T81" fmla="*/ 2147483646 h 627"/>
              <a:gd name="T82" fmla="*/ 2147483646 w 676"/>
              <a:gd name="T83" fmla="*/ 0 h 627"/>
              <a:gd name="T84" fmla="*/ 2147483646 w 676"/>
              <a:gd name="T85" fmla="*/ 2147483646 h 62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0" t="0" r="r" b="b"/>
            <a:pathLst>
              <a:path w="676" h="627">
                <a:moveTo>
                  <a:pt x="630" y="155"/>
                </a:moveTo>
                <a:lnTo>
                  <a:pt x="630" y="155"/>
                </a:lnTo>
                <a:lnTo>
                  <a:pt x="538" y="155"/>
                </a:lnTo>
                <a:cubicBezTo>
                  <a:pt x="532" y="155"/>
                  <a:pt x="525" y="157"/>
                  <a:pt x="520" y="160"/>
                </a:cubicBezTo>
                <a:cubicBezTo>
                  <a:pt x="510" y="141"/>
                  <a:pt x="492" y="135"/>
                  <a:pt x="472" y="135"/>
                </a:cubicBezTo>
                <a:lnTo>
                  <a:pt x="378" y="135"/>
                </a:lnTo>
                <a:cubicBezTo>
                  <a:pt x="362" y="135"/>
                  <a:pt x="348" y="135"/>
                  <a:pt x="338" y="148"/>
                </a:cubicBezTo>
                <a:cubicBezTo>
                  <a:pt x="328" y="135"/>
                  <a:pt x="314" y="128"/>
                  <a:pt x="299" y="128"/>
                </a:cubicBezTo>
                <a:lnTo>
                  <a:pt x="204" y="128"/>
                </a:lnTo>
                <a:cubicBezTo>
                  <a:pt x="180" y="128"/>
                  <a:pt x="160" y="146"/>
                  <a:pt x="153" y="171"/>
                </a:cubicBezTo>
                <a:cubicBezTo>
                  <a:pt x="147" y="168"/>
                  <a:pt x="130" y="166"/>
                  <a:pt x="124" y="166"/>
                </a:cubicBezTo>
                <a:lnTo>
                  <a:pt x="45" y="166"/>
                </a:lnTo>
                <a:cubicBezTo>
                  <a:pt x="20" y="166"/>
                  <a:pt x="0" y="190"/>
                  <a:pt x="0" y="220"/>
                </a:cubicBezTo>
                <a:lnTo>
                  <a:pt x="0" y="349"/>
                </a:lnTo>
                <a:cubicBezTo>
                  <a:pt x="0" y="359"/>
                  <a:pt x="2" y="369"/>
                  <a:pt x="15" y="369"/>
                </a:cubicBezTo>
                <a:cubicBezTo>
                  <a:pt x="28" y="369"/>
                  <a:pt x="30" y="359"/>
                  <a:pt x="30" y="349"/>
                </a:cubicBezTo>
                <a:cubicBezTo>
                  <a:pt x="30" y="337"/>
                  <a:pt x="31" y="211"/>
                  <a:pt x="31" y="211"/>
                </a:cubicBezTo>
                <a:lnTo>
                  <a:pt x="50" y="211"/>
                </a:lnTo>
                <a:cubicBezTo>
                  <a:pt x="50" y="211"/>
                  <a:pt x="49" y="530"/>
                  <a:pt x="49" y="546"/>
                </a:cubicBezTo>
                <a:cubicBezTo>
                  <a:pt x="50" y="580"/>
                  <a:pt x="69" y="581"/>
                  <a:pt x="81" y="581"/>
                </a:cubicBezTo>
                <a:lnTo>
                  <a:pt x="101" y="581"/>
                </a:lnTo>
                <a:cubicBezTo>
                  <a:pt x="112" y="581"/>
                  <a:pt x="129" y="580"/>
                  <a:pt x="131" y="541"/>
                </a:cubicBezTo>
                <a:cubicBezTo>
                  <a:pt x="131" y="524"/>
                  <a:pt x="131" y="211"/>
                  <a:pt x="131" y="211"/>
                </a:cubicBezTo>
                <a:lnTo>
                  <a:pt x="150" y="211"/>
                </a:lnTo>
                <a:lnTo>
                  <a:pt x="150" y="353"/>
                </a:lnTo>
                <a:cubicBezTo>
                  <a:pt x="150" y="367"/>
                  <a:pt x="155" y="370"/>
                  <a:pt x="165" y="370"/>
                </a:cubicBezTo>
                <a:cubicBezTo>
                  <a:pt x="175" y="370"/>
                  <a:pt x="180" y="363"/>
                  <a:pt x="180" y="351"/>
                </a:cubicBezTo>
                <a:cubicBezTo>
                  <a:pt x="180" y="344"/>
                  <a:pt x="179" y="187"/>
                  <a:pt x="179" y="187"/>
                </a:cubicBezTo>
                <a:lnTo>
                  <a:pt x="198" y="187"/>
                </a:lnTo>
                <a:cubicBezTo>
                  <a:pt x="198" y="187"/>
                  <a:pt x="198" y="555"/>
                  <a:pt x="198" y="579"/>
                </a:cubicBezTo>
                <a:cubicBezTo>
                  <a:pt x="199" y="620"/>
                  <a:pt x="221" y="627"/>
                  <a:pt x="235" y="627"/>
                </a:cubicBezTo>
                <a:lnTo>
                  <a:pt x="271" y="627"/>
                </a:lnTo>
                <a:cubicBezTo>
                  <a:pt x="285" y="627"/>
                  <a:pt x="303" y="620"/>
                  <a:pt x="305" y="573"/>
                </a:cubicBezTo>
                <a:cubicBezTo>
                  <a:pt x="306" y="554"/>
                  <a:pt x="304" y="187"/>
                  <a:pt x="304" y="187"/>
                </a:cubicBezTo>
                <a:lnTo>
                  <a:pt x="323" y="187"/>
                </a:lnTo>
                <a:lnTo>
                  <a:pt x="323" y="347"/>
                </a:lnTo>
                <a:cubicBezTo>
                  <a:pt x="323" y="363"/>
                  <a:pt x="325" y="369"/>
                  <a:pt x="338" y="369"/>
                </a:cubicBezTo>
                <a:cubicBezTo>
                  <a:pt x="348" y="369"/>
                  <a:pt x="350" y="362"/>
                  <a:pt x="350" y="348"/>
                </a:cubicBezTo>
                <a:cubicBezTo>
                  <a:pt x="350" y="338"/>
                  <a:pt x="351" y="196"/>
                  <a:pt x="351" y="196"/>
                </a:cubicBezTo>
                <a:lnTo>
                  <a:pt x="369" y="196"/>
                </a:lnTo>
                <a:cubicBezTo>
                  <a:pt x="369" y="196"/>
                  <a:pt x="370" y="551"/>
                  <a:pt x="370" y="575"/>
                </a:cubicBezTo>
                <a:cubicBezTo>
                  <a:pt x="371" y="615"/>
                  <a:pt x="395" y="623"/>
                  <a:pt x="408" y="623"/>
                </a:cubicBezTo>
                <a:lnTo>
                  <a:pt x="445" y="623"/>
                </a:lnTo>
                <a:cubicBezTo>
                  <a:pt x="458" y="623"/>
                  <a:pt x="477" y="615"/>
                  <a:pt x="479" y="568"/>
                </a:cubicBezTo>
                <a:cubicBezTo>
                  <a:pt x="480" y="546"/>
                  <a:pt x="479" y="196"/>
                  <a:pt x="479" y="196"/>
                </a:cubicBezTo>
                <a:lnTo>
                  <a:pt x="498" y="196"/>
                </a:lnTo>
                <a:cubicBezTo>
                  <a:pt x="498" y="196"/>
                  <a:pt x="498" y="333"/>
                  <a:pt x="498" y="348"/>
                </a:cubicBezTo>
                <a:cubicBezTo>
                  <a:pt x="498" y="360"/>
                  <a:pt x="501" y="370"/>
                  <a:pt x="511" y="370"/>
                </a:cubicBezTo>
                <a:cubicBezTo>
                  <a:pt x="523" y="370"/>
                  <a:pt x="526" y="365"/>
                  <a:pt x="527" y="354"/>
                </a:cubicBezTo>
                <a:cubicBezTo>
                  <a:pt x="527" y="372"/>
                  <a:pt x="528" y="211"/>
                  <a:pt x="528" y="211"/>
                </a:cubicBezTo>
                <a:lnTo>
                  <a:pt x="546" y="211"/>
                </a:lnTo>
                <a:cubicBezTo>
                  <a:pt x="546" y="211"/>
                  <a:pt x="546" y="524"/>
                  <a:pt x="546" y="529"/>
                </a:cubicBezTo>
                <a:cubicBezTo>
                  <a:pt x="547" y="563"/>
                  <a:pt x="558" y="570"/>
                  <a:pt x="569" y="570"/>
                </a:cubicBezTo>
                <a:lnTo>
                  <a:pt x="604" y="570"/>
                </a:lnTo>
                <a:cubicBezTo>
                  <a:pt x="615" y="570"/>
                  <a:pt x="627" y="563"/>
                  <a:pt x="628" y="524"/>
                </a:cubicBezTo>
                <a:cubicBezTo>
                  <a:pt x="629" y="504"/>
                  <a:pt x="628" y="211"/>
                  <a:pt x="628" y="211"/>
                </a:cubicBezTo>
                <a:lnTo>
                  <a:pt x="647" y="211"/>
                </a:lnTo>
                <a:lnTo>
                  <a:pt x="647" y="352"/>
                </a:lnTo>
                <a:cubicBezTo>
                  <a:pt x="647" y="362"/>
                  <a:pt x="653" y="369"/>
                  <a:pt x="662" y="369"/>
                </a:cubicBezTo>
                <a:cubicBezTo>
                  <a:pt x="671" y="369"/>
                  <a:pt x="676" y="363"/>
                  <a:pt x="676" y="353"/>
                </a:cubicBezTo>
                <a:lnTo>
                  <a:pt x="676" y="215"/>
                </a:lnTo>
                <a:cubicBezTo>
                  <a:pt x="676" y="186"/>
                  <a:pt x="655" y="155"/>
                  <a:pt x="630" y="155"/>
                </a:cubicBezTo>
                <a:close/>
                <a:moveTo>
                  <a:pt x="584" y="135"/>
                </a:moveTo>
                <a:lnTo>
                  <a:pt x="584" y="135"/>
                </a:lnTo>
                <a:cubicBezTo>
                  <a:pt x="607" y="135"/>
                  <a:pt x="626" y="116"/>
                  <a:pt x="626" y="93"/>
                </a:cubicBezTo>
                <a:cubicBezTo>
                  <a:pt x="626" y="70"/>
                  <a:pt x="607" y="52"/>
                  <a:pt x="584" y="52"/>
                </a:cubicBezTo>
                <a:cubicBezTo>
                  <a:pt x="562" y="52"/>
                  <a:pt x="543" y="70"/>
                  <a:pt x="543" y="93"/>
                </a:cubicBezTo>
                <a:cubicBezTo>
                  <a:pt x="543" y="116"/>
                  <a:pt x="562" y="135"/>
                  <a:pt x="584" y="135"/>
                </a:cubicBezTo>
                <a:close/>
                <a:moveTo>
                  <a:pt x="88" y="147"/>
                </a:moveTo>
                <a:lnTo>
                  <a:pt x="88" y="147"/>
                </a:lnTo>
                <a:cubicBezTo>
                  <a:pt x="111" y="147"/>
                  <a:pt x="130" y="128"/>
                  <a:pt x="130" y="105"/>
                </a:cubicBezTo>
                <a:cubicBezTo>
                  <a:pt x="130" y="82"/>
                  <a:pt x="111" y="64"/>
                  <a:pt x="88" y="64"/>
                </a:cubicBezTo>
                <a:cubicBezTo>
                  <a:pt x="65" y="64"/>
                  <a:pt x="47" y="82"/>
                  <a:pt x="47" y="105"/>
                </a:cubicBezTo>
                <a:cubicBezTo>
                  <a:pt x="47" y="128"/>
                  <a:pt x="65" y="147"/>
                  <a:pt x="88" y="147"/>
                </a:cubicBezTo>
                <a:close/>
                <a:moveTo>
                  <a:pt x="423" y="115"/>
                </a:moveTo>
                <a:lnTo>
                  <a:pt x="423" y="115"/>
                </a:lnTo>
                <a:cubicBezTo>
                  <a:pt x="451" y="115"/>
                  <a:pt x="473" y="93"/>
                  <a:pt x="473" y="65"/>
                </a:cubicBezTo>
                <a:cubicBezTo>
                  <a:pt x="473" y="37"/>
                  <a:pt x="451" y="15"/>
                  <a:pt x="423" y="15"/>
                </a:cubicBezTo>
                <a:cubicBezTo>
                  <a:pt x="396" y="15"/>
                  <a:pt x="373" y="37"/>
                  <a:pt x="373" y="65"/>
                </a:cubicBezTo>
                <a:cubicBezTo>
                  <a:pt x="373" y="93"/>
                  <a:pt x="396" y="115"/>
                  <a:pt x="423" y="115"/>
                </a:cubicBezTo>
                <a:close/>
                <a:moveTo>
                  <a:pt x="250" y="100"/>
                </a:moveTo>
                <a:lnTo>
                  <a:pt x="250" y="100"/>
                </a:lnTo>
                <a:cubicBezTo>
                  <a:pt x="277" y="100"/>
                  <a:pt x="300" y="77"/>
                  <a:pt x="300" y="49"/>
                </a:cubicBezTo>
                <a:cubicBezTo>
                  <a:pt x="300" y="22"/>
                  <a:pt x="277" y="0"/>
                  <a:pt x="250" y="0"/>
                </a:cubicBezTo>
                <a:cubicBezTo>
                  <a:pt x="222" y="0"/>
                  <a:pt x="200" y="22"/>
                  <a:pt x="200" y="49"/>
                </a:cubicBezTo>
                <a:cubicBezTo>
                  <a:pt x="200" y="77"/>
                  <a:pt x="222" y="100"/>
                  <a:pt x="250" y="100"/>
                </a:cubicBez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2536" name="Freeform 14"/>
          <p:cNvSpPr>
            <a:spLocks noEditPoints="1"/>
          </p:cNvSpPr>
          <p:nvPr/>
        </p:nvSpPr>
        <p:spPr bwMode="auto">
          <a:xfrm>
            <a:off x="9591675" y="4594225"/>
            <a:ext cx="250825" cy="323850"/>
          </a:xfrm>
          <a:custGeom>
            <a:avLst/>
            <a:gdLst>
              <a:gd name="T0" fmla="*/ 2147483646 w 969"/>
              <a:gd name="T1" fmla="*/ 2147483646 h 1293"/>
              <a:gd name="T2" fmla="*/ 2147483646 w 969"/>
              <a:gd name="T3" fmla="*/ 2147483646 h 1293"/>
              <a:gd name="T4" fmla="*/ 2147483646 w 969"/>
              <a:gd name="T5" fmla="*/ 2147483646 h 1293"/>
              <a:gd name="T6" fmla="*/ 2147483646 w 969"/>
              <a:gd name="T7" fmla="*/ 2147483646 h 1293"/>
              <a:gd name="T8" fmla="*/ 2147483646 w 969"/>
              <a:gd name="T9" fmla="*/ 2147483646 h 1293"/>
              <a:gd name="T10" fmla="*/ 2147483646 w 969"/>
              <a:gd name="T11" fmla="*/ 2147483646 h 1293"/>
              <a:gd name="T12" fmla="*/ 2147483646 w 969"/>
              <a:gd name="T13" fmla="*/ 2147483646 h 1293"/>
              <a:gd name="T14" fmla="*/ 2147483646 w 969"/>
              <a:gd name="T15" fmla="*/ 2147483646 h 1293"/>
              <a:gd name="T16" fmla="*/ 2147483646 w 969"/>
              <a:gd name="T17" fmla="*/ 2147483646 h 1293"/>
              <a:gd name="T18" fmla="*/ 2147483646 w 969"/>
              <a:gd name="T19" fmla="*/ 2147483646 h 1293"/>
              <a:gd name="T20" fmla="*/ 2147483646 w 969"/>
              <a:gd name="T21" fmla="*/ 2147483646 h 1293"/>
              <a:gd name="T22" fmla="*/ 2147483646 w 969"/>
              <a:gd name="T23" fmla="*/ 2147483646 h 1293"/>
              <a:gd name="T24" fmla="*/ 2147483646 w 969"/>
              <a:gd name="T25" fmla="*/ 2147483646 h 1293"/>
              <a:gd name="T26" fmla="*/ 2147483646 w 969"/>
              <a:gd name="T27" fmla="*/ 2147483646 h 1293"/>
              <a:gd name="T28" fmla="*/ 2147483646 w 969"/>
              <a:gd name="T29" fmla="*/ 2147483646 h 1293"/>
              <a:gd name="T30" fmla="*/ 2147483646 w 969"/>
              <a:gd name="T31" fmla="*/ 2147483646 h 1293"/>
              <a:gd name="T32" fmla="*/ 2147483646 w 969"/>
              <a:gd name="T33" fmla="*/ 2147483646 h 1293"/>
              <a:gd name="T34" fmla="*/ 2147483646 w 969"/>
              <a:gd name="T35" fmla="*/ 2147483646 h 1293"/>
              <a:gd name="T36" fmla="*/ 2147483646 w 969"/>
              <a:gd name="T37" fmla="*/ 2147483646 h 1293"/>
              <a:gd name="T38" fmla="*/ 2147483646 w 969"/>
              <a:gd name="T39" fmla="*/ 2147483646 h 1293"/>
              <a:gd name="T40" fmla="*/ 2147483646 w 969"/>
              <a:gd name="T41" fmla="*/ 2147483646 h 1293"/>
              <a:gd name="T42" fmla="*/ 2147483646 w 969"/>
              <a:gd name="T43" fmla="*/ 2147483646 h 1293"/>
              <a:gd name="T44" fmla="*/ 2147483646 w 969"/>
              <a:gd name="T45" fmla="*/ 2147483646 h 1293"/>
              <a:gd name="T46" fmla="*/ 2147483646 w 969"/>
              <a:gd name="T47" fmla="*/ 2147483646 h 1293"/>
              <a:gd name="T48" fmla="*/ 2147483646 w 969"/>
              <a:gd name="T49" fmla="*/ 2147483646 h 1293"/>
              <a:gd name="T50" fmla="*/ 2147483646 w 969"/>
              <a:gd name="T51" fmla="*/ 2147483646 h 1293"/>
              <a:gd name="T52" fmla="*/ 2147483646 w 969"/>
              <a:gd name="T53" fmla="*/ 2147483646 h 1293"/>
              <a:gd name="T54" fmla="*/ 2147483646 w 969"/>
              <a:gd name="T55" fmla="*/ 2147483646 h 1293"/>
              <a:gd name="T56" fmla="*/ 2147483646 w 969"/>
              <a:gd name="T57" fmla="*/ 2147483646 h 1293"/>
              <a:gd name="T58" fmla="*/ 2147483646 w 969"/>
              <a:gd name="T59" fmla="*/ 2147483646 h 1293"/>
              <a:gd name="T60" fmla="*/ 2147483646 w 969"/>
              <a:gd name="T61" fmla="*/ 2147483646 h 1293"/>
              <a:gd name="T62" fmla="*/ 2147483646 w 969"/>
              <a:gd name="T63" fmla="*/ 2147483646 h 1293"/>
              <a:gd name="T64" fmla="*/ 2147483646 w 969"/>
              <a:gd name="T65" fmla="*/ 2147483646 h 1293"/>
              <a:gd name="T66" fmla="*/ 2147483646 w 969"/>
              <a:gd name="T67" fmla="*/ 2147483646 h 1293"/>
              <a:gd name="T68" fmla="*/ 2147483646 w 969"/>
              <a:gd name="T69" fmla="*/ 2147483646 h 1293"/>
              <a:gd name="T70" fmla="*/ 2147483646 w 969"/>
              <a:gd name="T71" fmla="*/ 2147483646 h 1293"/>
              <a:gd name="T72" fmla="*/ 2147483646 w 969"/>
              <a:gd name="T73" fmla="*/ 2147483646 h 1293"/>
              <a:gd name="T74" fmla="*/ 2147483646 w 969"/>
              <a:gd name="T75" fmla="*/ 2147483646 h 1293"/>
              <a:gd name="T76" fmla="*/ 2147483646 w 969"/>
              <a:gd name="T77" fmla="*/ 2147483646 h 1293"/>
              <a:gd name="T78" fmla="*/ 2147483646 w 969"/>
              <a:gd name="T79" fmla="*/ 2147483646 h 1293"/>
              <a:gd name="T80" fmla="*/ 2147483646 w 969"/>
              <a:gd name="T81" fmla="*/ 2147483646 h 1293"/>
              <a:gd name="T82" fmla="*/ 2147483646 w 969"/>
              <a:gd name="T83" fmla="*/ 2147483646 h 1293"/>
              <a:gd name="T84" fmla="*/ 2147483646 w 969"/>
              <a:gd name="T85" fmla="*/ 2147483646 h 1293"/>
              <a:gd name="T86" fmla="*/ 2147483646 w 969"/>
              <a:gd name="T87" fmla="*/ 2147483646 h 1293"/>
              <a:gd name="T88" fmla="*/ 2147483646 w 969"/>
              <a:gd name="T89" fmla="*/ 2147483646 h 1293"/>
              <a:gd name="T90" fmla="*/ 2147483646 w 969"/>
              <a:gd name="T91" fmla="*/ 2147483646 h 1293"/>
              <a:gd name="T92" fmla="*/ 2147483646 w 969"/>
              <a:gd name="T93" fmla="*/ 2147483646 h 1293"/>
              <a:gd name="T94" fmla="*/ 2147483646 w 969"/>
              <a:gd name="T95" fmla="*/ 2147483646 h 1293"/>
              <a:gd name="T96" fmla="*/ 2147483646 w 969"/>
              <a:gd name="T97" fmla="*/ 2147483646 h 1293"/>
              <a:gd name="T98" fmla="*/ 2147483646 w 969"/>
              <a:gd name="T99" fmla="*/ 0 h 1293"/>
              <a:gd name="T100" fmla="*/ 2147483646 w 969"/>
              <a:gd name="T101" fmla="*/ 2147483646 h 1293"/>
              <a:gd name="T102" fmla="*/ 2147483646 w 969"/>
              <a:gd name="T103" fmla="*/ 2147483646 h 1293"/>
              <a:gd name="T104" fmla="*/ 2147483646 w 969"/>
              <a:gd name="T105" fmla="*/ 2147483646 h 1293"/>
              <a:gd name="T106" fmla="*/ 2147483646 w 969"/>
              <a:gd name="T107" fmla="*/ 2147483646 h 1293"/>
              <a:gd name="T108" fmla="*/ 2147483646 w 969"/>
              <a:gd name="T109" fmla="*/ 2147483646 h 1293"/>
              <a:gd name="T110" fmla="*/ 2147483646 w 969"/>
              <a:gd name="T111" fmla="*/ 2147483646 h 1293"/>
              <a:gd name="T112" fmla="*/ 2147483646 w 969"/>
              <a:gd name="T113" fmla="*/ 2147483646 h 1293"/>
              <a:gd name="T114" fmla="*/ 2147483646 w 969"/>
              <a:gd name="T115" fmla="*/ 2147483646 h 1293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969" h="1293">
                <a:moveTo>
                  <a:pt x="784" y="275"/>
                </a:moveTo>
                <a:lnTo>
                  <a:pt x="784" y="275"/>
                </a:lnTo>
                <a:lnTo>
                  <a:pt x="779" y="291"/>
                </a:lnTo>
                <a:lnTo>
                  <a:pt x="773" y="309"/>
                </a:lnTo>
                <a:lnTo>
                  <a:pt x="755" y="363"/>
                </a:lnTo>
                <a:lnTo>
                  <a:pt x="652" y="329"/>
                </a:lnTo>
                <a:lnTo>
                  <a:pt x="639" y="325"/>
                </a:lnTo>
                <a:lnTo>
                  <a:pt x="641" y="319"/>
                </a:lnTo>
                <a:lnTo>
                  <a:pt x="650" y="291"/>
                </a:lnTo>
                <a:lnTo>
                  <a:pt x="693" y="161"/>
                </a:lnTo>
                <a:lnTo>
                  <a:pt x="809" y="199"/>
                </a:lnTo>
                <a:lnTo>
                  <a:pt x="784" y="275"/>
                </a:lnTo>
                <a:close/>
                <a:moveTo>
                  <a:pt x="709" y="369"/>
                </a:moveTo>
                <a:lnTo>
                  <a:pt x="709" y="369"/>
                </a:lnTo>
                <a:cubicBezTo>
                  <a:pt x="707" y="374"/>
                  <a:pt x="702" y="377"/>
                  <a:pt x="697" y="375"/>
                </a:cubicBezTo>
                <a:lnTo>
                  <a:pt x="679" y="369"/>
                </a:lnTo>
                <a:cubicBezTo>
                  <a:pt x="674" y="367"/>
                  <a:pt x="671" y="362"/>
                  <a:pt x="673" y="357"/>
                </a:cubicBezTo>
                <a:cubicBezTo>
                  <a:pt x="674" y="353"/>
                  <a:pt x="680" y="350"/>
                  <a:pt x="684" y="352"/>
                </a:cubicBezTo>
                <a:lnTo>
                  <a:pt x="703" y="358"/>
                </a:lnTo>
                <a:cubicBezTo>
                  <a:pt x="708" y="359"/>
                  <a:pt x="710" y="364"/>
                  <a:pt x="709" y="369"/>
                </a:cubicBezTo>
                <a:close/>
                <a:moveTo>
                  <a:pt x="840" y="197"/>
                </a:moveTo>
                <a:lnTo>
                  <a:pt x="840" y="197"/>
                </a:lnTo>
                <a:cubicBezTo>
                  <a:pt x="844" y="185"/>
                  <a:pt x="838" y="172"/>
                  <a:pt x="825" y="168"/>
                </a:cubicBezTo>
                <a:cubicBezTo>
                  <a:pt x="783" y="154"/>
                  <a:pt x="740" y="140"/>
                  <a:pt x="698" y="127"/>
                </a:cubicBezTo>
                <a:cubicBezTo>
                  <a:pt x="686" y="123"/>
                  <a:pt x="673" y="129"/>
                  <a:pt x="669" y="141"/>
                </a:cubicBezTo>
                <a:cubicBezTo>
                  <a:pt x="646" y="211"/>
                  <a:pt x="630" y="259"/>
                  <a:pt x="608" y="327"/>
                </a:cubicBezTo>
                <a:cubicBezTo>
                  <a:pt x="607" y="331"/>
                  <a:pt x="605" y="335"/>
                  <a:pt x="604" y="339"/>
                </a:cubicBezTo>
                <a:cubicBezTo>
                  <a:pt x="603" y="343"/>
                  <a:pt x="603" y="347"/>
                  <a:pt x="603" y="351"/>
                </a:cubicBezTo>
                <a:cubicBezTo>
                  <a:pt x="604" y="357"/>
                  <a:pt x="606" y="362"/>
                  <a:pt x="609" y="367"/>
                </a:cubicBezTo>
                <a:lnTo>
                  <a:pt x="578" y="393"/>
                </a:lnTo>
                <a:lnTo>
                  <a:pt x="490" y="307"/>
                </a:lnTo>
                <a:cubicBezTo>
                  <a:pt x="490" y="307"/>
                  <a:pt x="471" y="284"/>
                  <a:pt x="441" y="276"/>
                </a:cubicBezTo>
                <a:cubicBezTo>
                  <a:pt x="411" y="269"/>
                  <a:pt x="374" y="261"/>
                  <a:pt x="374" y="261"/>
                </a:cubicBezTo>
                <a:lnTo>
                  <a:pt x="327" y="420"/>
                </a:lnTo>
                <a:lnTo>
                  <a:pt x="308" y="310"/>
                </a:lnTo>
                <a:lnTo>
                  <a:pt x="329" y="286"/>
                </a:lnTo>
                <a:lnTo>
                  <a:pt x="307" y="261"/>
                </a:lnTo>
                <a:lnTo>
                  <a:pt x="278" y="261"/>
                </a:lnTo>
                <a:lnTo>
                  <a:pt x="256" y="286"/>
                </a:lnTo>
                <a:lnTo>
                  <a:pt x="278" y="311"/>
                </a:lnTo>
                <a:lnTo>
                  <a:pt x="259" y="420"/>
                </a:lnTo>
                <a:lnTo>
                  <a:pt x="212" y="261"/>
                </a:lnTo>
                <a:cubicBezTo>
                  <a:pt x="212" y="261"/>
                  <a:pt x="182" y="268"/>
                  <a:pt x="145" y="276"/>
                </a:cubicBezTo>
                <a:cubicBezTo>
                  <a:pt x="108" y="285"/>
                  <a:pt x="71" y="333"/>
                  <a:pt x="62" y="384"/>
                </a:cubicBezTo>
                <a:lnTo>
                  <a:pt x="4" y="737"/>
                </a:lnTo>
                <a:cubicBezTo>
                  <a:pt x="0" y="763"/>
                  <a:pt x="16" y="788"/>
                  <a:pt x="42" y="794"/>
                </a:cubicBezTo>
                <a:cubicBezTo>
                  <a:pt x="46" y="795"/>
                  <a:pt x="50" y="795"/>
                  <a:pt x="53" y="795"/>
                </a:cubicBezTo>
                <a:cubicBezTo>
                  <a:pt x="76" y="795"/>
                  <a:pt x="97" y="780"/>
                  <a:pt x="102" y="757"/>
                </a:cubicBezTo>
                <a:lnTo>
                  <a:pt x="147" y="510"/>
                </a:lnTo>
                <a:lnTo>
                  <a:pt x="153" y="621"/>
                </a:lnTo>
                <a:lnTo>
                  <a:pt x="121" y="1228"/>
                </a:lnTo>
                <a:cubicBezTo>
                  <a:pt x="120" y="1261"/>
                  <a:pt x="144" y="1290"/>
                  <a:pt x="178" y="1293"/>
                </a:cubicBezTo>
                <a:cubicBezTo>
                  <a:pt x="180" y="1293"/>
                  <a:pt x="182" y="1293"/>
                  <a:pt x="184" y="1293"/>
                </a:cubicBezTo>
                <a:cubicBezTo>
                  <a:pt x="216" y="1293"/>
                  <a:pt x="243" y="1269"/>
                  <a:pt x="246" y="1237"/>
                </a:cubicBezTo>
                <a:lnTo>
                  <a:pt x="293" y="760"/>
                </a:lnTo>
                <a:lnTo>
                  <a:pt x="340" y="1237"/>
                </a:lnTo>
                <a:cubicBezTo>
                  <a:pt x="343" y="1269"/>
                  <a:pt x="370" y="1293"/>
                  <a:pt x="402" y="1293"/>
                </a:cubicBezTo>
                <a:cubicBezTo>
                  <a:pt x="403" y="1293"/>
                  <a:pt x="404" y="1293"/>
                  <a:pt x="405" y="1293"/>
                </a:cubicBezTo>
                <a:cubicBezTo>
                  <a:pt x="440" y="1291"/>
                  <a:pt x="466" y="1262"/>
                  <a:pt x="465" y="1228"/>
                </a:cubicBezTo>
                <a:lnTo>
                  <a:pt x="433" y="621"/>
                </a:lnTo>
                <a:lnTo>
                  <a:pt x="442" y="440"/>
                </a:lnTo>
                <a:lnTo>
                  <a:pt x="535" y="519"/>
                </a:lnTo>
                <a:lnTo>
                  <a:pt x="538" y="522"/>
                </a:lnTo>
                <a:cubicBezTo>
                  <a:pt x="549" y="531"/>
                  <a:pt x="562" y="536"/>
                  <a:pt x="576" y="536"/>
                </a:cubicBezTo>
                <a:cubicBezTo>
                  <a:pt x="590" y="536"/>
                  <a:pt x="605" y="531"/>
                  <a:pt x="616" y="519"/>
                </a:cubicBezTo>
                <a:lnTo>
                  <a:pt x="727" y="412"/>
                </a:lnTo>
                <a:cubicBezTo>
                  <a:pt x="733" y="413"/>
                  <a:pt x="739" y="414"/>
                  <a:pt x="745" y="415"/>
                </a:cubicBezTo>
                <a:cubicBezTo>
                  <a:pt x="745" y="415"/>
                  <a:pt x="745" y="415"/>
                  <a:pt x="745" y="415"/>
                </a:cubicBezTo>
                <a:cubicBezTo>
                  <a:pt x="758" y="416"/>
                  <a:pt x="771" y="407"/>
                  <a:pt x="775" y="395"/>
                </a:cubicBezTo>
                <a:cubicBezTo>
                  <a:pt x="777" y="389"/>
                  <a:pt x="779" y="384"/>
                  <a:pt x="780" y="379"/>
                </a:cubicBezTo>
                <a:cubicBezTo>
                  <a:pt x="787" y="361"/>
                  <a:pt x="792" y="345"/>
                  <a:pt x="796" y="333"/>
                </a:cubicBezTo>
                <a:cubicBezTo>
                  <a:pt x="800" y="320"/>
                  <a:pt x="803" y="311"/>
                  <a:pt x="805" y="304"/>
                </a:cubicBezTo>
                <a:cubicBezTo>
                  <a:pt x="810" y="289"/>
                  <a:pt x="811" y="287"/>
                  <a:pt x="811" y="286"/>
                </a:cubicBezTo>
                <a:cubicBezTo>
                  <a:pt x="811" y="287"/>
                  <a:pt x="810" y="289"/>
                  <a:pt x="840" y="197"/>
                </a:cubicBezTo>
                <a:close/>
                <a:moveTo>
                  <a:pt x="864" y="301"/>
                </a:moveTo>
                <a:lnTo>
                  <a:pt x="864" y="301"/>
                </a:lnTo>
                <a:cubicBezTo>
                  <a:pt x="871" y="282"/>
                  <a:pt x="863" y="261"/>
                  <a:pt x="849" y="253"/>
                </a:cubicBezTo>
                <a:cubicBezTo>
                  <a:pt x="863" y="280"/>
                  <a:pt x="851" y="317"/>
                  <a:pt x="823" y="330"/>
                </a:cubicBezTo>
                <a:cubicBezTo>
                  <a:pt x="838" y="332"/>
                  <a:pt x="858" y="321"/>
                  <a:pt x="864" y="301"/>
                </a:cubicBezTo>
                <a:close/>
                <a:moveTo>
                  <a:pt x="930" y="216"/>
                </a:moveTo>
                <a:lnTo>
                  <a:pt x="930" y="216"/>
                </a:lnTo>
                <a:cubicBezTo>
                  <a:pt x="947" y="250"/>
                  <a:pt x="949" y="290"/>
                  <a:pt x="937" y="326"/>
                </a:cubicBezTo>
                <a:cubicBezTo>
                  <a:pt x="925" y="362"/>
                  <a:pt x="898" y="393"/>
                  <a:pt x="863" y="409"/>
                </a:cubicBezTo>
                <a:cubicBezTo>
                  <a:pt x="898" y="405"/>
                  <a:pt x="938" y="377"/>
                  <a:pt x="953" y="332"/>
                </a:cubicBezTo>
                <a:cubicBezTo>
                  <a:pt x="969" y="287"/>
                  <a:pt x="955" y="240"/>
                  <a:pt x="930" y="216"/>
                </a:cubicBezTo>
                <a:close/>
                <a:moveTo>
                  <a:pt x="905" y="315"/>
                </a:moveTo>
                <a:lnTo>
                  <a:pt x="905" y="315"/>
                </a:lnTo>
                <a:cubicBezTo>
                  <a:pt x="917" y="283"/>
                  <a:pt x="903" y="250"/>
                  <a:pt x="884" y="234"/>
                </a:cubicBezTo>
                <a:cubicBezTo>
                  <a:pt x="896" y="258"/>
                  <a:pt x="899" y="286"/>
                  <a:pt x="891" y="310"/>
                </a:cubicBezTo>
                <a:cubicBezTo>
                  <a:pt x="882" y="335"/>
                  <a:pt x="863" y="355"/>
                  <a:pt x="839" y="366"/>
                </a:cubicBezTo>
                <a:cubicBezTo>
                  <a:pt x="864" y="366"/>
                  <a:pt x="894" y="348"/>
                  <a:pt x="905" y="315"/>
                </a:cubicBezTo>
                <a:close/>
                <a:moveTo>
                  <a:pt x="585" y="213"/>
                </a:moveTo>
                <a:lnTo>
                  <a:pt x="585" y="213"/>
                </a:lnTo>
                <a:cubicBezTo>
                  <a:pt x="579" y="232"/>
                  <a:pt x="587" y="253"/>
                  <a:pt x="601" y="261"/>
                </a:cubicBezTo>
                <a:cubicBezTo>
                  <a:pt x="587" y="234"/>
                  <a:pt x="599" y="197"/>
                  <a:pt x="627" y="184"/>
                </a:cubicBezTo>
                <a:cubicBezTo>
                  <a:pt x="612" y="182"/>
                  <a:pt x="592" y="193"/>
                  <a:pt x="585" y="213"/>
                </a:cubicBezTo>
                <a:close/>
                <a:moveTo>
                  <a:pt x="293" y="229"/>
                </a:moveTo>
                <a:lnTo>
                  <a:pt x="293" y="229"/>
                </a:lnTo>
                <a:cubicBezTo>
                  <a:pt x="356" y="229"/>
                  <a:pt x="408" y="178"/>
                  <a:pt x="408" y="114"/>
                </a:cubicBezTo>
                <a:cubicBezTo>
                  <a:pt x="408" y="51"/>
                  <a:pt x="356" y="0"/>
                  <a:pt x="293" y="0"/>
                </a:cubicBezTo>
                <a:cubicBezTo>
                  <a:pt x="230" y="0"/>
                  <a:pt x="178" y="51"/>
                  <a:pt x="178" y="114"/>
                </a:cubicBezTo>
                <a:cubicBezTo>
                  <a:pt x="178" y="178"/>
                  <a:pt x="230" y="229"/>
                  <a:pt x="293" y="229"/>
                </a:cubicBezTo>
                <a:close/>
                <a:moveTo>
                  <a:pt x="545" y="199"/>
                </a:moveTo>
                <a:lnTo>
                  <a:pt x="545" y="199"/>
                </a:lnTo>
                <a:cubicBezTo>
                  <a:pt x="533" y="231"/>
                  <a:pt x="546" y="264"/>
                  <a:pt x="565" y="280"/>
                </a:cubicBezTo>
                <a:cubicBezTo>
                  <a:pt x="554" y="256"/>
                  <a:pt x="550" y="228"/>
                  <a:pt x="559" y="204"/>
                </a:cubicBezTo>
                <a:cubicBezTo>
                  <a:pt x="567" y="179"/>
                  <a:pt x="587" y="159"/>
                  <a:pt x="611" y="148"/>
                </a:cubicBezTo>
                <a:cubicBezTo>
                  <a:pt x="586" y="148"/>
                  <a:pt x="556" y="166"/>
                  <a:pt x="545" y="199"/>
                </a:cubicBezTo>
                <a:close/>
                <a:moveTo>
                  <a:pt x="520" y="298"/>
                </a:moveTo>
                <a:lnTo>
                  <a:pt x="520" y="298"/>
                </a:lnTo>
                <a:cubicBezTo>
                  <a:pt x="518" y="295"/>
                  <a:pt x="517" y="291"/>
                  <a:pt x="515" y="288"/>
                </a:cubicBezTo>
                <a:cubicBezTo>
                  <a:pt x="503" y="256"/>
                  <a:pt x="502" y="220"/>
                  <a:pt x="513" y="188"/>
                </a:cubicBezTo>
                <a:cubicBezTo>
                  <a:pt x="525" y="152"/>
                  <a:pt x="552" y="121"/>
                  <a:pt x="586" y="105"/>
                </a:cubicBezTo>
                <a:cubicBezTo>
                  <a:pt x="552" y="109"/>
                  <a:pt x="512" y="137"/>
                  <a:pt x="497" y="182"/>
                </a:cubicBezTo>
                <a:cubicBezTo>
                  <a:pt x="485" y="216"/>
                  <a:pt x="490" y="251"/>
                  <a:pt x="504" y="276"/>
                </a:cubicBezTo>
                <a:cubicBezTo>
                  <a:pt x="508" y="285"/>
                  <a:pt x="514" y="292"/>
                  <a:pt x="520" y="298"/>
                </a:cubicBez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19" name="Group 18"/>
          <p:cNvGrpSpPr/>
          <p:nvPr/>
        </p:nvGrpSpPr>
        <p:grpSpPr>
          <a:xfrm>
            <a:off x="9618359" y="1651836"/>
            <a:ext cx="196043" cy="221026"/>
            <a:chOff x="8002588" y="363695"/>
            <a:chExt cx="360363" cy="357188"/>
          </a:xfrm>
          <a:solidFill>
            <a:srgbClr val="00338D"/>
          </a:solidFill>
        </p:grpSpPr>
        <p:sp>
          <p:nvSpPr>
            <p:cNvPr id="20" name="Freeform 779"/>
            <p:cNvSpPr>
              <a:spLocks/>
            </p:cNvSpPr>
            <p:nvPr/>
          </p:nvSpPr>
          <p:spPr bwMode="auto">
            <a:xfrm>
              <a:off x="8258175" y="498633"/>
              <a:ext cx="104775" cy="101600"/>
            </a:xfrm>
            <a:custGeom>
              <a:avLst/>
              <a:gdLst>
                <a:gd name="T0" fmla="*/ 33 w 66"/>
                <a:gd name="T1" fmla="*/ 0 h 64"/>
                <a:gd name="T2" fmla="*/ 26 w 66"/>
                <a:gd name="T3" fmla="*/ 24 h 64"/>
                <a:gd name="T4" fmla="*/ 0 w 66"/>
                <a:gd name="T5" fmla="*/ 31 h 64"/>
                <a:gd name="T6" fmla="*/ 26 w 66"/>
                <a:gd name="T7" fmla="*/ 38 h 64"/>
                <a:gd name="T8" fmla="*/ 33 w 66"/>
                <a:gd name="T9" fmla="*/ 64 h 64"/>
                <a:gd name="T10" fmla="*/ 40 w 66"/>
                <a:gd name="T11" fmla="*/ 38 h 64"/>
                <a:gd name="T12" fmla="*/ 66 w 66"/>
                <a:gd name="T13" fmla="*/ 31 h 64"/>
                <a:gd name="T14" fmla="*/ 40 w 66"/>
                <a:gd name="T15" fmla="*/ 24 h 64"/>
                <a:gd name="T16" fmla="*/ 33 w 66"/>
                <a:gd name="T17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64">
                  <a:moveTo>
                    <a:pt x="33" y="0"/>
                  </a:moveTo>
                  <a:lnTo>
                    <a:pt x="26" y="24"/>
                  </a:lnTo>
                  <a:lnTo>
                    <a:pt x="0" y="31"/>
                  </a:lnTo>
                  <a:lnTo>
                    <a:pt x="26" y="38"/>
                  </a:lnTo>
                  <a:lnTo>
                    <a:pt x="33" y="64"/>
                  </a:lnTo>
                  <a:lnTo>
                    <a:pt x="40" y="38"/>
                  </a:lnTo>
                  <a:lnTo>
                    <a:pt x="66" y="31"/>
                  </a:lnTo>
                  <a:lnTo>
                    <a:pt x="40" y="2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1" name="Freeform 780"/>
            <p:cNvSpPr>
              <a:spLocks/>
            </p:cNvSpPr>
            <p:nvPr/>
          </p:nvSpPr>
          <p:spPr bwMode="auto">
            <a:xfrm>
              <a:off x="8167688" y="574833"/>
              <a:ext cx="134938" cy="134938"/>
            </a:xfrm>
            <a:custGeom>
              <a:avLst/>
              <a:gdLst>
                <a:gd name="T0" fmla="*/ 43 w 85"/>
                <a:gd name="T1" fmla="*/ 0 h 85"/>
                <a:gd name="T2" fmla="*/ 33 w 85"/>
                <a:gd name="T3" fmla="*/ 33 h 85"/>
                <a:gd name="T4" fmla="*/ 0 w 85"/>
                <a:gd name="T5" fmla="*/ 42 h 85"/>
                <a:gd name="T6" fmla="*/ 33 w 85"/>
                <a:gd name="T7" fmla="*/ 51 h 85"/>
                <a:gd name="T8" fmla="*/ 43 w 85"/>
                <a:gd name="T9" fmla="*/ 85 h 85"/>
                <a:gd name="T10" fmla="*/ 52 w 85"/>
                <a:gd name="T11" fmla="*/ 51 h 85"/>
                <a:gd name="T12" fmla="*/ 85 w 85"/>
                <a:gd name="T13" fmla="*/ 42 h 85"/>
                <a:gd name="T14" fmla="*/ 52 w 85"/>
                <a:gd name="T15" fmla="*/ 33 h 85"/>
                <a:gd name="T16" fmla="*/ 43 w 85"/>
                <a:gd name="T17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85">
                  <a:moveTo>
                    <a:pt x="43" y="0"/>
                  </a:moveTo>
                  <a:lnTo>
                    <a:pt x="33" y="33"/>
                  </a:lnTo>
                  <a:lnTo>
                    <a:pt x="0" y="42"/>
                  </a:lnTo>
                  <a:lnTo>
                    <a:pt x="33" y="51"/>
                  </a:lnTo>
                  <a:lnTo>
                    <a:pt x="43" y="85"/>
                  </a:lnTo>
                  <a:lnTo>
                    <a:pt x="52" y="51"/>
                  </a:lnTo>
                  <a:lnTo>
                    <a:pt x="85" y="42"/>
                  </a:lnTo>
                  <a:lnTo>
                    <a:pt x="52" y="33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2" name="Freeform 781"/>
            <p:cNvSpPr>
              <a:spLocks/>
            </p:cNvSpPr>
            <p:nvPr/>
          </p:nvSpPr>
          <p:spPr bwMode="auto">
            <a:xfrm>
              <a:off x="8002588" y="451008"/>
              <a:ext cx="269875" cy="269875"/>
            </a:xfrm>
            <a:custGeom>
              <a:avLst/>
              <a:gdLst>
                <a:gd name="T0" fmla="*/ 64 w 72"/>
                <a:gd name="T1" fmla="*/ 0 h 72"/>
                <a:gd name="T2" fmla="*/ 1 w 72"/>
                <a:gd name="T3" fmla="*/ 63 h 72"/>
                <a:gd name="T4" fmla="*/ 1 w 72"/>
                <a:gd name="T5" fmla="*/ 66 h 72"/>
                <a:gd name="T6" fmla="*/ 7 w 72"/>
                <a:gd name="T7" fmla="*/ 71 h 72"/>
                <a:gd name="T8" fmla="*/ 9 w 72"/>
                <a:gd name="T9" fmla="*/ 71 h 72"/>
                <a:gd name="T10" fmla="*/ 72 w 72"/>
                <a:gd name="T11" fmla="*/ 9 h 72"/>
                <a:gd name="T12" fmla="*/ 64 w 72"/>
                <a:gd name="T13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72">
                  <a:moveTo>
                    <a:pt x="64" y="0"/>
                  </a:moveTo>
                  <a:cubicBezTo>
                    <a:pt x="1" y="63"/>
                    <a:pt x="1" y="63"/>
                    <a:pt x="1" y="63"/>
                  </a:cubicBezTo>
                  <a:cubicBezTo>
                    <a:pt x="0" y="64"/>
                    <a:pt x="0" y="65"/>
                    <a:pt x="1" y="66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2"/>
                    <a:pt x="9" y="72"/>
                    <a:pt x="9" y="71"/>
                  </a:cubicBezTo>
                  <a:cubicBezTo>
                    <a:pt x="72" y="9"/>
                    <a:pt x="72" y="9"/>
                    <a:pt x="72" y="9"/>
                  </a:cubicBezTo>
                  <a:lnTo>
                    <a:pt x="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3" name="Freeform 782"/>
            <p:cNvSpPr>
              <a:spLocks/>
            </p:cNvSpPr>
            <p:nvPr/>
          </p:nvSpPr>
          <p:spPr bwMode="auto">
            <a:xfrm>
              <a:off x="8266113" y="363695"/>
              <a:ext cx="96838" cy="93663"/>
            </a:xfrm>
            <a:custGeom>
              <a:avLst/>
              <a:gdLst>
                <a:gd name="T0" fmla="*/ 25 w 26"/>
                <a:gd name="T1" fmla="*/ 9 h 25"/>
                <a:gd name="T2" fmla="*/ 25 w 26"/>
                <a:gd name="T3" fmla="*/ 6 h 25"/>
                <a:gd name="T4" fmla="*/ 19 w 26"/>
                <a:gd name="T5" fmla="*/ 1 h 25"/>
                <a:gd name="T6" fmla="*/ 16 w 26"/>
                <a:gd name="T7" fmla="*/ 1 h 25"/>
                <a:gd name="T8" fmla="*/ 0 w 26"/>
                <a:gd name="T9" fmla="*/ 17 h 25"/>
                <a:gd name="T10" fmla="*/ 9 w 26"/>
                <a:gd name="T11" fmla="*/ 25 h 25"/>
                <a:gd name="T12" fmla="*/ 25 w 26"/>
                <a:gd name="T13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5">
                  <a:moveTo>
                    <a:pt x="25" y="9"/>
                  </a:moveTo>
                  <a:cubicBezTo>
                    <a:pt x="26" y="8"/>
                    <a:pt x="26" y="7"/>
                    <a:pt x="25" y="6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8" y="0"/>
                    <a:pt x="17" y="0"/>
                    <a:pt x="16" y="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9" y="25"/>
                    <a:pt x="9" y="25"/>
                    <a:pt x="9" y="25"/>
                  </a:cubicBezTo>
                  <a:lnTo>
                    <a:pt x="25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4" name="Freeform 783"/>
            <p:cNvSpPr>
              <a:spLocks/>
            </p:cNvSpPr>
            <p:nvPr/>
          </p:nvSpPr>
          <p:spPr bwMode="auto">
            <a:xfrm>
              <a:off x="8002588" y="363695"/>
              <a:ext cx="192088" cy="192088"/>
            </a:xfrm>
            <a:custGeom>
              <a:avLst/>
              <a:gdLst>
                <a:gd name="T0" fmla="*/ 47 w 121"/>
                <a:gd name="T1" fmla="*/ 76 h 121"/>
                <a:gd name="T2" fmla="*/ 0 w 121"/>
                <a:gd name="T3" fmla="*/ 62 h 121"/>
                <a:gd name="T4" fmla="*/ 47 w 121"/>
                <a:gd name="T5" fmla="*/ 47 h 121"/>
                <a:gd name="T6" fmla="*/ 61 w 121"/>
                <a:gd name="T7" fmla="*/ 0 h 121"/>
                <a:gd name="T8" fmla="*/ 76 w 121"/>
                <a:gd name="T9" fmla="*/ 47 h 121"/>
                <a:gd name="T10" fmla="*/ 121 w 121"/>
                <a:gd name="T11" fmla="*/ 62 h 121"/>
                <a:gd name="T12" fmla="*/ 76 w 121"/>
                <a:gd name="T13" fmla="*/ 76 h 121"/>
                <a:gd name="T14" fmla="*/ 61 w 121"/>
                <a:gd name="T15" fmla="*/ 121 h 121"/>
                <a:gd name="T16" fmla="*/ 47 w 121"/>
                <a:gd name="T17" fmla="*/ 76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21">
                  <a:moveTo>
                    <a:pt x="47" y="76"/>
                  </a:moveTo>
                  <a:lnTo>
                    <a:pt x="0" y="62"/>
                  </a:lnTo>
                  <a:lnTo>
                    <a:pt x="47" y="47"/>
                  </a:lnTo>
                  <a:lnTo>
                    <a:pt x="61" y="0"/>
                  </a:lnTo>
                  <a:lnTo>
                    <a:pt x="76" y="47"/>
                  </a:lnTo>
                  <a:lnTo>
                    <a:pt x="121" y="62"/>
                  </a:lnTo>
                  <a:lnTo>
                    <a:pt x="76" y="76"/>
                  </a:lnTo>
                  <a:lnTo>
                    <a:pt x="61" y="121"/>
                  </a:lnTo>
                  <a:lnTo>
                    <a:pt x="47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</p:grpSp>
      <p:sp>
        <p:nvSpPr>
          <p:cNvPr id="22538" name="Freeform 682"/>
          <p:cNvSpPr>
            <a:spLocks noEditPoints="1"/>
          </p:cNvSpPr>
          <p:nvPr/>
        </p:nvSpPr>
        <p:spPr bwMode="auto">
          <a:xfrm>
            <a:off x="9586913" y="2205038"/>
            <a:ext cx="258762" cy="266700"/>
          </a:xfrm>
          <a:custGeom>
            <a:avLst/>
            <a:gdLst>
              <a:gd name="T0" fmla="*/ 2147483646 w 96"/>
              <a:gd name="T1" fmla="*/ 2147483646 h 97"/>
              <a:gd name="T2" fmla="*/ 2147483646 w 96"/>
              <a:gd name="T3" fmla="*/ 2147483646 h 97"/>
              <a:gd name="T4" fmla="*/ 2147483646 w 96"/>
              <a:gd name="T5" fmla="*/ 2147483646 h 97"/>
              <a:gd name="T6" fmla="*/ 2147483646 w 96"/>
              <a:gd name="T7" fmla="*/ 2147483646 h 97"/>
              <a:gd name="T8" fmla="*/ 2147483646 w 96"/>
              <a:gd name="T9" fmla="*/ 2147483646 h 97"/>
              <a:gd name="T10" fmla="*/ 2147483646 w 96"/>
              <a:gd name="T11" fmla="*/ 2147483646 h 97"/>
              <a:gd name="T12" fmla="*/ 2147483646 w 96"/>
              <a:gd name="T13" fmla="*/ 2147483646 h 97"/>
              <a:gd name="T14" fmla="*/ 2147483646 w 96"/>
              <a:gd name="T15" fmla="*/ 2147483646 h 97"/>
              <a:gd name="T16" fmla="*/ 2147483646 w 96"/>
              <a:gd name="T17" fmla="*/ 2147483646 h 97"/>
              <a:gd name="T18" fmla="*/ 2147483646 w 96"/>
              <a:gd name="T19" fmla="*/ 2147483646 h 97"/>
              <a:gd name="T20" fmla="*/ 2147483646 w 96"/>
              <a:gd name="T21" fmla="*/ 2147483646 h 97"/>
              <a:gd name="T22" fmla="*/ 2147483646 w 96"/>
              <a:gd name="T23" fmla="*/ 2147483646 h 97"/>
              <a:gd name="T24" fmla="*/ 2147483646 w 96"/>
              <a:gd name="T25" fmla="*/ 2147483646 h 97"/>
              <a:gd name="T26" fmla="*/ 2147483646 w 96"/>
              <a:gd name="T27" fmla="*/ 2147483646 h 97"/>
              <a:gd name="T28" fmla="*/ 2147483646 w 96"/>
              <a:gd name="T29" fmla="*/ 2147483646 h 97"/>
              <a:gd name="T30" fmla="*/ 2147483646 w 96"/>
              <a:gd name="T31" fmla="*/ 2147483646 h 97"/>
              <a:gd name="T32" fmla="*/ 2147483646 w 96"/>
              <a:gd name="T33" fmla="*/ 2147483646 h 97"/>
              <a:gd name="T34" fmla="*/ 2147483646 w 96"/>
              <a:gd name="T35" fmla="*/ 2147483646 h 97"/>
              <a:gd name="T36" fmla="*/ 2147483646 w 96"/>
              <a:gd name="T37" fmla="*/ 0 h 97"/>
              <a:gd name="T38" fmla="*/ 0 w 96"/>
              <a:gd name="T39" fmla="*/ 2147483646 h 97"/>
              <a:gd name="T40" fmla="*/ 2147483646 w 96"/>
              <a:gd name="T41" fmla="*/ 2147483646 h 97"/>
              <a:gd name="T42" fmla="*/ 2147483646 w 96"/>
              <a:gd name="T43" fmla="*/ 2147483646 h 97"/>
              <a:gd name="T44" fmla="*/ 2147483646 w 96"/>
              <a:gd name="T45" fmla="*/ 2147483646 h 97"/>
              <a:gd name="T46" fmla="*/ 2147483646 w 96"/>
              <a:gd name="T47" fmla="*/ 2147483646 h 97"/>
              <a:gd name="T48" fmla="*/ 2147483646 w 96"/>
              <a:gd name="T49" fmla="*/ 2147483646 h 97"/>
              <a:gd name="T50" fmla="*/ 2147483646 w 96"/>
              <a:gd name="T51" fmla="*/ 2147483646 h 97"/>
              <a:gd name="T52" fmla="*/ 2147483646 w 96"/>
              <a:gd name="T53" fmla="*/ 2147483646 h 97"/>
              <a:gd name="T54" fmla="*/ 2147483646 w 96"/>
              <a:gd name="T55" fmla="*/ 2147483646 h 97"/>
              <a:gd name="T56" fmla="*/ 2147483646 w 96"/>
              <a:gd name="T57" fmla="*/ 2147483646 h 97"/>
              <a:gd name="T58" fmla="*/ 2147483646 w 96"/>
              <a:gd name="T59" fmla="*/ 2147483646 h 97"/>
              <a:gd name="T60" fmla="*/ 2147483646 w 96"/>
              <a:gd name="T61" fmla="*/ 2147483646 h 97"/>
              <a:gd name="T62" fmla="*/ 2147483646 w 96"/>
              <a:gd name="T63" fmla="*/ 2147483646 h 97"/>
              <a:gd name="T64" fmla="*/ 2147483646 w 96"/>
              <a:gd name="T65" fmla="*/ 2147483646 h 97"/>
              <a:gd name="T66" fmla="*/ 2147483646 w 96"/>
              <a:gd name="T67" fmla="*/ 2147483646 h 97"/>
              <a:gd name="T68" fmla="*/ 2147483646 w 96"/>
              <a:gd name="T69" fmla="*/ 2147483646 h 97"/>
              <a:gd name="T70" fmla="*/ 2147483646 w 96"/>
              <a:gd name="T71" fmla="*/ 2147483646 h 97"/>
              <a:gd name="T72" fmla="*/ 2147483646 w 96"/>
              <a:gd name="T73" fmla="*/ 2147483646 h 97"/>
              <a:gd name="T74" fmla="*/ 2147483646 w 96"/>
              <a:gd name="T75" fmla="*/ 2147483646 h 97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96" h="97">
                <a:moveTo>
                  <a:pt x="69" y="34"/>
                </a:moveTo>
                <a:cubicBezTo>
                  <a:pt x="55" y="47"/>
                  <a:pt x="55" y="47"/>
                  <a:pt x="55" y="47"/>
                </a:cubicBezTo>
                <a:cubicBezTo>
                  <a:pt x="56" y="47"/>
                  <a:pt x="56" y="48"/>
                  <a:pt x="56" y="49"/>
                </a:cubicBezTo>
                <a:cubicBezTo>
                  <a:pt x="56" y="53"/>
                  <a:pt x="52" y="57"/>
                  <a:pt x="48" y="57"/>
                </a:cubicBezTo>
                <a:cubicBezTo>
                  <a:pt x="45" y="57"/>
                  <a:pt x="42" y="55"/>
                  <a:pt x="41" y="53"/>
                </a:cubicBezTo>
                <a:cubicBezTo>
                  <a:pt x="30" y="53"/>
                  <a:pt x="30" y="53"/>
                  <a:pt x="30" y="53"/>
                </a:cubicBezTo>
                <a:cubicBezTo>
                  <a:pt x="29" y="53"/>
                  <a:pt x="28" y="52"/>
                  <a:pt x="28" y="50"/>
                </a:cubicBezTo>
                <a:cubicBezTo>
                  <a:pt x="28" y="47"/>
                  <a:pt x="28" y="47"/>
                  <a:pt x="28" y="47"/>
                </a:cubicBezTo>
                <a:cubicBezTo>
                  <a:pt x="28" y="46"/>
                  <a:pt x="29" y="45"/>
                  <a:pt x="30" y="45"/>
                </a:cubicBezTo>
                <a:cubicBezTo>
                  <a:pt x="41" y="45"/>
                  <a:pt x="41" y="45"/>
                  <a:pt x="41" y="45"/>
                </a:cubicBezTo>
                <a:cubicBezTo>
                  <a:pt x="42" y="43"/>
                  <a:pt x="45" y="40"/>
                  <a:pt x="48" y="40"/>
                </a:cubicBezTo>
                <a:cubicBezTo>
                  <a:pt x="49" y="40"/>
                  <a:pt x="49" y="41"/>
                  <a:pt x="50" y="41"/>
                </a:cubicBezTo>
                <a:cubicBezTo>
                  <a:pt x="63" y="28"/>
                  <a:pt x="63" y="28"/>
                  <a:pt x="63" y="28"/>
                </a:cubicBezTo>
                <a:cubicBezTo>
                  <a:pt x="64" y="27"/>
                  <a:pt x="65" y="27"/>
                  <a:pt x="66" y="28"/>
                </a:cubicBezTo>
                <a:cubicBezTo>
                  <a:pt x="69" y="31"/>
                  <a:pt x="69" y="31"/>
                  <a:pt x="69" y="31"/>
                </a:cubicBezTo>
                <a:cubicBezTo>
                  <a:pt x="69" y="32"/>
                  <a:pt x="69" y="33"/>
                  <a:pt x="69" y="34"/>
                </a:cubicBezTo>
                <a:close/>
                <a:moveTo>
                  <a:pt x="95" y="57"/>
                </a:moveTo>
                <a:cubicBezTo>
                  <a:pt x="95" y="53"/>
                  <a:pt x="96" y="51"/>
                  <a:pt x="96" y="48"/>
                </a:cubicBezTo>
                <a:cubicBezTo>
                  <a:pt x="96" y="22"/>
                  <a:pt x="74" y="0"/>
                  <a:pt x="48" y="0"/>
                </a:cubicBezTo>
                <a:cubicBezTo>
                  <a:pt x="21" y="0"/>
                  <a:pt x="0" y="22"/>
                  <a:pt x="0" y="48"/>
                </a:cubicBezTo>
                <a:cubicBezTo>
                  <a:pt x="0" y="75"/>
                  <a:pt x="20" y="96"/>
                  <a:pt x="48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56" y="96"/>
                  <a:pt x="66" y="94"/>
                  <a:pt x="74" y="89"/>
                </a:cubicBezTo>
                <a:cubicBezTo>
                  <a:pt x="74" y="88"/>
                  <a:pt x="74" y="88"/>
                  <a:pt x="74" y="88"/>
                </a:cubicBezTo>
                <a:cubicBezTo>
                  <a:pt x="80" y="97"/>
                  <a:pt x="80" y="97"/>
                  <a:pt x="80" y="97"/>
                </a:cubicBezTo>
                <a:cubicBezTo>
                  <a:pt x="81" y="97"/>
                  <a:pt x="81" y="97"/>
                  <a:pt x="82" y="96"/>
                </a:cubicBezTo>
                <a:cubicBezTo>
                  <a:pt x="91" y="71"/>
                  <a:pt x="91" y="71"/>
                  <a:pt x="91" y="71"/>
                </a:cubicBezTo>
                <a:cubicBezTo>
                  <a:pt x="91" y="69"/>
                  <a:pt x="90" y="69"/>
                  <a:pt x="89" y="69"/>
                </a:cubicBezTo>
                <a:cubicBezTo>
                  <a:pt x="62" y="69"/>
                  <a:pt x="62" y="69"/>
                  <a:pt x="62" y="69"/>
                </a:cubicBezTo>
                <a:cubicBezTo>
                  <a:pt x="61" y="69"/>
                  <a:pt x="60" y="69"/>
                  <a:pt x="61" y="70"/>
                </a:cubicBezTo>
                <a:cubicBezTo>
                  <a:pt x="67" y="79"/>
                  <a:pt x="67" y="79"/>
                  <a:pt x="67" y="79"/>
                </a:cubicBezTo>
                <a:cubicBezTo>
                  <a:pt x="61" y="82"/>
                  <a:pt x="56" y="84"/>
                  <a:pt x="48" y="84"/>
                </a:cubicBezTo>
                <a:cubicBezTo>
                  <a:pt x="48" y="84"/>
                  <a:pt x="48" y="84"/>
                  <a:pt x="48" y="84"/>
                </a:cubicBezTo>
                <a:cubicBezTo>
                  <a:pt x="28" y="84"/>
                  <a:pt x="12" y="68"/>
                  <a:pt x="12" y="48"/>
                </a:cubicBezTo>
                <a:cubicBezTo>
                  <a:pt x="12" y="29"/>
                  <a:pt x="28" y="12"/>
                  <a:pt x="48" y="12"/>
                </a:cubicBezTo>
                <a:cubicBezTo>
                  <a:pt x="68" y="12"/>
                  <a:pt x="84" y="29"/>
                  <a:pt x="84" y="48"/>
                </a:cubicBezTo>
                <a:cubicBezTo>
                  <a:pt x="84" y="51"/>
                  <a:pt x="83" y="53"/>
                  <a:pt x="83" y="57"/>
                </a:cubicBezTo>
                <a:lnTo>
                  <a:pt x="95" y="57"/>
                </a:ln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2539" name="Freeform 341"/>
          <p:cNvSpPr>
            <a:spLocks noEditPoints="1"/>
          </p:cNvSpPr>
          <p:nvPr/>
        </p:nvSpPr>
        <p:spPr bwMode="auto">
          <a:xfrm>
            <a:off x="9596438" y="4006850"/>
            <a:ext cx="241300" cy="209550"/>
          </a:xfrm>
          <a:custGeom>
            <a:avLst/>
            <a:gdLst>
              <a:gd name="T0" fmla="*/ 2147483646 w 97"/>
              <a:gd name="T1" fmla="*/ 2147483646 h 70"/>
              <a:gd name="T2" fmla="*/ 2147483646 w 97"/>
              <a:gd name="T3" fmla="*/ 2147483646 h 70"/>
              <a:gd name="T4" fmla="*/ 2147483646 w 97"/>
              <a:gd name="T5" fmla="*/ 2147483646 h 70"/>
              <a:gd name="T6" fmla="*/ 2147483646 w 97"/>
              <a:gd name="T7" fmla="*/ 2147483646 h 70"/>
              <a:gd name="T8" fmla="*/ 2147483646 w 97"/>
              <a:gd name="T9" fmla="*/ 2147483646 h 70"/>
              <a:gd name="T10" fmla="*/ 2147483646 w 97"/>
              <a:gd name="T11" fmla="*/ 0 h 70"/>
              <a:gd name="T12" fmla="*/ 2147483646 w 97"/>
              <a:gd name="T13" fmla="*/ 2147483646 h 70"/>
              <a:gd name="T14" fmla="*/ 2147483646 w 97"/>
              <a:gd name="T15" fmla="*/ 2147483646 h 70"/>
              <a:gd name="T16" fmla="*/ 2147483646 w 97"/>
              <a:gd name="T17" fmla="*/ 2147483646 h 70"/>
              <a:gd name="T18" fmla="*/ 2147483646 w 97"/>
              <a:gd name="T19" fmla="*/ 2147483646 h 70"/>
              <a:gd name="T20" fmla="*/ 2147483646 w 97"/>
              <a:gd name="T21" fmla="*/ 2147483646 h 70"/>
              <a:gd name="T22" fmla="*/ 2147483646 w 97"/>
              <a:gd name="T23" fmla="*/ 2147483646 h 70"/>
              <a:gd name="T24" fmla="*/ 0 w 97"/>
              <a:gd name="T25" fmla="*/ 2147483646 h 70"/>
              <a:gd name="T26" fmla="*/ 2147483646 w 97"/>
              <a:gd name="T27" fmla="*/ 2147483646 h 70"/>
              <a:gd name="T28" fmla="*/ 2147483646 w 97"/>
              <a:gd name="T29" fmla="*/ 2147483646 h 70"/>
              <a:gd name="T30" fmla="*/ 2147483646 w 97"/>
              <a:gd name="T31" fmla="*/ 2147483646 h 70"/>
              <a:gd name="T32" fmla="*/ 2147483646 w 97"/>
              <a:gd name="T33" fmla="*/ 2147483646 h 70"/>
              <a:gd name="T34" fmla="*/ 2147483646 w 97"/>
              <a:gd name="T35" fmla="*/ 2147483646 h 70"/>
              <a:gd name="T36" fmla="*/ 2147483646 w 97"/>
              <a:gd name="T37" fmla="*/ 2147483646 h 70"/>
              <a:gd name="T38" fmla="*/ 2147483646 w 97"/>
              <a:gd name="T39" fmla="*/ 2147483646 h 7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97" h="70">
                <a:moveTo>
                  <a:pt x="91" y="52"/>
                </a:moveTo>
                <a:cubicBezTo>
                  <a:pt x="92" y="53"/>
                  <a:pt x="91" y="54"/>
                  <a:pt x="90" y="53"/>
                </a:cubicBezTo>
                <a:cubicBezTo>
                  <a:pt x="77" y="46"/>
                  <a:pt x="77" y="46"/>
                  <a:pt x="77" y="46"/>
                </a:cubicBezTo>
                <a:cubicBezTo>
                  <a:pt x="72" y="47"/>
                  <a:pt x="68" y="48"/>
                  <a:pt x="63" y="48"/>
                </a:cubicBezTo>
                <a:cubicBezTo>
                  <a:pt x="43" y="48"/>
                  <a:pt x="28" y="37"/>
                  <a:pt x="28" y="24"/>
                </a:cubicBezTo>
                <a:cubicBezTo>
                  <a:pt x="28" y="11"/>
                  <a:pt x="43" y="0"/>
                  <a:pt x="63" y="0"/>
                </a:cubicBezTo>
                <a:cubicBezTo>
                  <a:pt x="82" y="0"/>
                  <a:pt x="97" y="11"/>
                  <a:pt x="97" y="24"/>
                </a:cubicBezTo>
                <a:cubicBezTo>
                  <a:pt x="97" y="30"/>
                  <a:pt x="94" y="36"/>
                  <a:pt x="88" y="40"/>
                </a:cubicBezTo>
                <a:lnTo>
                  <a:pt x="91" y="52"/>
                </a:lnTo>
                <a:close/>
                <a:moveTo>
                  <a:pt x="61" y="55"/>
                </a:moveTo>
                <a:cubicBezTo>
                  <a:pt x="39" y="55"/>
                  <a:pt x="21" y="42"/>
                  <a:pt x="21" y="25"/>
                </a:cubicBezTo>
                <a:cubicBezTo>
                  <a:pt x="21" y="23"/>
                  <a:pt x="21" y="20"/>
                  <a:pt x="22" y="18"/>
                </a:cubicBezTo>
                <a:cubicBezTo>
                  <a:pt x="9" y="21"/>
                  <a:pt x="0" y="30"/>
                  <a:pt x="0" y="40"/>
                </a:cubicBezTo>
                <a:cubicBezTo>
                  <a:pt x="0" y="47"/>
                  <a:pt x="3" y="52"/>
                  <a:pt x="9" y="57"/>
                </a:cubicBezTo>
                <a:cubicBezTo>
                  <a:pt x="6" y="69"/>
                  <a:pt x="6" y="69"/>
                  <a:pt x="6" y="69"/>
                </a:cubicBezTo>
                <a:cubicBezTo>
                  <a:pt x="5" y="70"/>
                  <a:pt x="6" y="70"/>
                  <a:pt x="7" y="70"/>
                </a:cubicBezTo>
                <a:cubicBezTo>
                  <a:pt x="21" y="63"/>
                  <a:pt x="21" y="63"/>
                  <a:pt x="21" y="63"/>
                </a:cubicBezTo>
                <a:cubicBezTo>
                  <a:pt x="25" y="64"/>
                  <a:pt x="30" y="65"/>
                  <a:pt x="35" y="65"/>
                </a:cubicBezTo>
                <a:cubicBezTo>
                  <a:pt x="46" y="65"/>
                  <a:pt x="56" y="61"/>
                  <a:pt x="63" y="55"/>
                </a:cubicBezTo>
                <a:cubicBezTo>
                  <a:pt x="62" y="55"/>
                  <a:pt x="62" y="55"/>
                  <a:pt x="61" y="55"/>
                </a:cubicBezTo>
                <a:close/>
              </a:path>
            </a:pathLst>
          </a:custGeom>
          <a:solidFill>
            <a:srgbClr val="00338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/>
          </a:p>
        </p:txBody>
      </p:sp>
      <p:grpSp>
        <p:nvGrpSpPr>
          <p:cNvPr id="27" name="Group 26"/>
          <p:cNvGrpSpPr/>
          <p:nvPr/>
        </p:nvGrpSpPr>
        <p:grpSpPr>
          <a:xfrm>
            <a:off x="9590039" y="2831003"/>
            <a:ext cx="252683" cy="250892"/>
            <a:chOff x="2324101" y="4648927"/>
            <a:chExt cx="295275" cy="412750"/>
          </a:xfrm>
          <a:solidFill>
            <a:srgbClr val="00338D"/>
          </a:solidFill>
        </p:grpSpPr>
        <p:sp>
          <p:nvSpPr>
            <p:cNvPr id="28" name="Freeform 1584"/>
            <p:cNvSpPr>
              <a:spLocks/>
            </p:cNvSpPr>
            <p:nvPr/>
          </p:nvSpPr>
          <p:spPr bwMode="auto">
            <a:xfrm>
              <a:off x="2365376" y="4648927"/>
              <a:ext cx="160338" cy="79375"/>
            </a:xfrm>
            <a:custGeom>
              <a:avLst/>
              <a:gdLst>
                <a:gd name="T0" fmla="*/ 38 w 43"/>
                <a:gd name="T1" fmla="*/ 19 h 21"/>
                <a:gd name="T2" fmla="*/ 43 w 43"/>
                <a:gd name="T3" fmla="*/ 0 h 21"/>
                <a:gd name="T4" fmla="*/ 13 w 43"/>
                <a:gd name="T5" fmla="*/ 0 h 21"/>
                <a:gd name="T6" fmla="*/ 18 w 43"/>
                <a:gd name="T7" fmla="*/ 19 h 21"/>
                <a:gd name="T8" fmla="*/ 0 w 43"/>
                <a:gd name="T9" fmla="*/ 10 h 21"/>
                <a:gd name="T10" fmla="*/ 1 w 43"/>
                <a:gd name="T11" fmla="*/ 12 h 21"/>
                <a:gd name="T12" fmla="*/ 16 w 43"/>
                <a:gd name="T13" fmla="*/ 21 h 21"/>
                <a:gd name="T14" fmla="*/ 18 w 43"/>
                <a:gd name="T15" fmla="*/ 19 h 21"/>
                <a:gd name="T16" fmla="*/ 38 w 43"/>
                <a:gd name="T17" fmla="*/ 19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21">
                  <a:moveTo>
                    <a:pt x="38" y="19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5" y="15"/>
                    <a:pt x="7" y="8"/>
                    <a:pt x="0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0"/>
                    <a:pt x="14" y="18"/>
                    <a:pt x="16" y="21"/>
                  </a:cubicBezTo>
                  <a:cubicBezTo>
                    <a:pt x="18" y="19"/>
                    <a:pt x="18" y="19"/>
                    <a:pt x="18" y="19"/>
                  </a:cubicBezTo>
                  <a:lnTo>
                    <a:pt x="3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  <p:sp>
          <p:nvSpPr>
            <p:cNvPr id="29" name="Freeform 1585"/>
            <p:cNvSpPr>
              <a:spLocks noEditPoints="1"/>
            </p:cNvSpPr>
            <p:nvPr/>
          </p:nvSpPr>
          <p:spPr bwMode="auto">
            <a:xfrm>
              <a:off x="2324101" y="4723539"/>
              <a:ext cx="295275" cy="338138"/>
            </a:xfrm>
            <a:custGeom>
              <a:avLst/>
              <a:gdLst>
                <a:gd name="T0" fmla="*/ 51 w 79"/>
                <a:gd name="T1" fmla="*/ 2 h 90"/>
                <a:gd name="T2" fmla="*/ 51 w 79"/>
                <a:gd name="T3" fmla="*/ 2 h 90"/>
                <a:gd name="T4" fmla="*/ 27 w 79"/>
                <a:gd name="T5" fmla="*/ 2 h 90"/>
                <a:gd name="T6" fmla="*/ 27 w 79"/>
                <a:gd name="T7" fmla="*/ 1 h 90"/>
                <a:gd name="T8" fmla="*/ 14 w 79"/>
                <a:gd name="T9" fmla="*/ 0 h 90"/>
                <a:gd name="T10" fmla="*/ 13 w 79"/>
                <a:gd name="T11" fmla="*/ 2 h 90"/>
                <a:gd name="T12" fmla="*/ 20 w 79"/>
                <a:gd name="T13" fmla="*/ 4 h 90"/>
                <a:gd name="T14" fmla="*/ 24 w 79"/>
                <a:gd name="T15" fmla="*/ 4 h 90"/>
                <a:gd name="T16" fmla="*/ 0 w 79"/>
                <a:gd name="T17" fmla="*/ 51 h 90"/>
                <a:gd name="T18" fmla="*/ 39 w 79"/>
                <a:gd name="T19" fmla="*/ 90 h 90"/>
                <a:gd name="T20" fmla="*/ 79 w 79"/>
                <a:gd name="T21" fmla="*/ 51 h 90"/>
                <a:gd name="T22" fmla="*/ 51 w 79"/>
                <a:gd name="T23" fmla="*/ 2 h 90"/>
                <a:gd name="T24" fmla="*/ 51 w 79"/>
                <a:gd name="T25" fmla="*/ 64 h 90"/>
                <a:gd name="T26" fmla="*/ 43 w 79"/>
                <a:gd name="T27" fmla="*/ 68 h 90"/>
                <a:gd name="T28" fmla="*/ 43 w 79"/>
                <a:gd name="T29" fmla="*/ 74 h 90"/>
                <a:gd name="T30" fmla="*/ 36 w 79"/>
                <a:gd name="T31" fmla="*/ 74 h 90"/>
                <a:gd name="T32" fmla="*/ 36 w 79"/>
                <a:gd name="T33" fmla="*/ 68 h 90"/>
                <a:gd name="T34" fmla="*/ 28 w 79"/>
                <a:gd name="T35" fmla="*/ 64 h 90"/>
                <a:gd name="T36" fmla="*/ 24 w 79"/>
                <a:gd name="T37" fmla="*/ 55 h 90"/>
                <a:gd name="T38" fmla="*/ 24 w 79"/>
                <a:gd name="T39" fmla="*/ 54 h 90"/>
                <a:gd name="T40" fmla="*/ 30 w 79"/>
                <a:gd name="T41" fmla="*/ 54 h 90"/>
                <a:gd name="T42" fmla="*/ 30 w 79"/>
                <a:gd name="T43" fmla="*/ 54 h 90"/>
                <a:gd name="T44" fmla="*/ 33 w 79"/>
                <a:gd name="T45" fmla="*/ 60 h 90"/>
                <a:gd name="T46" fmla="*/ 39 w 79"/>
                <a:gd name="T47" fmla="*/ 62 h 90"/>
                <a:gd name="T48" fmla="*/ 46 w 79"/>
                <a:gd name="T49" fmla="*/ 60 h 90"/>
                <a:gd name="T50" fmla="*/ 49 w 79"/>
                <a:gd name="T51" fmla="*/ 55 h 90"/>
                <a:gd name="T52" fmla="*/ 46 w 79"/>
                <a:gd name="T53" fmla="*/ 50 h 90"/>
                <a:gd name="T54" fmla="*/ 38 w 79"/>
                <a:gd name="T55" fmla="*/ 46 h 90"/>
                <a:gd name="T56" fmla="*/ 29 w 79"/>
                <a:gd name="T57" fmla="*/ 42 h 90"/>
                <a:gd name="T58" fmla="*/ 25 w 79"/>
                <a:gd name="T59" fmla="*/ 34 h 90"/>
                <a:gd name="T60" fmla="*/ 30 w 79"/>
                <a:gd name="T61" fmla="*/ 25 h 90"/>
                <a:gd name="T62" fmla="*/ 36 w 79"/>
                <a:gd name="T63" fmla="*/ 22 h 90"/>
                <a:gd name="T64" fmla="*/ 36 w 79"/>
                <a:gd name="T65" fmla="*/ 17 h 90"/>
                <a:gd name="T66" fmla="*/ 43 w 79"/>
                <a:gd name="T67" fmla="*/ 17 h 90"/>
                <a:gd name="T68" fmla="*/ 43 w 79"/>
                <a:gd name="T69" fmla="*/ 22 h 90"/>
                <a:gd name="T70" fmla="*/ 50 w 79"/>
                <a:gd name="T71" fmla="*/ 25 h 90"/>
                <a:gd name="T72" fmla="*/ 55 w 79"/>
                <a:gd name="T73" fmla="*/ 34 h 90"/>
                <a:gd name="T74" fmla="*/ 55 w 79"/>
                <a:gd name="T75" fmla="*/ 35 h 90"/>
                <a:gd name="T76" fmla="*/ 48 w 79"/>
                <a:gd name="T77" fmla="*/ 35 h 90"/>
                <a:gd name="T78" fmla="*/ 48 w 79"/>
                <a:gd name="T79" fmla="*/ 35 h 90"/>
                <a:gd name="T80" fmla="*/ 46 w 79"/>
                <a:gd name="T81" fmla="*/ 29 h 90"/>
                <a:gd name="T82" fmla="*/ 40 w 79"/>
                <a:gd name="T83" fmla="*/ 28 h 90"/>
                <a:gd name="T84" fmla="*/ 34 w 79"/>
                <a:gd name="T85" fmla="*/ 29 h 90"/>
                <a:gd name="T86" fmla="*/ 32 w 79"/>
                <a:gd name="T87" fmla="*/ 34 h 90"/>
                <a:gd name="T88" fmla="*/ 34 w 79"/>
                <a:gd name="T89" fmla="*/ 38 h 90"/>
                <a:gd name="T90" fmla="*/ 41 w 79"/>
                <a:gd name="T91" fmla="*/ 41 h 90"/>
                <a:gd name="T92" fmla="*/ 52 w 79"/>
                <a:gd name="T93" fmla="*/ 46 h 90"/>
                <a:gd name="T94" fmla="*/ 55 w 79"/>
                <a:gd name="T95" fmla="*/ 54 h 90"/>
                <a:gd name="T96" fmla="*/ 51 w 79"/>
                <a:gd name="T97" fmla="*/ 6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" h="90">
                  <a:moveTo>
                    <a:pt x="51" y="2"/>
                  </a:moveTo>
                  <a:cubicBezTo>
                    <a:pt x="51" y="2"/>
                    <a:pt x="51" y="2"/>
                    <a:pt x="51" y="2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3" y="2"/>
                    <a:pt x="18" y="3"/>
                    <a:pt x="14" y="0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5" y="4"/>
                    <a:pt x="17" y="4"/>
                    <a:pt x="20" y="4"/>
                  </a:cubicBezTo>
                  <a:cubicBezTo>
                    <a:pt x="21" y="4"/>
                    <a:pt x="23" y="4"/>
                    <a:pt x="24" y="4"/>
                  </a:cubicBezTo>
                  <a:cubicBezTo>
                    <a:pt x="10" y="13"/>
                    <a:pt x="0" y="35"/>
                    <a:pt x="0" y="51"/>
                  </a:cubicBezTo>
                  <a:cubicBezTo>
                    <a:pt x="0" y="73"/>
                    <a:pt x="18" y="90"/>
                    <a:pt x="39" y="90"/>
                  </a:cubicBezTo>
                  <a:cubicBezTo>
                    <a:pt x="61" y="90"/>
                    <a:pt x="79" y="73"/>
                    <a:pt x="79" y="51"/>
                  </a:cubicBezTo>
                  <a:cubicBezTo>
                    <a:pt x="79" y="34"/>
                    <a:pt x="67" y="10"/>
                    <a:pt x="51" y="2"/>
                  </a:cubicBezTo>
                  <a:close/>
                  <a:moveTo>
                    <a:pt x="51" y="64"/>
                  </a:moveTo>
                  <a:cubicBezTo>
                    <a:pt x="49" y="66"/>
                    <a:pt x="46" y="67"/>
                    <a:pt x="43" y="68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6" y="68"/>
                    <a:pt x="36" y="68"/>
                    <a:pt x="36" y="68"/>
                  </a:cubicBezTo>
                  <a:cubicBezTo>
                    <a:pt x="33" y="67"/>
                    <a:pt x="30" y="66"/>
                    <a:pt x="28" y="64"/>
                  </a:cubicBezTo>
                  <a:cubicBezTo>
                    <a:pt x="25" y="61"/>
                    <a:pt x="24" y="59"/>
                    <a:pt x="24" y="55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1" y="57"/>
                    <a:pt x="31" y="59"/>
                    <a:pt x="33" y="60"/>
                  </a:cubicBezTo>
                  <a:cubicBezTo>
                    <a:pt x="34" y="62"/>
                    <a:pt x="37" y="62"/>
                    <a:pt x="39" y="62"/>
                  </a:cubicBezTo>
                  <a:cubicBezTo>
                    <a:pt x="42" y="62"/>
                    <a:pt x="45" y="62"/>
                    <a:pt x="46" y="60"/>
                  </a:cubicBezTo>
                  <a:cubicBezTo>
                    <a:pt x="48" y="59"/>
                    <a:pt x="49" y="57"/>
                    <a:pt x="49" y="55"/>
                  </a:cubicBezTo>
                  <a:cubicBezTo>
                    <a:pt x="49" y="52"/>
                    <a:pt x="48" y="51"/>
                    <a:pt x="46" y="50"/>
                  </a:cubicBezTo>
                  <a:cubicBezTo>
                    <a:pt x="45" y="48"/>
                    <a:pt x="42" y="47"/>
                    <a:pt x="38" y="46"/>
                  </a:cubicBezTo>
                  <a:cubicBezTo>
                    <a:pt x="34" y="45"/>
                    <a:pt x="31" y="44"/>
                    <a:pt x="29" y="42"/>
                  </a:cubicBezTo>
                  <a:cubicBezTo>
                    <a:pt x="27" y="40"/>
                    <a:pt x="25" y="37"/>
                    <a:pt x="25" y="34"/>
                  </a:cubicBezTo>
                  <a:cubicBezTo>
                    <a:pt x="25" y="31"/>
                    <a:pt x="27" y="28"/>
                    <a:pt x="30" y="25"/>
                  </a:cubicBezTo>
                  <a:cubicBezTo>
                    <a:pt x="31" y="24"/>
                    <a:pt x="34" y="23"/>
                    <a:pt x="36" y="2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6" y="23"/>
                    <a:pt x="48" y="24"/>
                    <a:pt x="50" y="25"/>
                  </a:cubicBezTo>
                  <a:cubicBezTo>
                    <a:pt x="53" y="28"/>
                    <a:pt x="54" y="31"/>
                    <a:pt x="55" y="34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8" y="32"/>
                    <a:pt x="47" y="30"/>
                    <a:pt x="46" y="29"/>
                  </a:cubicBezTo>
                  <a:cubicBezTo>
                    <a:pt x="44" y="28"/>
                    <a:pt x="42" y="28"/>
                    <a:pt x="40" y="28"/>
                  </a:cubicBezTo>
                  <a:cubicBezTo>
                    <a:pt x="38" y="28"/>
                    <a:pt x="35" y="28"/>
                    <a:pt x="34" y="29"/>
                  </a:cubicBezTo>
                  <a:cubicBezTo>
                    <a:pt x="33" y="30"/>
                    <a:pt x="32" y="32"/>
                    <a:pt x="32" y="34"/>
                  </a:cubicBezTo>
                  <a:cubicBezTo>
                    <a:pt x="32" y="36"/>
                    <a:pt x="33" y="37"/>
                    <a:pt x="34" y="38"/>
                  </a:cubicBezTo>
                  <a:cubicBezTo>
                    <a:pt x="35" y="39"/>
                    <a:pt x="38" y="40"/>
                    <a:pt x="41" y="41"/>
                  </a:cubicBezTo>
                  <a:cubicBezTo>
                    <a:pt x="46" y="42"/>
                    <a:pt x="49" y="44"/>
                    <a:pt x="52" y="46"/>
                  </a:cubicBezTo>
                  <a:cubicBezTo>
                    <a:pt x="54" y="48"/>
                    <a:pt x="55" y="51"/>
                    <a:pt x="55" y="54"/>
                  </a:cubicBezTo>
                  <a:cubicBezTo>
                    <a:pt x="55" y="58"/>
                    <a:pt x="54" y="62"/>
                    <a:pt x="51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AU" dirty="0"/>
            </a:p>
          </p:txBody>
        </p:sp>
      </p:grpSp>
      <p:pic>
        <p:nvPicPr>
          <p:cNvPr id="22541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950" y="5230813"/>
            <a:ext cx="947738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413" y="5230813"/>
            <a:ext cx="1768475" cy="11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3" name="TextBox 49"/>
          <p:cNvSpPr txBox="1">
            <a:spLocks noChangeArrowheads="1"/>
          </p:cNvSpPr>
          <p:nvPr/>
        </p:nvSpPr>
        <p:spPr bwMode="auto">
          <a:xfrm>
            <a:off x="9863138" y="1581150"/>
            <a:ext cx="1944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Increased fusion with RPA and cognitive automation</a:t>
            </a:r>
          </a:p>
        </p:txBody>
      </p:sp>
      <p:sp>
        <p:nvSpPr>
          <p:cNvPr id="22544" name="TextBox 383"/>
          <p:cNvSpPr txBox="1">
            <a:spLocks noChangeArrowheads="1"/>
          </p:cNvSpPr>
          <p:nvPr/>
        </p:nvSpPr>
        <p:spPr bwMode="auto">
          <a:xfrm>
            <a:off x="9853613" y="2168525"/>
            <a:ext cx="1944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Faster time for training, development and deployment</a:t>
            </a:r>
          </a:p>
        </p:txBody>
      </p:sp>
      <p:sp>
        <p:nvSpPr>
          <p:cNvPr id="22545" name="TextBox 384"/>
          <p:cNvSpPr txBox="1">
            <a:spLocks noChangeArrowheads="1"/>
          </p:cNvSpPr>
          <p:nvPr/>
        </p:nvSpPr>
        <p:spPr bwMode="auto">
          <a:xfrm>
            <a:off x="9853613" y="3346450"/>
            <a:ext cx="1944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Bots are no longer new, more users, more adoption</a:t>
            </a:r>
          </a:p>
        </p:txBody>
      </p:sp>
      <p:sp>
        <p:nvSpPr>
          <p:cNvPr id="22546" name="TextBox 385"/>
          <p:cNvSpPr txBox="1">
            <a:spLocks noChangeArrowheads="1"/>
          </p:cNvSpPr>
          <p:nvPr/>
        </p:nvSpPr>
        <p:spPr bwMode="auto">
          <a:xfrm>
            <a:off x="9853613" y="3935413"/>
            <a:ext cx="1798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Integration with voice channels (contact centre)</a:t>
            </a:r>
          </a:p>
        </p:txBody>
      </p:sp>
      <p:sp>
        <p:nvSpPr>
          <p:cNvPr id="22547" name="TextBox 386"/>
          <p:cNvSpPr txBox="1">
            <a:spLocks noChangeArrowheads="1"/>
          </p:cNvSpPr>
          <p:nvPr/>
        </p:nvSpPr>
        <p:spPr bwMode="auto">
          <a:xfrm>
            <a:off x="9853613" y="2759075"/>
            <a:ext cx="19446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Lower cost development - the professionalisation of annotation</a:t>
            </a:r>
          </a:p>
        </p:txBody>
      </p:sp>
      <p:sp>
        <p:nvSpPr>
          <p:cNvPr id="22548" name="Text Placeholder 4"/>
          <p:cNvSpPr txBox="1">
            <a:spLocks/>
          </p:cNvSpPr>
          <p:nvPr/>
        </p:nvSpPr>
        <p:spPr bwMode="auto">
          <a:xfrm>
            <a:off x="7043738" y="5511800"/>
            <a:ext cx="6810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KPMG Skippy Bot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2549" name="Text Placeholder 4"/>
          <p:cNvSpPr txBox="1">
            <a:spLocks/>
          </p:cNvSpPr>
          <p:nvPr/>
        </p:nvSpPr>
        <p:spPr bwMode="auto">
          <a:xfrm>
            <a:off x="3665538" y="5495925"/>
            <a:ext cx="974725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Application Processing Bot</a:t>
            </a:r>
            <a:endParaRPr lang="en-US" altLang="en-US" sz="1200" b="1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2550" name="TextBox 389"/>
          <p:cNvSpPr txBox="1">
            <a:spLocks noChangeArrowheads="1"/>
          </p:cNvSpPr>
          <p:nvPr/>
        </p:nvSpPr>
        <p:spPr bwMode="auto">
          <a:xfrm>
            <a:off x="9853613" y="4525963"/>
            <a:ext cx="19446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Univers 45 Light" pitchFamily="2" charset="0"/>
              </a:rPr>
              <a:t>Integrating more customer data for context and personalisation</a:t>
            </a:r>
          </a:p>
        </p:txBody>
      </p:sp>
      <p:sp>
        <p:nvSpPr>
          <p:cNvPr id="22551" name="Text Placeholder 4"/>
          <p:cNvSpPr txBox="1">
            <a:spLocks/>
          </p:cNvSpPr>
          <p:nvPr/>
        </p:nvSpPr>
        <p:spPr bwMode="auto">
          <a:xfrm>
            <a:off x="1004888" y="1290638"/>
            <a:ext cx="1112837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More smart</a:t>
            </a:r>
          </a:p>
        </p:txBody>
      </p:sp>
      <p:graphicFrame>
        <p:nvGraphicFramePr>
          <p:cNvPr id="44" name="Chart 43"/>
          <p:cNvGraphicFramePr>
            <a:graphicFrameLocks/>
          </p:cNvGraphicFramePr>
          <p:nvPr/>
        </p:nvGraphicFramePr>
        <p:xfrm>
          <a:off x="794690" y="1487735"/>
          <a:ext cx="3582133" cy="229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45" name="Straight Connector 44"/>
          <p:cNvCxnSpPr/>
          <p:nvPr/>
        </p:nvCxnSpPr>
        <p:spPr>
          <a:xfrm>
            <a:off x="1004888" y="1947863"/>
            <a:ext cx="259238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4" name="Rectangle 2"/>
          <p:cNvSpPr>
            <a:spLocks noChangeArrowheads="1"/>
          </p:cNvSpPr>
          <p:nvPr/>
        </p:nvSpPr>
        <p:spPr bwMode="auto">
          <a:xfrm>
            <a:off x="898525" y="3789363"/>
            <a:ext cx="31686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2019 was a big year in Natural Language Processing technology with new breakthroughs in transfer learning</a:t>
            </a:r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22555" name="Rectangle 3"/>
          <p:cNvSpPr>
            <a:spLocks noChangeArrowheads="1"/>
          </p:cNvSpPr>
          <p:nvPr/>
        </p:nvSpPr>
        <p:spPr bwMode="auto">
          <a:xfrm>
            <a:off x="5045075" y="3756025"/>
            <a:ext cx="36845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Voice activated devices are fastest growing consumer technology ever, faster than smart phones reaching 11.7 million in 2018</a:t>
            </a:r>
          </a:p>
        </p:txBody>
      </p:sp>
      <p:sp>
        <p:nvSpPr>
          <p:cNvPr id="22556" name="Title 1"/>
          <p:cNvSpPr txBox="1">
            <a:spLocks/>
          </p:cNvSpPr>
          <p:nvPr/>
        </p:nvSpPr>
        <p:spPr bwMode="auto">
          <a:xfrm>
            <a:off x="1004888" y="5035550"/>
            <a:ext cx="137953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KPMG Examples</a:t>
            </a:r>
          </a:p>
        </p:txBody>
      </p:sp>
      <p:sp>
        <p:nvSpPr>
          <p:cNvPr id="22557" name="Title 1"/>
          <p:cNvSpPr txBox="1">
            <a:spLocks/>
          </p:cNvSpPr>
          <p:nvPr/>
        </p:nvSpPr>
        <p:spPr bwMode="auto">
          <a:xfrm>
            <a:off x="9461500" y="1258888"/>
            <a:ext cx="1846263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AU" altLang="en-US" sz="1200" b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Overall Developments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00113" y="222250"/>
            <a:ext cx="10515600" cy="1325563"/>
          </a:xfrm>
        </p:spPr>
        <p:txBody>
          <a:bodyPr/>
          <a:lstStyle/>
          <a:p>
            <a:r>
              <a:rPr lang="en-AU" altLang="en-US" dirty="0" smtClean="0"/>
              <a:t>History of Natural Language Processing  and Transfer Learning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046" y="1168819"/>
            <a:ext cx="5803803" cy="24191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249" y="1219044"/>
            <a:ext cx="4338661" cy="47378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992" y="4174755"/>
            <a:ext cx="5611910" cy="1742498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6080992" y="3838353"/>
            <a:ext cx="5611910" cy="318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84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580860" y="881856"/>
            <a:ext cx="3827721" cy="53460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8" name="Rectangle 27"/>
          <p:cNvSpPr/>
          <p:nvPr/>
        </p:nvSpPr>
        <p:spPr>
          <a:xfrm>
            <a:off x="4625163" y="3083442"/>
            <a:ext cx="3827721" cy="3144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7" name="Rectangle 26"/>
          <p:cNvSpPr/>
          <p:nvPr/>
        </p:nvSpPr>
        <p:spPr>
          <a:xfrm>
            <a:off x="8364279" y="881856"/>
            <a:ext cx="3827721" cy="53460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Rectangle 1"/>
          <p:cNvSpPr/>
          <p:nvPr/>
        </p:nvSpPr>
        <p:spPr>
          <a:xfrm>
            <a:off x="797442" y="881856"/>
            <a:ext cx="3827721" cy="5346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629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663575"/>
          </a:xfrm>
        </p:spPr>
        <p:txBody>
          <a:bodyPr/>
          <a:lstStyle/>
          <a:p>
            <a:r>
              <a:rPr lang="en-AU" altLang="en-US" smtClean="0"/>
              <a:t>Operational Blueprint current challenges</a:t>
            </a:r>
          </a:p>
        </p:txBody>
      </p:sp>
      <p:sp>
        <p:nvSpPr>
          <p:cNvPr id="26630" name="Text Placeholder 4"/>
          <p:cNvSpPr txBox="1">
            <a:spLocks/>
          </p:cNvSpPr>
          <p:nvPr/>
        </p:nvSpPr>
        <p:spPr bwMode="auto">
          <a:xfrm>
            <a:off x="1220983" y="2186850"/>
            <a:ext cx="19304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“current OB search cannot return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accurate results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1" name="Text Placeholder 4"/>
          <p:cNvSpPr txBox="1">
            <a:spLocks/>
          </p:cNvSpPr>
          <p:nvPr/>
        </p:nvSpPr>
        <p:spPr bwMode="auto">
          <a:xfrm>
            <a:off x="1220983" y="2987120"/>
            <a:ext cx="1712912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“current search makes it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hard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for the user to go to the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exact page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of the policy they want”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2" name="Text Placeholder 4"/>
          <p:cNvSpPr txBox="1">
            <a:spLocks/>
          </p:cNvSpPr>
          <p:nvPr/>
        </p:nvSpPr>
        <p:spPr bwMode="auto">
          <a:xfrm>
            <a:off x="5042124" y="3724095"/>
            <a:ext cx="2832428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search function is basic and the returned results </a:t>
            </a:r>
            <a:r>
              <a:rPr lang="en-US" altLang="en-US" sz="1200" dirty="0" smtClean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mainly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depend on the terminology users use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3" name="Text Placeholder 4"/>
          <p:cNvSpPr txBox="1">
            <a:spLocks/>
          </p:cNvSpPr>
          <p:nvPr/>
        </p:nvSpPr>
        <p:spPr bwMode="auto">
          <a:xfrm>
            <a:off x="1212064" y="1465887"/>
            <a:ext cx="3236913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keywords a user types in the search box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rarely brings up the target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process page” 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4" name="Text Placeholder 4"/>
          <p:cNvSpPr txBox="1">
            <a:spLocks/>
          </p:cNvSpPr>
          <p:nvPr/>
        </p:nvSpPr>
        <p:spPr bwMode="auto">
          <a:xfrm>
            <a:off x="5061026" y="1360029"/>
            <a:ext cx="2813526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OB system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returns massive content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which makes it hard to get to the right place in the right program”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5" name="Text Placeholder 4"/>
          <p:cNvSpPr txBox="1">
            <a:spLocks/>
          </p:cNvSpPr>
          <p:nvPr/>
        </p:nvSpPr>
        <p:spPr bwMode="auto">
          <a:xfrm>
            <a:off x="9381439" y="2440317"/>
            <a:ext cx="2076988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system does not store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user search history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for different user groups”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6" name="Text Placeholder 4"/>
          <p:cNvSpPr txBox="1">
            <a:spLocks/>
          </p:cNvSpPr>
          <p:nvPr/>
        </p:nvSpPr>
        <p:spPr bwMode="auto">
          <a:xfrm>
            <a:off x="5061026" y="5348910"/>
            <a:ext cx="2753292" cy="144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content in OB is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difficult to keep current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and consistent because of the lack of a content management capability”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37" name="Text Placeholder 4"/>
          <p:cNvSpPr txBox="1">
            <a:spLocks/>
          </p:cNvSpPr>
          <p:nvPr/>
        </p:nvSpPr>
        <p:spPr bwMode="auto">
          <a:xfrm>
            <a:off x="5752694" y="1068561"/>
            <a:ext cx="12747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SPEED</a:t>
            </a:r>
          </a:p>
        </p:txBody>
      </p:sp>
      <p:sp>
        <p:nvSpPr>
          <p:cNvPr id="26638" name="Text Placeholder 4"/>
          <p:cNvSpPr txBox="1">
            <a:spLocks/>
          </p:cNvSpPr>
          <p:nvPr/>
        </p:nvSpPr>
        <p:spPr bwMode="auto">
          <a:xfrm>
            <a:off x="1481895" y="1068561"/>
            <a:ext cx="12731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ACCURACY</a:t>
            </a:r>
          </a:p>
        </p:txBody>
      </p:sp>
      <p:sp>
        <p:nvSpPr>
          <p:cNvPr id="26639" name="Text Placeholder 4"/>
          <p:cNvSpPr txBox="1">
            <a:spLocks/>
          </p:cNvSpPr>
          <p:nvPr/>
        </p:nvSpPr>
        <p:spPr bwMode="auto">
          <a:xfrm>
            <a:off x="5752693" y="3283277"/>
            <a:ext cx="12747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CONFIDENCE</a:t>
            </a:r>
          </a:p>
        </p:txBody>
      </p:sp>
      <p:sp>
        <p:nvSpPr>
          <p:cNvPr id="26640" name="Text Placeholder 4"/>
          <p:cNvSpPr txBox="1">
            <a:spLocks/>
          </p:cNvSpPr>
          <p:nvPr/>
        </p:nvSpPr>
        <p:spPr bwMode="auto">
          <a:xfrm>
            <a:off x="9808284" y="1068561"/>
            <a:ext cx="1273175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400" b="1" dirty="0">
                <a:solidFill>
                  <a:srgbClr val="00338D"/>
                </a:solidFill>
                <a:latin typeface="Univers 45 Light" pitchFamily="2" charset="0"/>
                <a:cs typeface="Calibri" panose="020F0502020204030204" pitchFamily="34" charset="0"/>
              </a:rPr>
              <a:t>INNOVATION</a:t>
            </a:r>
          </a:p>
        </p:txBody>
      </p:sp>
      <p:sp>
        <p:nvSpPr>
          <p:cNvPr id="26641" name="Text Placeholder 4"/>
          <p:cNvSpPr txBox="1">
            <a:spLocks/>
          </p:cNvSpPr>
          <p:nvPr/>
        </p:nvSpPr>
        <p:spPr bwMode="auto">
          <a:xfrm>
            <a:off x="1212064" y="5045492"/>
            <a:ext cx="134778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“the OB system doesn’t understand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abbreviation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or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acronyms </a:t>
            </a:r>
          </a:p>
        </p:txBody>
      </p:sp>
      <p:sp>
        <p:nvSpPr>
          <p:cNvPr id="26642" name="Text Placeholder 4"/>
          <p:cNvSpPr txBox="1">
            <a:spLocks/>
          </p:cNvSpPr>
          <p:nvPr/>
        </p:nvSpPr>
        <p:spPr bwMode="auto">
          <a:xfrm>
            <a:off x="1212064" y="4104669"/>
            <a:ext cx="298887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does not understand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high level and abstract key words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(e.g. 5 years OTD or areas of consideration)”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3" name="Text Placeholder 4"/>
          <p:cNvSpPr txBox="1">
            <a:spLocks/>
          </p:cNvSpPr>
          <p:nvPr/>
        </p:nvSpPr>
        <p:spPr bwMode="auto">
          <a:xfrm>
            <a:off x="5042123" y="4535676"/>
            <a:ext cx="2688079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does not provide information about the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access frequency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of each policy document”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4" name="Text Placeholder 4"/>
          <p:cNvSpPr txBox="1">
            <a:spLocks/>
          </p:cNvSpPr>
          <p:nvPr/>
        </p:nvSpPr>
        <p:spPr bwMode="auto">
          <a:xfrm>
            <a:off x="9381439" y="1371131"/>
            <a:ext cx="1945906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cannot save or </a:t>
            </a:r>
            <a:r>
              <a:rPr lang="en-US" altLang="en-US" sz="1200" b="1" dirty="0" err="1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customise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 search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results for individual users or user groups based on the search history”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5" name="Text Placeholder 4"/>
          <p:cNvSpPr txBox="1">
            <a:spLocks/>
          </p:cNvSpPr>
          <p:nvPr/>
        </p:nvSpPr>
        <p:spPr bwMode="auto">
          <a:xfrm>
            <a:off x="5061026" y="2203774"/>
            <a:ext cx="2813526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“OB system returns a long list of results requiring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extensive manual reading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to locate the right answer”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6" name="Text Placeholder 4"/>
          <p:cNvSpPr txBox="1">
            <a:spLocks/>
          </p:cNvSpPr>
          <p:nvPr/>
        </p:nvSpPr>
        <p:spPr bwMode="auto">
          <a:xfrm>
            <a:off x="9381439" y="3391112"/>
            <a:ext cx="2305254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No feedback function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in the existing system to correct the search result, or rank the more relevant documents”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  <p:sp>
        <p:nvSpPr>
          <p:cNvPr id="26647" name="Text Placeholder 4"/>
          <p:cNvSpPr txBox="1">
            <a:spLocks/>
          </p:cNvSpPr>
          <p:nvPr/>
        </p:nvSpPr>
        <p:spPr bwMode="auto">
          <a:xfrm>
            <a:off x="9381439" y="4357798"/>
            <a:ext cx="2260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985838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71450" indent="-171450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354013" indent="-176213" defTabSz="985838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8112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12684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7256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182813" indent="-176213" defTabSz="985838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ts val="975"/>
              </a:spcAft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“Need more direction when searching based on an </a:t>
            </a:r>
            <a:r>
              <a:rPr lang="en-US" altLang="en-US" sz="1200" b="1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abstract question </a:t>
            </a:r>
            <a:r>
              <a:rPr lang="en-US" altLang="en-US" sz="1200" dirty="0">
                <a:solidFill>
                  <a:srgbClr val="000000"/>
                </a:solidFill>
                <a:latin typeface="Univers 45 Light" pitchFamily="2" charset="0"/>
                <a:cs typeface="Calibri" panose="020F0502020204030204" pitchFamily="34" charset="0"/>
              </a:rPr>
              <a:t>i.e. follow up question”</a:t>
            </a:r>
            <a:endParaRPr lang="en-US" altLang="en-US" sz="1200" b="1" dirty="0">
              <a:solidFill>
                <a:srgbClr val="000000"/>
              </a:solidFill>
              <a:latin typeface="Univers 45 Light" pitchFamily="2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668000" cy="539750"/>
          </a:xfrm>
        </p:spPr>
        <p:txBody>
          <a:bodyPr/>
          <a:lstStyle/>
          <a:p>
            <a:r>
              <a:rPr lang="en-AU" altLang="en-US" dirty="0" smtClean="0"/>
              <a:t>Proof of concept</a:t>
            </a:r>
            <a:br>
              <a:rPr lang="en-AU" altLang="en-US" dirty="0" smtClean="0"/>
            </a:br>
            <a:r>
              <a:rPr lang="en-AU" altLang="en-US" dirty="0" smtClean="0"/>
              <a:t>Functionality</a:t>
            </a:r>
            <a:br>
              <a:rPr lang="en-AU" altLang="en-US" dirty="0" smtClean="0"/>
            </a:br>
            <a:endParaRPr lang="en-AU" altLang="en-US" dirty="0" smtClean="0"/>
          </a:p>
        </p:txBody>
      </p:sp>
      <p:graphicFrame>
        <p:nvGraphicFramePr>
          <p:cNvPr id="63" name="Diagram 62"/>
          <p:cNvGraphicFramePr/>
          <p:nvPr>
            <p:extLst>
              <p:ext uri="{D42A27DB-BD31-4B8C-83A1-F6EECF244321}">
                <p14:modId xmlns:p14="http://schemas.microsoft.com/office/powerpoint/2010/main" val="2881498541"/>
              </p:ext>
            </p:extLst>
          </p:nvPr>
        </p:nvGraphicFramePr>
        <p:xfrm>
          <a:off x="2167875" y="1120101"/>
          <a:ext cx="7790963" cy="4995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4" name="Picture 30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089" y="3029524"/>
            <a:ext cx="544505" cy="48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4159262" y="1844070"/>
            <a:ext cx="3540925" cy="3311433"/>
            <a:chOff x="2787370" y="2311543"/>
            <a:chExt cx="3427369" cy="3370745"/>
          </a:xfrm>
        </p:grpSpPr>
        <p:sp>
          <p:nvSpPr>
            <p:cNvPr id="66" name="Freeform 52"/>
            <p:cNvSpPr>
              <a:spLocks/>
            </p:cNvSpPr>
            <p:nvPr/>
          </p:nvSpPr>
          <p:spPr bwMode="auto">
            <a:xfrm>
              <a:off x="3276314" y="3361183"/>
              <a:ext cx="1247759" cy="2321105"/>
            </a:xfrm>
            <a:custGeom>
              <a:avLst/>
              <a:gdLst>
                <a:gd name="T0" fmla="*/ 792 w 792"/>
                <a:gd name="T1" fmla="*/ 1302 h 1474"/>
                <a:gd name="T2" fmla="*/ 149 w 792"/>
                <a:gd name="T3" fmla="*/ 1185 h 1474"/>
                <a:gd name="T4" fmla="*/ 29 w 792"/>
                <a:gd name="T5" fmla="*/ 717 h 1474"/>
                <a:gd name="T6" fmla="*/ 179 w 792"/>
                <a:gd name="T7" fmla="*/ 73 h 1474"/>
                <a:gd name="T8" fmla="*/ 608 w 792"/>
                <a:gd name="T9" fmla="*/ 33 h 1474"/>
                <a:gd name="T10" fmla="*/ 239 w 792"/>
                <a:gd name="T11" fmla="*/ 966 h 1474"/>
                <a:gd name="T12" fmla="*/ 758 w 792"/>
                <a:gd name="T13" fmla="*/ 1290 h 1474"/>
                <a:gd name="T14" fmla="*/ 792 w 792"/>
                <a:gd name="T15" fmla="*/ 1302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92" h="1474">
                  <a:moveTo>
                    <a:pt x="792" y="1302"/>
                  </a:moveTo>
                  <a:cubicBezTo>
                    <a:pt x="792" y="1302"/>
                    <a:pt x="365" y="1459"/>
                    <a:pt x="149" y="1185"/>
                  </a:cubicBezTo>
                  <a:cubicBezTo>
                    <a:pt x="52" y="1062"/>
                    <a:pt x="54" y="905"/>
                    <a:pt x="29" y="717"/>
                  </a:cubicBezTo>
                  <a:cubicBezTo>
                    <a:pt x="0" y="495"/>
                    <a:pt x="95" y="219"/>
                    <a:pt x="179" y="73"/>
                  </a:cubicBezTo>
                  <a:cubicBezTo>
                    <a:pt x="179" y="73"/>
                    <a:pt x="352" y="0"/>
                    <a:pt x="608" y="33"/>
                  </a:cubicBezTo>
                  <a:cubicBezTo>
                    <a:pt x="608" y="33"/>
                    <a:pt x="216" y="534"/>
                    <a:pt x="239" y="966"/>
                  </a:cubicBezTo>
                  <a:cubicBezTo>
                    <a:pt x="239" y="966"/>
                    <a:pt x="232" y="1474"/>
                    <a:pt x="758" y="1290"/>
                  </a:cubicBezTo>
                  <a:lnTo>
                    <a:pt x="792" y="13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67" name="Group 79"/>
            <p:cNvGrpSpPr>
              <a:grpSpLocks/>
            </p:cNvGrpSpPr>
            <p:nvPr/>
          </p:nvGrpSpPr>
          <p:grpSpPr bwMode="auto">
            <a:xfrm>
              <a:off x="2983887" y="2566680"/>
              <a:ext cx="2930416" cy="3007025"/>
              <a:chOff x="2983887" y="2297131"/>
              <a:chExt cx="2930416" cy="3007025"/>
            </a:xfrm>
          </p:grpSpPr>
          <p:sp>
            <p:nvSpPr>
              <p:cNvPr id="75" name="Freeform 45"/>
              <p:cNvSpPr>
                <a:spLocks/>
              </p:cNvSpPr>
              <p:nvPr/>
            </p:nvSpPr>
            <p:spPr bwMode="auto">
              <a:xfrm>
                <a:off x="2983887" y="3338331"/>
                <a:ext cx="408354" cy="836025"/>
              </a:xfrm>
              <a:custGeom>
                <a:avLst/>
                <a:gdLst>
                  <a:gd name="T0" fmla="*/ 2147483646 w 259"/>
                  <a:gd name="T1" fmla="*/ 0 h 531"/>
                  <a:gd name="T2" fmla="*/ 2147483646 w 259"/>
                  <a:gd name="T3" fmla="*/ 2147483646 h 531"/>
                  <a:gd name="T4" fmla="*/ 2147483646 w 259"/>
                  <a:gd name="T5" fmla="*/ 2147483646 h 531"/>
                  <a:gd name="T6" fmla="*/ 2147483646 w 259"/>
                  <a:gd name="T7" fmla="*/ 0 h 5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9" h="531">
                    <a:moveTo>
                      <a:pt x="215" y="0"/>
                    </a:moveTo>
                    <a:cubicBezTo>
                      <a:pt x="106" y="87"/>
                      <a:pt x="0" y="257"/>
                      <a:pt x="218" y="531"/>
                    </a:cubicBezTo>
                    <a:cubicBezTo>
                      <a:pt x="202" y="384"/>
                      <a:pt x="259" y="199"/>
                      <a:pt x="259" y="199"/>
                    </a:cubicBezTo>
                    <a:cubicBezTo>
                      <a:pt x="207" y="139"/>
                      <a:pt x="215" y="0"/>
                      <a:pt x="215" y="0"/>
                    </a:cubicBezTo>
                    <a:close/>
                  </a:path>
                </a:pathLst>
              </a:custGeom>
              <a:solidFill>
                <a:srgbClr val="A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6" name="Freeform 46"/>
              <p:cNvSpPr>
                <a:spLocks/>
              </p:cNvSpPr>
              <p:nvPr/>
            </p:nvSpPr>
            <p:spPr bwMode="auto">
              <a:xfrm>
                <a:off x="3700171" y="4877471"/>
                <a:ext cx="774690" cy="425964"/>
              </a:xfrm>
              <a:custGeom>
                <a:avLst/>
                <a:gdLst>
                  <a:gd name="T0" fmla="*/ 0 w 492"/>
                  <a:gd name="T1" fmla="*/ 0 h 270"/>
                  <a:gd name="T2" fmla="*/ 492 w 492"/>
                  <a:gd name="T3" fmla="*/ 155 h 270"/>
                  <a:gd name="T4" fmla="*/ 208 w 492"/>
                  <a:gd name="T5" fmla="*/ 11 h 270"/>
                  <a:gd name="T6" fmla="*/ 0 w 492"/>
                  <a:gd name="T7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2" h="270">
                    <a:moveTo>
                      <a:pt x="0" y="0"/>
                    </a:moveTo>
                    <a:cubicBezTo>
                      <a:pt x="47" y="132"/>
                      <a:pt x="161" y="270"/>
                      <a:pt x="492" y="155"/>
                    </a:cubicBezTo>
                    <a:cubicBezTo>
                      <a:pt x="362" y="106"/>
                      <a:pt x="208" y="11"/>
                      <a:pt x="208" y="11"/>
                    </a:cubicBezTo>
                    <a:cubicBezTo>
                      <a:pt x="134" y="4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sz="1463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7" name="Freeform 47"/>
              <p:cNvSpPr>
                <a:spLocks/>
              </p:cNvSpPr>
              <p:nvPr/>
            </p:nvSpPr>
            <p:spPr bwMode="auto">
              <a:xfrm>
                <a:off x="3869206" y="2297131"/>
                <a:ext cx="798720" cy="645505"/>
              </a:xfrm>
              <a:custGeom>
                <a:avLst/>
                <a:gdLst>
                  <a:gd name="T0" fmla="*/ 2147483646 w 507"/>
                  <a:gd name="T1" fmla="*/ 2147483646 h 410"/>
                  <a:gd name="T2" fmla="*/ 0 w 507"/>
                  <a:gd name="T3" fmla="*/ 2147483646 h 410"/>
                  <a:gd name="T4" fmla="*/ 2147483646 w 507"/>
                  <a:gd name="T5" fmla="*/ 2147483646 h 410"/>
                  <a:gd name="T6" fmla="*/ 2147483646 w 507"/>
                  <a:gd name="T7" fmla="*/ 2147483646 h 4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7" h="410">
                    <a:moveTo>
                      <a:pt x="507" y="133"/>
                    </a:moveTo>
                    <a:cubicBezTo>
                      <a:pt x="384" y="53"/>
                      <a:pt x="200" y="0"/>
                      <a:pt x="0" y="304"/>
                    </a:cubicBezTo>
                    <a:cubicBezTo>
                      <a:pt x="238" y="410"/>
                      <a:pt x="328" y="239"/>
                      <a:pt x="328" y="239"/>
                    </a:cubicBezTo>
                    <a:cubicBezTo>
                      <a:pt x="369" y="171"/>
                      <a:pt x="507" y="133"/>
                      <a:pt x="507" y="133"/>
                    </a:cubicBezTo>
                    <a:close/>
                  </a:path>
                </a:pathLst>
              </a:custGeom>
              <a:solidFill>
                <a:srgbClr val="25232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8" name="Freeform 48"/>
              <p:cNvSpPr>
                <a:spLocks/>
              </p:cNvSpPr>
              <p:nvPr/>
            </p:nvSpPr>
            <p:spPr bwMode="auto">
              <a:xfrm>
                <a:off x="5374051" y="2868692"/>
                <a:ext cx="540252" cy="648835"/>
              </a:xfrm>
              <a:custGeom>
                <a:avLst/>
                <a:gdLst>
                  <a:gd name="T0" fmla="*/ 2147483646 w 343"/>
                  <a:gd name="T1" fmla="*/ 2147483646 h 412"/>
                  <a:gd name="T2" fmla="*/ 0 w 343"/>
                  <a:gd name="T3" fmla="*/ 0 h 412"/>
                  <a:gd name="T4" fmla="*/ 2147483646 w 343"/>
                  <a:gd name="T5" fmla="*/ 2147483646 h 412"/>
                  <a:gd name="T6" fmla="*/ 2147483646 w 343"/>
                  <a:gd name="T7" fmla="*/ 2147483646 h 4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3" h="412">
                    <a:moveTo>
                      <a:pt x="309" y="412"/>
                    </a:moveTo>
                    <a:cubicBezTo>
                      <a:pt x="343" y="306"/>
                      <a:pt x="336" y="98"/>
                      <a:pt x="0" y="0"/>
                    </a:cubicBezTo>
                    <a:cubicBezTo>
                      <a:pt x="46" y="153"/>
                      <a:pt x="56" y="215"/>
                      <a:pt x="159" y="289"/>
                    </a:cubicBezTo>
                    <a:cubicBezTo>
                      <a:pt x="237" y="308"/>
                      <a:pt x="309" y="411"/>
                      <a:pt x="309" y="412"/>
                    </a:cubicBezTo>
                    <a:close/>
                  </a:path>
                </a:pathLst>
              </a:custGeom>
              <a:solidFill>
                <a:srgbClr val="7671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9" name="Freeform 49"/>
              <p:cNvSpPr>
                <a:spLocks/>
              </p:cNvSpPr>
              <p:nvPr/>
            </p:nvSpPr>
            <p:spPr bwMode="auto">
              <a:xfrm>
                <a:off x="5271776" y="4355061"/>
                <a:ext cx="482594" cy="634929"/>
              </a:xfrm>
              <a:custGeom>
                <a:avLst/>
                <a:gdLst>
                  <a:gd name="T0" fmla="*/ 0 w 306"/>
                  <a:gd name="T1" fmla="*/ 403 h 403"/>
                  <a:gd name="T2" fmla="*/ 294 w 306"/>
                  <a:gd name="T3" fmla="*/ 0 h 403"/>
                  <a:gd name="T4" fmla="*/ 78 w 306"/>
                  <a:gd name="T5" fmla="*/ 219 h 403"/>
                  <a:gd name="T6" fmla="*/ 0 w 306"/>
                  <a:gd name="T7" fmla="*/ 403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06" h="403">
                    <a:moveTo>
                      <a:pt x="0" y="403"/>
                    </a:moveTo>
                    <a:cubicBezTo>
                      <a:pt x="140" y="398"/>
                      <a:pt x="306" y="350"/>
                      <a:pt x="294" y="0"/>
                    </a:cubicBezTo>
                    <a:cubicBezTo>
                      <a:pt x="228" y="64"/>
                      <a:pt x="78" y="219"/>
                      <a:pt x="78" y="219"/>
                    </a:cubicBezTo>
                    <a:cubicBezTo>
                      <a:pt x="84" y="298"/>
                      <a:pt x="0" y="403"/>
                      <a:pt x="0" y="403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US" sz="1463" dirty="0">
                  <a:solidFill>
                    <a:srgbClr val="7030A0"/>
                  </a:solidFill>
                  <a:latin typeface="Calibri"/>
                </a:endParaRPr>
              </a:p>
            </p:txBody>
          </p:sp>
        </p:grpSp>
        <p:sp>
          <p:nvSpPr>
            <p:cNvPr id="68" name="Freeform 51"/>
            <p:cNvSpPr>
              <a:spLocks/>
            </p:cNvSpPr>
            <p:nvPr/>
          </p:nvSpPr>
          <p:spPr bwMode="auto">
            <a:xfrm>
              <a:off x="2787370" y="2925737"/>
              <a:ext cx="2348863" cy="1576789"/>
            </a:xfrm>
            <a:custGeom>
              <a:avLst/>
              <a:gdLst>
                <a:gd name="T0" fmla="*/ 2147483646 w 1491"/>
                <a:gd name="T1" fmla="*/ 2147483646 h 1001"/>
                <a:gd name="T2" fmla="*/ 2147483646 w 1491"/>
                <a:gd name="T3" fmla="*/ 2147483646 h 1001"/>
                <a:gd name="T4" fmla="*/ 2147483646 w 1491"/>
                <a:gd name="T5" fmla="*/ 2147483646 h 1001"/>
                <a:gd name="T6" fmla="*/ 2147483646 w 1491"/>
                <a:gd name="T7" fmla="*/ 2147483646 h 1001"/>
                <a:gd name="T8" fmla="*/ 2147483646 w 1491"/>
                <a:gd name="T9" fmla="*/ 2147483646 h 1001"/>
                <a:gd name="T10" fmla="*/ 2147483646 w 1491"/>
                <a:gd name="T11" fmla="*/ 2147483646 h 1001"/>
                <a:gd name="T12" fmla="*/ 2147483646 w 1491"/>
                <a:gd name="T13" fmla="*/ 2147483646 h 1001"/>
                <a:gd name="T14" fmla="*/ 2147483646 w 1491"/>
                <a:gd name="T15" fmla="*/ 2147483646 h 10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91" h="1001">
                  <a:moveTo>
                    <a:pt x="341" y="1001"/>
                  </a:moveTo>
                  <a:cubicBezTo>
                    <a:pt x="341" y="1001"/>
                    <a:pt x="48" y="651"/>
                    <a:pt x="235" y="356"/>
                  </a:cubicBezTo>
                  <a:cubicBezTo>
                    <a:pt x="319" y="225"/>
                    <a:pt x="482" y="135"/>
                    <a:pt x="665" y="80"/>
                  </a:cubicBezTo>
                  <a:cubicBezTo>
                    <a:pt x="891" y="13"/>
                    <a:pt x="1158" y="0"/>
                    <a:pt x="1324" y="30"/>
                  </a:cubicBezTo>
                  <a:cubicBezTo>
                    <a:pt x="1324" y="30"/>
                    <a:pt x="1462" y="194"/>
                    <a:pt x="1491" y="412"/>
                  </a:cubicBezTo>
                  <a:cubicBezTo>
                    <a:pt x="1491" y="412"/>
                    <a:pt x="847" y="221"/>
                    <a:pt x="473" y="360"/>
                  </a:cubicBezTo>
                  <a:cubicBezTo>
                    <a:pt x="473" y="360"/>
                    <a:pt x="0" y="531"/>
                    <a:pt x="347" y="966"/>
                  </a:cubicBezTo>
                  <a:lnTo>
                    <a:pt x="341" y="1001"/>
                  </a:lnTo>
                  <a:close/>
                </a:path>
              </a:pathLst>
            </a:custGeom>
            <a:solidFill>
              <a:srgbClr val="E7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 sz="1463"/>
            </a:p>
          </p:txBody>
        </p:sp>
        <p:grpSp>
          <p:nvGrpSpPr>
            <p:cNvPr id="69" name="Group 81"/>
            <p:cNvGrpSpPr>
              <a:grpSpLocks/>
            </p:cNvGrpSpPr>
            <p:nvPr/>
          </p:nvGrpSpPr>
          <p:grpSpPr bwMode="auto">
            <a:xfrm>
              <a:off x="3636052" y="2311543"/>
              <a:ext cx="2578687" cy="3225522"/>
              <a:chOff x="3636052" y="2311543"/>
              <a:chExt cx="2578687" cy="3225522"/>
            </a:xfrm>
          </p:grpSpPr>
          <p:sp>
            <p:nvSpPr>
              <p:cNvPr id="70" name="Line 50"/>
              <p:cNvSpPr>
                <a:spLocks noChangeShapeType="1"/>
              </p:cNvSpPr>
              <p:nvPr/>
            </p:nvSpPr>
            <p:spPr bwMode="auto">
              <a:xfrm>
                <a:off x="5033645" y="4497863"/>
                <a:ext cx="0" cy="0"/>
              </a:xfrm>
              <a:prstGeom prst="line">
                <a:avLst/>
              </a:prstGeom>
              <a:noFill/>
              <a:ln w="14288">
                <a:solidFill>
                  <a:srgbClr val="ED1C2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1" name="Line 54"/>
              <p:cNvSpPr>
                <a:spLocks noChangeShapeType="1"/>
              </p:cNvSpPr>
              <p:nvPr/>
            </p:nvSpPr>
            <p:spPr bwMode="auto">
              <a:xfrm>
                <a:off x="3953142" y="4113492"/>
                <a:ext cx="0" cy="0"/>
              </a:xfrm>
              <a:prstGeom prst="line">
                <a:avLst/>
              </a:prstGeom>
              <a:noFill/>
              <a:ln w="14288">
                <a:solidFill>
                  <a:srgbClr val="ED1C2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2" name="Freeform 56"/>
              <p:cNvSpPr>
                <a:spLocks/>
              </p:cNvSpPr>
              <p:nvPr/>
            </p:nvSpPr>
            <p:spPr bwMode="auto">
              <a:xfrm>
                <a:off x="3636052" y="4208086"/>
                <a:ext cx="2206972" cy="1328979"/>
              </a:xfrm>
              <a:custGeom>
                <a:avLst/>
                <a:gdLst>
                  <a:gd name="T0" fmla="*/ 2147483646 w 1401"/>
                  <a:gd name="T1" fmla="*/ 2147483646 h 844"/>
                  <a:gd name="T2" fmla="*/ 2147483646 w 1401"/>
                  <a:gd name="T3" fmla="*/ 2147483646 h 844"/>
                  <a:gd name="T4" fmla="*/ 2147483646 w 1401"/>
                  <a:gd name="T5" fmla="*/ 2147483646 h 844"/>
                  <a:gd name="T6" fmla="*/ 2147483646 w 1401"/>
                  <a:gd name="T7" fmla="*/ 2147483646 h 844"/>
                  <a:gd name="T8" fmla="*/ 2147483646 w 1401"/>
                  <a:gd name="T9" fmla="*/ 0 h 844"/>
                  <a:gd name="T10" fmla="*/ 2147483646 w 1401"/>
                  <a:gd name="T11" fmla="*/ 2147483646 h 844"/>
                  <a:gd name="T12" fmla="*/ 2147483646 w 1401"/>
                  <a:gd name="T13" fmla="*/ 2147483646 h 844"/>
                  <a:gd name="T14" fmla="*/ 2147483646 w 1401"/>
                  <a:gd name="T15" fmla="*/ 2147483646 h 8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01" h="844">
                    <a:moveTo>
                      <a:pt x="1353" y="229"/>
                    </a:moveTo>
                    <a:cubicBezTo>
                      <a:pt x="1353" y="229"/>
                      <a:pt x="1401" y="664"/>
                      <a:pt x="1075" y="789"/>
                    </a:cubicBezTo>
                    <a:cubicBezTo>
                      <a:pt x="929" y="844"/>
                      <a:pt x="730" y="826"/>
                      <a:pt x="551" y="761"/>
                    </a:cubicBezTo>
                    <a:cubicBezTo>
                      <a:pt x="329" y="680"/>
                      <a:pt x="123" y="543"/>
                      <a:pt x="9" y="419"/>
                    </a:cubicBezTo>
                    <a:cubicBezTo>
                      <a:pt x="9" y="419"/>
                      <a:pt x="0" y="167"/>
                      <a:pt x="88" y="0"/>
                    </a:cubicBezTo>
                    <a:cubicBezTo>
                      <a:pt x="88" y="0"/>
                      <a:pt x="480" y="528"/>
                      <a:pt x="863" y="641"/>
                    </a:cubicBezTo>
                    <a:cubicBezTo>
                      <a:pt x="863" y="641"/>
                      <a:pt x="1347" y="817"/>
                      <a:pt x="1329" y="260"/>
                    </a:cubicBezTo>
                    <a:lnTo>
                      <a:pt x="1353" y="229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3" name="Freeform 55"/>
              <p:cNvSpPr>
                <a:spLocks/>
              </p:cNvSpPr>
              <p:nvPr/>
            </p:nvSpPr>
            <p:spPr bwMode="auto">
              <a:xfrm>
                <a:off x="4425446" y="3078287"/>
                <a:ext cx="1789293" cy="2142355"/>
              </a:xfrm>
              <a:custGeom>
                <a:avLst/>
                <a:gdLst>
                  <a:gd name="T0" fmla="*/ 2147483646 w 1136"/>
                  <a:gd name="T1" fmla="*/ 0 h 1360"/>
                  <a:gd name="T2" fmla="*/ 2147483646 w 1136"/>
                  <a:gd name="T3" fmla="*/ 2147483646 h 1360"/>
                  <a:gd name="T4" fmla="*/ 2147483646 w 1136"/>
                  <a:gd name="T5" fmla="*/ 2147483646 h 1360"/>
                  <a:gd name="T6" fmla="*/ 2147483646 w 1136"/>
                  <a:gd name="T7" fmla="*/ 2147483646 h 1360"/>
                  <a:gd name="T8" fmla="*/ 0 w 1136"/>
                  <a:gd name="T9" fmla="*/ 2147483646 h 1360"/>
                  <a:gd name="T10" fmla="*/ 2147483646 w 1136"/>
                  <a:gd name="T11" fmla="*/ 2147483646 h 1360"/>
                  <a:gd name="T12" fmla="*/ 2147483646 w 1136"/>
                  <a:gd name="T13" fmla="*/ 2147483646 h 1360"/>
                  <a:gd name="T14" fmla="*/ 2147483646 w 1136"/>
                  <a:gd name="T15" fmla="*/ 0 h 13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36" h="1360">
                    <a:moveTo>
                      <a:pt x="575" y="0"/>
                    </a:moveTo>
                    <a:cubicBezTo>
                      <a:pt x="575" y="0"/>
                      <a:pt x="1043" y="109"/>
                      <a:pt x="1047" y="496"/>
                    </a:cubicBezTo>
                    <a:cubicBezTo>
                      <a:pt x="1049" y="651"/>
                      <a:pt x="965" y="812"/>
                      <a:pt x="847" y="962"/>
                    </a:cubicBezTo>
                    <a:cubicBezTo>
                      <a:pt x="702" y="1147"/>
                      <a:pt x="521" y="1290"/>
                      <a:pt x="368" y="1360"/>
                    </a:cubicBezTo>
                    <a:cubicBezTo>
                      <a:pt x="368" y="1360"/>
                      <a:pt x="118" y="1311"/>
                      <a:pt x="0" y="1149"/>
                    </a:cubicBezTo>
                    <a:cubicBezTo>
                      <a:pt x="0" y="1149"/>
                      <a:pt x="614" y="959"/>
                      <a:pt x="833" y="612"/>
                    </a:cubicBezTo>
                    <a:cubicBezTo>
                      <a:pt x="833" y="612"/>
                      <a:pt x="1136" y="198"/>
                      <a:pt x="602" y="43"/>
                    </a:cubicBezTo>
                    <a:lnTo>
                      <a:pt x="575" y="0"/>
                    </a:lnTo>
                    <a:close/>
                  </a:path>
                </a:pathLst>
              </a:custGeom>
              <a:solidFill>
                <a:srgbClr val="A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  <p:sp>
            <p:nvSpPr>
              <p:cNvPr id="74" name="Freeform 53"/>
              <p:cNvSpPr>
                <a:spLocks/>
              </p:cNvSpPr>
              <p:nvPr/>
            </p:nvSpPr>
            <p:spPr bwMode="auto">
              <a:xfrm>
                <a:off x="3815914" y="2311543"/>
                <a:ext cx="1925188" cy="2190985"/>
              </a:xfrm>
              <a:custGeom>
                <a:avLst/>
                <a:gdLst>
                  <a:gd name="T0" fmla="*/ 0 w 1222"/>
                  <a:gd name="T1" fmla="*/ 2147483646 h 1391"/>
                  <a:gd name="T2" fmla="*/ 2147483646 w 1222"/>
                  <a:gd name="T3" fmla="*/ 2147483646 h 1391"/>
                  <a:gd name="T4" fmla="*/ 2147483646 w 1222"/>
                  <a:gd name="T5" fmla="*/ 2147483646 h 1391"/>
                  <a:gd name="T6" fmla="*/ 2147483646 w 1222"/>
                  <a:gd name="T7" fmla="*/ 2147483646 h 1391"/>
                  <a:gd name="T8" fmla="*/ 2147483646 w 1222"/>
                  <a:gd name="T9" fmla="*/ 2147483646 h 1391"/>
                  <a:gd name="T10" fmla="*/ 2147483646 w 1222"/>
                  <a:gd name="T11" fmla="*/ 2147483646 h 1391"/>
                  <a:gd name="T12" fmla="*/ 2147483646 w 1222"/>
                  <a:gd name="T13" fmla="*/ 2147483646 h 1391"/>
                  <a:gd name="T14" fmla="*/ 0 w 1222"/>
                  <a:gd name="T15" fmla="*/ 2147483646 h 13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22" h="1391">
                    <a:moveTo>
                      <a:pt x="0" y="477"/>
                    </a:moveTo>
                    <a:cubicBezTo>
                      <a:pt x="0" y="477"/>
                      <a:pt x="239" y="92"/>
                      <a:pt x="578" y="178"/>
                    </a:cubicBezTo>
                    <a:cubicBezTo>
                      <a:pt x="729" y="216"/>
                      <a:pt x="866" y="344"/>
                      <a:pt x="974" y="500"/>
                    </a:cubicBezTo>
                    <a:cubicBezTo>
                      <a:pt x="1109" y="694"/>
                      <a:pt x="1200" y="932"/>
                      <a:pt x="1222" y="1099"/>
                    </a:cubicBezTo>
                    <a:cubicBezTo>
                      <a:pt x="1222" y="1099"/>
                      <a:pt x="1133" y="1325"/>
                      <a:pt x="918" y="1391"/>
                    </a:cubicBezTo>
                    <a:cubicBezTo>
                      <a:pt x="918" y="1391"/>
                      <a:pt x="896" y="717"/>
                      <a:pt x="648" y="405"/>
                    </a:cubicBezTo>
                    <a:cubicBezTo>
                      <a:pt x="648" y="405"/>
                      <a:pt x="342" y="0"/>
                      <a:pt x="37" y="466"/>
                    </a:cubicBezTo>
                    <a:lnTo>
                      <a:pt x="0" y="477"/>
                    </a:lnTo>
                    <a:close/>
                  </a:path>
                </a:pathLst>
              </a:custGeom>
              <a:solidFill>
                <a:srgbClr val="3B393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AU" sz="1463"/>
              </a:p>
            </p:txBody>
          </p:sp>
        </p:grpSp>
      </p:grpSp>
      <p:grpSp>
        <p:nvGrpSpPr>
          <p:cNvPr id="80" name="Group 18"/>
          <p:cNvGrpSpPr>
            <a:grpSpLocks/>
          </p:cNvGrpSpPr>
          <p:nvPr/>
        </p:nvGrpSpPr>
        <p:grpSpPr bwMode="auto">
          <a:xfrm>
            <a:off x="7804744" y="1936732"/>
            <a:ext cx="2653644" cy="1029554"/>
            <a:chOff x="1497052" y="1308408"/>
            <a:chExt cx="5635683" cy="761995"/>
          </a:xfrm>
        </p:grpSpPr>
        <p:sp>
          <p:nvSpPr>
            <p:cNvPr id="81" name="TextBox 55"/>
            <p:cNvSpPr txBox="1">
              <a:spLocks noChangeArrowheads="1"/>
            </p:cNvSpPr>
            <p:nvPr/>
          </p:nvSpPr>
          <p:spPr bwMode="auto">
            <a:xfrm>
              <a:off x="1497052" y="1308408"/>
              <a:ext cx="5635683" cy="407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Deep Learning Machine Comprehension </a:t>
              </a:r>
            </a:p>
          </p:txBody>
        </p:sp>
        <p:sp>
          <p:nvSpPr>
            <p:cNvPr id="82" name="TextBox 56"/>
            <p:cNvSpPr txBox="1">
              <a:spLocks noChangeArrowheads="1"/>
            </p:cNvSpPr>
            <p:nvPr/>
          </p:nvSpPr>
          <p:spPr bwMode="auto">
            <a:xfrm>
              <a:off x="2256612" y="1680345"/>
              <a:ext cx="4423118" cy="390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Cutting edge Natural Language Understanding model that leverages the power of deep neural networks, to enable machines to read and understand documents.</a:t>
              </a:r>
            </a:p>
          </p:txBody>
        </p:sp>
      </p:grpSp>
      <p:grpSp>
        <p:nvGrpSpPr>
          <p:cNvPr id="83" name="Group 19"/>
          <p:cNvGrpSpPr>
            <a:grpSpLocks/>
          </p:cNvGrpSpPr>
          <p:nvPr/>
        </p:nvGrpSpPr>
        <p:grpSpPr bwMode="auto">
          <a:xfrm>
            <a:off x="2306750" y="2166867"/>
            <a:ext cx="2009095" cy="808291"/>
            <a:chOff x="1001231" y="3039056"/>
            <a:chExt cx="1944435" cy="812930"/>
          </a:xfrm>
        </p:grpSpPr>
        <p:sp>
          <p:nvSpPr>
            <p:cNvPr id="84" name="TextBox 53"/>
            <p:cNvSpPr txBox="1">
              <a:spLocks noChangeArrowheads="1"/>
            </p:cNvSpPr>
            <p:nvPr/>
          </p:nvSpPr>
          <p:spPr bwMode="auto">
            <a:xfrm>
              <a:off x="1001231" y="3039056"/>
              <a:ext cx="1944435" cy="277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Cognitive Search </a:t>
              </a:r>
            </a:p>
          </p:txBody>
        </p:sp>
        <p:sp>
          <p:nvSpPr>
            <p:cNvPr id="85" name="TextBox 54"/>
            <p:cNvSpPr txBox="1">
              <a:spLocks noChangeArrowheads="1"/>
            </p:cNvSpPr>
            <p:nvPr/>
          </p:nvSpPr>
          <p:spPr bwMode="auto">
            <a:xfrm>
              <a:off x="1005727" y="3298420"/>
              <a:ext cx="1457698" cy="553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Cognitive search engine that can understand natural language and use metadata dynamically to search documents.</a:t>
              </a:r>
            </a:p>
          </p:txBody>
        </p:sp>
      </p:grpSp>
      <p:grpSp>
        <p:nvGrpSpPr>
          <p:cNvPr id="86" name="Group 20"/>
          <p:cNvGrpSpPr>
            <a:grpSpLocks/>
          </p:cNvGrpSpPr>
          <p:nvPr/>
        </p:nvGrpSpPr>
        <p:grpSpPr bwMode="auto">
          <a:xfrm>
            <a:off x="2403991" y="3976384"/>
            <a:ext cx="1541385" cy="1077455"/>
            <a:chOff x="1207600" y="2977908"/>
            <a:chExt cx="1493538" cy="578224"/>
          </a:xfrm>
        </p:grpSpPr>
        <p:sp>
          <p:nvSpPr>
            <p:cNvPr id="87" name="TextBox 51"/>
            <p:cNvSpPr txBox="1">
              <a:spLocks noChangeArrowheads="1"/>
            </p:cNvSpPr>
            <p:nvPr/>
          </p:nvSpPr>
          <p:spPr bwMode="auto">
            <a:xfrm>
              <a:off x="1213207" y="2977908"/>
              <a:ext cx="1260382" cy="362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Knowledge </a:t>
              </a:r>
              <a:r>
                <a:rPr lang="en-US" altLang="en-US" sz="1463" b="1" dirty="0" smtClean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Management System </a:t>
              </a:r>
              <a:endParaRPr lang="en-US" altLang="en-US" sz="1463" b="1" dirty="0">
                <a:solidFill>
                  <a:schemeClr val="tx2"/>
                </a:solidFill>
                <a:latin typeface="Univers for KPMG Cond" panose="020B0606020202020204" pitchFamily="34" charset="0"/>
              </a:endParaRPr>
            </a:p>
          </p:txBody>
        </p:sp>
        <p:sp>
          <p:nvSpPr>
            <p:cNvPr id="88" name="TextBox 52"/>
            <p:cNvSpPr txBox="1">
              <a:spLocks noChangeArrowheads="1"/>
            </p:cNvSpPr>
            <p:nvPr/>
          </p:nvSpPr>
          <p:spPr bwMode="auto">
            <a:xfrm>
              <a:off x="1207600" y="3344011"/>
              <a:ext cx="1493538" cy="212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Knowledge management system that can help the </a:t>
              </a:r>
              <a:r>
                <a:rPr lang="en-US" altLang="en-US" sz="894" dirty="0" err="1">
                  <a:latin typeface="Univers for KPMG Cond" panose="020B0606020202020204" pitchFamily="34" charset="0"/>
                </a:rPr>
                <a:t>organisation</a:t>
              </a:r>
              <a:r>
                <a:rPr lang="en-US" altLang="en-US" sz="894" dirty="0">
                  <a:latin typeface="Univers for KPMG Cond" panose="020B0606020202020204" pitchFamily="34" charset="0"/>
                </a:rPr>
                <a:t> to manage their business information.</a:t>
              </a:r>
            </a:p>
          </p:txBody>
        </p:sp>
      </p:grpSp>
      <p:grpSp>
        <p:nvGrpSpPr>
          <p:cNvPr id="89" name="Group 21"/>
          <p:cNvGrpSpPr>
            <a:grpSpLocks/>
          </p:cNvGrpSpPr>
          <p:nvPr/>
        </p:nvGrpSpPr>
        <p:grpSpPr bwMode="auto">
          <a:xfrm>
            <a:off x="5660980" y="862249"/>
            <a:ext cx="2911135" cy="590403"/>
            <a:chOff x="6052245" y="2463535"/>
            <a:chExt cx="1413700" cy="865401"/>
          </a:xfrm>
        </p:grpSpPr>
        <p:sp>
          <p:nvSpPr>
            <p:cNvPr id="90" name="TextBox 49"/>
            <p:cNvSpPr txBox="1">
              <a:spLocks noChangeArrowheads="1"/>
            </p:cNvSpPr>
            <p:nvPr/>
          </p:nvSpPr>
          <p:spPr bwMode="auto">
            <a:xfrm>
              <a:off x="6052245" y="2463535"/>
              <a:ext cx="1413700" cy="403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463" b="1" dirty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Chat Bot </a:t>
              </a:r>
            </a:p>
          </p:txBody>
        </p:sp>
        <p:sp>
          <p:nvSpPr>
            <p:cNvPr id="91" name="TextBox 50"/>
            <p:cNvSpPr txBox="1">
              <a:spLocks noChangeArrowheads="1"/>
            </p:cNvSpPr>
            <p:nvPr/>
          </p:nvSpPr>
          <p:spPr bwMode="auto">
            <a:xfrm>
              <a:off x="6364318" y="2522160"/>
              <a:ext cx="860801" cy="806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r" eaLnBrk="1" hangingPunct="1"/>
              <a:r>
                <a:rPr lang="en-US" altLang="en-US" sz="894" dirty="0">
                  <a:latin typeface="Univers for KPMG Cond" panose="020B0606020202020204" pitchFamily="34" charset="0"/>
                </a:rPr>
                <a:t>AI assistant that can understand human interactions, text or voice and provide conversational dialog to help users achieve their </a:t>
              </a:r>
              <a:r>
                <a:rPr lang="en-US" altLang="en-US" sz="894" dirty="0" smtClean="0">
                  <a:latin typeface="Univers for KPMG Cond" panose="020B0606020202020204" pitchFamily="34" charset="0"/>
                </a:rPr>
                <a:t>goals</a:t>
              </a:r>
              <a:r>
                <a:rPr lang="en-US" altLang="en-US" sz="894" dirty="0">
                  <a:latin typeface="Univers for KPMG Cond" panose="020B0606020202020204" pitchFamily="34" charset="0"/>
                </a:rPr>
                <a:t>.</a:t>
              </a:r>
              <a:r>
                <a:rPr lang="en-US" altLang="en-US" sz="894" dirty="0" smtClean="0">
                  <a:latin typeface="Univers for KPMG Cond" panose="020B0606020202020204" pitchFamily="34" charset="0"/>
                </a:rPr>
                <a:t> </a:t>
              </a:r>
              <a:endParaRPr lang="en-US" altLang="en-US" sz="894" dirty="0">
                <a:latin typeface="Univers for KPMG Cond" panose="020B0606020202020204" pitchFamily="34" charset="0"/>
              </a:endParaRPr>
            </a:p>
          </p:txBody>
        </p:sp>
      </p:grpSp>
      <p:grpSp>
        <p:nvGrpSpPr>
          <p:cNvPr id="92" name="Group 22"/>
          <p:cNvGrpSpPr>
            <a:grpSpLocks/>
          </p:cNvGrpSpPr>
          <p:nvPr/>
        </p:nvGrpSpPr>
        <p:grpSpPr bwMode="auto">
          <a:xfrm>
            <a:off x="8214053" y="4239161"/>
            <a:ext cx="2252803" cy="671533"/>
            <a:chOff x="6681294" y="2906021"/>
            <a:chExt cx="2180246" cy="674026"/>
          </a:xfrm>
        </p:grpSpPr>
        <p:sp>
          <p:nvSpPr>
            <p:cNvPr id="93" name="TextBox 47"/>
            <p:cNvSpPr txBox="1">
              <a:spLocks noChangeArrowheads="1"/>
            </p:cNvSpPr>
            <p:nvPr/>
          </p:nvSpPr>
          <p:spPr bwMode="auto">
            <a:xfrm>
              <a:off x="6691736" y="2906021"/>
              <a:ext cx="2112637" cy="225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463" b="1" dirty="0" smtClean="0">
                  <a:solidFill>
                    <a:schemeClr val="tx2"/>
                  </a:solidFill>
                  <a:latin typeface="Univers for KPMG Cond" panose="020B0606020202020204" pitchFamily="34" charset="0"/>
                </a:rPr>
                <a:t>Continuous Learning</a:t>
              </a:r>
              <a:endParaRPr lang="en-US" altLang="en-US" sz="1463" b="1" dirty="0">
                <a:solidFill>
                  <a:schemeClr val="tx2"/>
                </a:solidFill>
                <a:latin typeface="Univers for KPMG Cond" panose="020B0606020202020204" pitchFamily="34" charset="0"/>
              </a:endParaRPr>
            </a:p>
          </p:txBody>
        </p:sp>
        <p:sp>
          <p:nvSpPr>
            <p:cNvPr id="94" name="TextBox 48"/>
            <p:cNvSpPr txBox="1">
              <a:spLocks noChangeArrowheads="1"/>
            </p:cNvSpPr>
            <p:nvPr/>
          </p:nvSpPr>
          <p:spPr bwMode="auto">
            <a:xfrm>
              <a:off x="6681294" y="3165710"/>
              <a:ext cx="2180246" cy="414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894" dirty="0" smtClean="0">
                  <a:latin typeface="Univers for KPMG Cond" panose="020B0606020202020204" pitchFamily="34" charset="0"/>
                </a:rPr>
                <a:t>User feedback is recorded and used to update the deep learning model in real time. Response accuracy is improved with every click.</a:t>
              </a:r>
              <a:endParaRPr lang="en-US" altLang="en-US" sz="894" dirty="0">
                <a:latin typeface="Univers for KPMG Cond" panose="020B0606020202020204" pitchFamily="34" charset="0"/>
              </a:endParaRPr>
            </a:p>
          </p:txBody>
        </p:sp>
      </p:grpSp>
      <p:grpSp>
        <p:nvGrpSpPr>
          <p:cNvPr id="95" name="Group 94"/>
          <p:cNvGrpSpPr>
            <a:grpSpLocks noChangeAspect="1"/>
          </p:cNvGrpSpPr>
          <p:nvPr/>
        </p:nvGrpSpPr>
        <p:grpSpPr>
          <a:xfrm>
            <a:off x="6915822" y="5051381"/>
            <a:ext cx="218131" cy="261414"/>
            <a:chOff x="5653088" y="1797050"/>
            <a:chExt cx="298450" cy="371475"/>
          </a:xfrm>
          <a:solidFill>
            <a:schemeClr val="bg1"/>
          </a:solidFill>
        </p:grpSpPr>
        <p:sp>
          <p:nvSpPr>
            <p:cNvPr id="96" name="Freeform 84"/>
            <p:cNvSpPr>
              <a:spLocks/>
            </p:cNvSpPr>
            <p:nvPr/>
          </p:nvSpPr>
          <p:spPr bwMode="auto">
            <a:xfrm>
              <a:off x="5872163" y="1982788"/>
              <a:ext cx="79375" cy="107950"/>
            </a:xfrm>
            <a:custGeom>
              <a:avLst/>
              <a:gdLst>
                <a:gd name="T0" fmla="*/ 6 w 20"/>
                <a:gd name="T1" fmla="*/ 28 h 28"/>
                <a:gd name="T2" fmla="*/ 2 w 20"/>
                <a:gd name="T3" fmla="*/ 28 h 28"/>
                <a:gd name="T4" fmla="*/ 0 w 20"/>
                <a:gd name="T5" fmla="*/ 26 h 28"/>
                <a:gd name="T6" fmla="*/ 2 w 20"/>
                <a:gd name="T7" fmla="*/ 24 h 28"/>
                <a:gd name="T8" fmla="*/ 6 w 20"/>
                <a:gd name="T9" fmla="*/ 24 h 28"/>
                <a:gd name="T10" fmla="*/ 16 w 20"/>
                <a:gd name="T11" fmla="*/ 14 h 28"/>
                <a:gd name="T12" fmla="*/ 6 w 20"/>
                <a:gd name="T13" fmla="*/ 4 h 28"/>
                <a:gd name="T14" fmla="*/ 2 w 20"/>
                <a:gd name="T15" fmla="*/ 4 h 28"/>
                <a:gd name="T16" fmla="*/ 0 w 20"/>
                <a:gd name="T17" fmla="*/ 2 h 28"/>
                <a:gd name="T18" fmla="*/ 2 w 20"/>
                <a:gd name="T19" fmla="*/ 0 h 28"/>
                <a:gd name="T20" fmla="*/ 6 w 20"/>
                <a:gd name="T21" fmla="*/ 0 h 28"/>
                <a:gd name="T22" fmla="*/ 20 w 20"/>
                <a:gd name="T23" fmla="*/ 14 h 28"/>
                <a:gd name="T24" fmla="*/ 6 w 20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" h="28">
                  <a:moveTo>
                    <a:pt x="6" y="28"/>
                  </a:moveTo>
                  <a:cubicBezTo>
                    <a:pt x="2" y="28"/>
                    <a:pt x="2" y="28"/>
                    <a:pt x="2" y="28"/>
                  </a:cubicBezTo>
                  <a:cubicBezTo>
                    <a:pt x="1" y="28"/>
                    <a:pt x="0" y="27"/>
                    <a:pt x="0" y="26"/>
                  </a:cubicBezTo>
                  <a:cubicBezTo>
                    <a:pt x="0" y="25"/>
                    <a:pt x="1" y="24"/>
                    <a:pt x="2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12" y="24"/>
                    <a:pt x="16" y="20"/>
                    <a:pt x="16" y="14"/>
                  </a:cubicBezTo>
                  <a:cubicBezTo>
                    <a:pt x="16" y="8"/>
                    <a:pt x="12" y="4"/>
                    <a:pt x="6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4" y="0"/>
                    <a:pt x="20" y="6"/>
                    <a:pt x="20" y="14"/>
                  </a:cubicBezTo>
                  <a:cubicBezTo>
                    <a:pt x="20" y="22"/>
                    <a:pt x="14" y="28"/>
                    <a:pt x="6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Freeform 85"/>
            <p:cNvSpPr>
              <a:spLocks noEditPoints="1"/>
            </p:cNvSpPr>
            <p:nvPr/>
          </p:nvSpPr>
          <p:spPr bwMode="auto">
            <a:xfrm>
              <a:off x="5668963" y="1952625"/>
              <a:ext cx="219075" cy="215900"/>
            </a:xfrm>
            <a:custGeom>
              <a:avLst/>
              <a:gdLst>
                <a:gd name="T0" fmla="*/ 46 w 56"/>
                <a:gd name="T1" fmla="*/ 56 h 56"/>
                <a:gd name="T2" fmla="*/ 10 w 56"/>
                <a:gd name="T3" fmla="*/ 56 h 56"/>
                <a:gd name="T4" fmla="*/ 0 w 56"/>
                <a:gd name="T5" fmla="*/ 46 h 56"/>
                <a:gd name="T6" fmla="*/ 0 w 56"/>
                <a:gd name="T7" fmla="*/ 2 h 56"/>
                <a:gd name="T8" fmla="*/ 2 w 56"/>
                <a:gd name="T9" fmla="*/ 0 h 56"/>
                <a:gd name="T10" fmla="*/ 54 w 56"/>
                <a:gd name="T11" fmla="*/ 0 h 56"/>
                <a:gd name="T12" fmla="*/ 56 w 56"/>
                <a:gd name="T13" fmla="*/ 2 h 56"/>
                <a:gd name="T14" fmla="*/ 56 w 56"/>
                <a:gd name="T15" fmla="*/ 46 h 56"/>
                <a:gd name="T16" fmla="*/ 46 w 56"/>
                <a:gd name="T17" fmla="*/ 56 h 56"/>
                <a:gd name="T18" fmla="*/ 4 w 56"/>
                <a:gd name="T19" fmla="*/ 4 h 56"/>
                <a:gd name="T20" fmla="*/ 4 w 56"/>
                <a:gd name="T21" fmla="*/ 46 h 56"/>
                <a:gd name="T22" fmla="*/ 10 w 56"/>
                <a:gd name="T23" fmla="*/ 52 h 56"/>
                <a:gd name="T24" fmla="*/ 46 w 56"/>
                <a:gd name="T25" fmla="*/ 52 h 56"/>
                <a:gd name="T26" fmla="*/ 52 w 56"/>
                <a:gd name="T27" fmla="*/ 46 h 56"/>
                <a:gd name="T28" fmla="*/ 52 w 56"/>
                <a:gd name="T29" fmla="*/ 4 h 56"/>
                <a:gd name="T30" fmla="*/ 4 w 56"/>
                <a:gd name="T31" fmla="*/ 4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56">
                  <a:moveTo>
                    <a:pt x="46" y="56"/>
                  </a:moveTo>
                  <a:cubicBezTo>
                    <a:pt x="10" y="56"/>
                    <a:pt x="10" y="56"/>
                    <a:pt x="10" y="56"/>
                  </a:cubicBezTo>
                  <a:cubicBezTo>
                    <a:pt x="4" y="56"/>
                    <a:pt x="0" y="52"/>
                    <a:pt x="0" y="4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1"/>
                    <a:pt x="56" y="2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52"/>
                    <a:pt x="52" y="56"/>
                    <a:pt x="46" y="56"/>
                  </a:cubicBezTo>
                  <a:close/>
                  <a:moveTo>
                    <a:pt x="4" y="4"/>
                  </a:moveTo>
                  <a:cubicBezTo>
                    <a:pt x="4" y="46"/>
                    <a:pt x="4" y="46"/>
                    <a:pt x="4" y="46"/>
                  </a:cubicBezTo>
                  <a:cubicBezTo>
                    <a:pt x="4" y="49"/>
                    <a:pt x="7" y="52"/>
                    <a:pt x="10" y="52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9" y="52"/>
                    <a:pt x="52" y="49"/>
                    <a:pt x="52" y="46"/>
                  </a:cubicBezTo>
                  <a:cubicBezTo>
                    <a:pt x="52" y="4"/>
                    <a:pt x="52" y="4"/>
                    <a:pt x="52" y="4"/>
                  </a:cubicBezTo>
                  <a:lnTo>
                    <a:pt x="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Freeform 86"/>
            <p:cNvSpPr>
              <a:spLocks noEditPoints="1"/>
            </p:cNvSpPr>
            <p:nvPr/>
          </p:nvSpPr>
          <p:spPr bwMode="auto">
            <a:xfrm>
              <a:off x="5853113" y="1797050"/>
              <a:ext cx="74612" cy="104775"/>
            </a:xfrm>
            <a:custGeom>
              <a:avLst/>
              <a:gdLst>
                <a:gd name="T0" fmla="*/ 10 w 19"/>
                <a:gd name="T1" fmla="*/ 27 h 27"/>
                <a:gd name="T2" fmla="*/ 10 w 19"/>
                <a:gd name="T3" fmla="*/ 27 h 27"/>
                <a:gd name="T4" fmla="*/ 6 w 19"/>
                <a:gd name="T5" fmla="*/ 26 h 27"/>
                <a:gd name="T6" fmla="*/ 1 w 19"/>
                <a:gd name="T7" fmla="*/ 21 h 27"/>
                <a:gd name="T8" fmla="*/ 1 w 19"/>
                <a:gd name="T9" fmla="*/ 15 h 27"/>
                <a:gd name="T10" fmla="*/ 3 w 19"/>
                <a:gd name="T11" fmla="*/ 11 h 27"/>
                <a:gd name="T12" fmla="*/ 5 w 19"/>
                <a:gd name="T13" fmla="*/ 3 h 27"/>
                <a:gd name="T14" fmla="*/ 5 w 19"/>
                <a:gd name="T15" fmla="*/ 1 h 27"/>
                <a:gd name="T16" fmla="*/ 7 w 19"/>
                <a:gd name="T17" fmla="*/ 0 h 27"/>
                <a:gd name="T18" fmla="*/ 19 w 19"/>
                <a:gd name="T19" fmla="*/ 17 h 27"/>
                <a:gd name="T20" fmla="*/ 10 w 19"/>
                <a:gd name="T21" fmla="*/ 27 h 27"/>
                <a:gd name="T22" fmla="*/ 10 w 19"/>
                <a:gd name="T23" fmla="*/ 6 h 27"/>
                <a:gd name="T24" fmla="*/ 7 w 19"/>
                <a:gd name="T25" fmla="*/ 14 h 27"/>
                <a:gd name="T26" fmla="*/ 5 w 19"/>
                <a:gd name="T27" fmla="*/ 16 h 27"/>
                <a:gd name="T28" fmla="*/ 5 w 19"/>
                <a:gd name="T29" fmla="*/ 20 h 27"/>
                <a:gd name="T30" fmla="*/ 7 w 19"/>
                <a:gd name="T31" fmla="*/ 22 h 27"/>
                <a:gd name="T32" fmla="*/ 10 w 19"/>
                <a:gd name="T33" fmla="*/ 23 h 27"/>
                <a:gd name="T34" fmla="*/ 15 w 19"/>
                <a:gd name="T35" fmla="*/ 17 h 27"/>
                <a:gd name="T36" fmla="*/ 10 w 19"/>
                <a:gd name="T37" fmla="*/ 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9" h="27">
                  <a:moveTo>
                    <a:pt x="10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9" y="27"/>
                    <a:pt x="7" y="26"/>
                    <a:pt x="6" y="26"/>
                  </a:cubicBezTo>
                  <a:cubicBezTo>
                    <a:pt x="4" y="25"/>
                    <a:pt x="2" y="23"/>
                    <a:pt x="1" y="21"/>
                  </a:cubicBezTo>
                  <a:cubicBezTo>
                    <a:pt x="0" y="19"/>
                    <a:pt x="0" y="17"/>
                    <a:pt x="1" y="15"/>
                  </a:cubicBezTo>
                  <a:cubicBezTo>
                    <a:pt x="2" y="13"/>
                    <a:pt x="3" y="12"/>
                    <a:pt x="3" y="11"/>
                  </a:cubicBezTo>
                  <a:cubicBezTo>
                    <a:pt x="6" y="8"/>
                    <a:pt x="7" y="7"/>
                    <a:pt x="5" y="3"/>
                  </a:cubicBezTo>
                  <a:cubicBezTo>
                    <a:pt x="4" y="3"/>
                    <a:pt x="4" y="2"/>
                    <a:pt x="5" y="1"/>
                  </a:cubicBezTo>
                  <a:cubicBezTo>
                    <a:pt x="5" y="0"/>
                    <a:pt x="6" y="0"/>
                    <a:pt x="7" y="0"/>
                  </a:cubicBezTo>
                  <a:cubicBezTo>
                    <a:pt x="16" y="3"/>
                    <a:pt x="19" y="11"/>
                    <a:pt x="19" y="17"/>
                  </a:cubicBezTo>
                  <a:cubicBezTo>
                    <a:pt x="18" y="23"/>
                    <a:pt x="14" y="27"/>
                    <a:pt x="10" y="27"/>
                  </a:cubicBezTo>
                  <a:close/>
                  <a:moveTo>
                    <a:pt x="10" y="6"/>
                  </a:moveTo>
                  <a:cubicBezTo>
                    <a:pt x="10" y="9"/>
                    <a:pt x="8" y="12"/>
                    <a:pt x="7" y="14"/>
                  </a:cubicBezTo>
                  <a:cubicBezTo>
                    <a:pt x="6" y="15"/>
                    <a:pt x="5" y="15"/>
                    <a:pt x="5" y="16"/>
                  </a:cubicBezTo>
                  <a:cubicBezTo>
                    <a:pt x="4" y="17"/>
                    <a:pt x="4" y="19"/>
                    <a:pt x="5" y="20"/>
                  </a:cubicBezTo>
                  <a:cubicBezTo>
                    <a:pt x="5" y="21"/>
                    <a:pt x="6" y="22"/>
                    <a:pt x="7" y="22"/>
                  </a:cubicBezTo>
                  <a:cubicBezTo>
                    <a:pt x="8" y="22"/>
                    <a:pt x="9" y="23"/>
                    <a:pt x="10" y="23"/>
                  </a:cubicBezTo>
                  <a:cubicBezTo>
                    <a:pt x="13" y="23"/>
                    <a:pt x="14" y="19"/>
                    <a:pt x="15" y="17"/>
                  </a:cubicBezTo>
                  <a:cubicBezTo>
                    <a:pt x="15" y="13"/>
                    <a:pt x="14" y="8"/>
                    <a:pt x="10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Freeform 87"/>
            <p:cNvSpPr>
              <a:spLocks/>
            </p:cNvSpPr>
            <p:nvPr/>
          </p:nvSpPr>
          <p:spPr bwMode="auto">
            <a:xfrm>
              <a:off x="5826125" y="1878013"/>
              <a:ext cx="58737" cy="88900"/>
            </a:xfrm>
            <a:custGeom>
              <a:avLst/>
              <a:gdLst>
                <a:gd name="T0" fmla="*/ 2 w 15"/>
                <a:gd name="T1" fmla="*/ 23 h 23"/>
                <a:gd name="T2" fmla="*/ 1 w 15"/>
                <a:gd name="T3" fmla="*/ 23 h 23"/>
                <a:gd name="T4" fmla="*/ 0 w 15"/>
                <a:gd name="T5" fmla="*/ 20 h 23"/>
                <a:gd name="T6" fmla="*/ 11 w 15"/>
                <a:gd name="T7" fmla="*/ 1 h 23"/>
                <a:gd name="T8" fmla="*/ 13 w 15"/>
                <a:gd name="T9" fmla="*/ 1 h 23"/>
                <a:gd name="T10" fmla="*/ 14 w 15"/>
                <a:gd name="T11" fmla="*/ 3 h 23"/>
                <a:gd name="T12" fmla="*/ 4 w 15"/>
                <a:gd name="T13" fmla="*/ 22 h 23"/>
                <a:gd name="T14" fmla="*/ 2 w 15"/>
                <a:gd name="T15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23">
                  <a:moveTo>
                    <a:pt x="2" y="23"/>
                  </a:moveTo>
                  <a:cubicBezTo>
                    <a:pt x="2" y="23"/>
                    <a:pt x="1" y="23"/>
                    <a:pt x="1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2" y="0"/>
                    <a:pt x="13" y="1"/>
                  </a:cubicBezTo>
                  <a:cubicBezTo>
                    <a:pt x="14" y="1"/>
                    <a:pt x="15" y="2"/>
                    <a:pt x="14" y="3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3" y="23"/>
                    <a:pt x="3" y="23"/>
                    <a:pt x="2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Freeform 88"/>
            <p:cNvSpPr>
              <a:spLocks/>
            </p:cNvSpPr>
            <p:nvPr/>
          </p:nvSpPr>
          <p:spPr bwMode="auto">
            <a:xfrm>
              <a:off x="5856288" y="1882775"/>
              <a:ext cx="44450" cy="84138"/>
            </a:xfrm>
            <a:custGeom>
              <a:avLst/>
              <a:gdLst>
                <a:gd name="T0" fmla="*/ 2 w 11"/>
                <a:gd name="T1" fmla="*/ 22 h 22"/>
                <a:gd name="T2" fmla="*/ 1 w 11"/>
                <a:gd name="T3" fmla="*/ 22 h 22"/>
                <a:gd name="T4" fmla="*/ 0 w 11"/>
                <a:gd name="T5" fmla="*/ 19 h 22"/>
                <a:gd name="T6" fmla="*/ 7 w 11"/>
                <a:gd name="T7" fmla="*/ 2 h 22"/>
                <a:gd name="T8" fmla="*/ 9 w 11"/>
                <a:gd name="T9" fmla="*/ 1 h 22"/>
                <a:gd name="T10" fmla="*/ 10 w 11"/>
                <a:gd name="T11" fmla="*/ 3 h 22"/>
                <a:gd name="T12" fmla="*/ 4 w 11"/>
                <a:gd name="T13" fmla="*/ 21 h 22"/>
                <a:gd name="T14" fmla="*/ 2 w 11"/>
                <a:gd name="T1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" h="22">
                  <a:moveTo>
                    <a:pt x="2" y="22"/>
                  </a:moveTo>
                  <a:cubicBezTo>
                    <a:pt x="2" y="22"/>
                    <a:pt x="2" y="22"/>
                    <a:pt x="1" y="22"/>
                  </a:cubicBezTo>
                  <a:cubicBezTo>
                    <a:pt x="0" y="21"/>
                    <a:pt x="0" y="20"/>
                    <a:pt x="0" y="1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8" y="0"/>
                    <a:pt x="9" y="1"/>
                  </a:cubicBezTo>
                  <a:cubicBezTo>
                    <a:pt x="10" y="1"/>
                    <a:pt x="11" y="2"/>
                    <a:pt x="10" y="3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4" y="22"/>
                    <a:pt x="3" y="22"/>
                    <a:pt x="2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Freeform 89"/>
            <p:cNvSpPr>
              <a:spLocks noEditPoints="1"/>
            </p:cNvSpPr>
            <p:nvPr/>
          </p:nvSpPr>
          <p:spPr bwMode="auto">
            <a:xfrm>
              <a:off x="5653088" y="1858963"/>
              <a:ext cx="93662" cy="107950"/>
            </a:xfrm>
            <a:custGeom>
              <a:avLst/>
              <a:gdLst>
                <a:gd name="T0" fmla="*/ 22 w 24"/>
                <a:gd name="T1" fmla="*/ 28 h 28"/>
                <a:gd name="T2" fmla="*/ 22 w 24"/>
                <a:gd name="T3" fmla="*/ 28 h 28"/>
                <a:gd name="T4" fmla="*/ 10 w 24"/>
                <a:gd name="T5" fmla="*/ 28 h 28"/>
                <a:gd name="T6" fmla="*/ 8 w 24"/>
                <a:gd name="T7" fmla="*/ 27 h 28"/>
                <a:gd name="T8" fmla="*/ 2 w 24"/>
                <a:gd name="T9" fmla="*/ 15 h 28"/>
                <a:gd name="T10" fmla="*/ 2 w 24"/>
                <a:gd name="T11" fmla="*/ 14 h 28"/>
                <a:gd name="T12" fmla="*/ 0 w 24"/>
                <a:gd name="T13" fmla="*/ 2 h 28"/>
                <a:gd name="T14" fmla="*/ 1 w 24"/>
                <a:gd name="T15" fmla="*/ 0 h 28"/>
                <a:gd name="T16" fmla="*/ 3 w 24"/>
                <a:gd name="T17" fmla="*/ 0 h 28"/>
                <a:gd name="T18" fmla="*/ 13 w 24"/>
                <a:gd name="T19" fmla="*/ 6 h 28"/>
                <a:gd name="T20" fmla="*/ 14 w 24"/>
                <a:gd name="T21" fmla="*/ 7 h 28"/>
                <a:gd name="T22" fmla="*/ 24 w 24"/>
                <a:gd name="T23" fmla="*/ 25 h 28"/>
                <a:gd name="T24" fmla="*/ 24 w 24"/>
                <a:gd name="T25" fmla="*/ 26 h 28"/>
                <a:gd name="T26" fmla="*/ 22 w 24"/>
                <a:gd name="T27" fmla="*/ 28 h 28"/>
                <a:gd name="T28" fmla="*/ 11 w 24"/>
                <a:gd name="T29" fmla="*/ 24 h 28"/>
                <a:gd name="T30" fmla="*/ 19 w 24"/>
                <a:gd name="T31" fmla="*/ 24 h 28"/>
                <a:gd name="T32" fmla="*/ 11 w 24"/>
                <a:gd name="T33" fmla="*/ 9 h 28"/>
                <a:gd name="T34" fmla="*/ 5 w 24"/>
                <a:gd name="T35" fmla="*/ 6 h 28"/>
                <a:gd name="T36" fmla="*/ 6 w 24"/>
                <a:gd name="T37" fmla="*/ 13 h 28"/>
                <a:gd name="T38" fmla="*/ 11 w 24"/>
                <a:gd name="T39" fmla="*/ 2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4" h="28">
                  <a:moveTo>
                    <a:pt x="22" y="28"/>
                  </a:moveTo>
                  <a:cubicBezTo>
                    <a:pt x="22" y="28"/>
                    <a:pt x="22" y="28"/>
                    <a:pt x="22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8"/>
                    <a:pt x="9" y="28"/>
                    <a:pt x="8" y="27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6"/>
                    <a:pt x="14" y="7"/>
                    <a:pt x="14" y="7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4" y="26"/>
                  </a:cubicBezTo>
                  <a:cubicBezTo>
                    <a:pt x="24" y="27"/>
                    <a:pt x="23" y="28"/>
                    <a:pt x="22" y="28"/>
                  </a:cubicBezTo>
                  <a:close/>
                  <a:moveTo>
                    <a:pt x="11" y="24"/>
                  </a:moveTo>
                  <a:cubicBezTo>
                    <a:pt x="19" y="24"/>
                    <a:pt x="19" y="24"/>
                    <a:pt x="19" y="24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6" y="13"/>
                    <a:pt x="6" y="13"/>
                    <a:pt x="6" y="13"/>
                  </a:cubicBezTo>
                  <a:lnTo>
                    <a:pt x="1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Freeform 90"/>
            <p:cNvSpPr>
              <a:spLocks/>
            </p:cNvSpPr>
            <p:nvPr/>
          </p:nvSpPr>
          <p:spPr bwMode="auto">
            <a:xfrm>
              <a:off x="5661025" y="1882775"/>
              <a:ext cx="47625" cy="38100"/>
            </a:xfrm>
            <a:custGeom>
              <a:avLst/>
              <a:gdLst>
                <a:gd name="T0" fmla="*/ 2 w 12"/>
                <a:gd name="T1" fmla="*/ 10 h 10"/>
                <a:gd name="T2" fmla="*/ 0 w 12"/>
                <a:gd name="T3" fmla="*/ 9 h 10"/>
                <a:gd name="T4" fmla="*/ 1 w 12"/>
                <a:gd name="T5" fmla="*/ 6 h 10"/>
                <a:gd name="T6" fmla="*/ 9 w 12"/>
                <a:gd name="T7" fmla="*/ 0 h 10"/>
                <a:gd name="T8" fmla="*/ 12 w 12"/>
                <a:gd name="T9" fmla="*/ 1 h 10"/>
                <a:gd name="T10" fmla="*/ 11 w 12"/>
                <a:gd name="T11" fmla="*/ 4 h 10"/>
                <a:gd name="T12" fmla="*/ 3 w 12"/>
                <a:gd name="T13" fmla="*/ 10 h 10"/>
                <a:gd name="T14" fmla="*/ 2 w 12"/>
                <a:gd name="T15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0">
                  <a:moveTo>
                    <a:pt x="2" y="10"/>
                  </a:moveTo>
                  <a:cubicBezTo>
                    <a:pt x="1" y="10"/>
                    <a:pt x="1" y="10"/>
                    <a:pt x="0" y="9"/>
                  </a:cubicBezTo>
                  <a:cubicBezTo>
                    <a:pt x="0" y="8"/>
                    <a:pt x="0" y="7"/>
                    <a:pt x="1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1" y="0"/>
                    <a:pt x="12" y="1"/>
                  </a:cubicBezTo>
                  <a:cubicBezTo>
                    <a:pt x="12" y="2"/>
                    <a:pt x="12" y="3"/>
                    <a:pt x="11" y="4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3" y="10"/>
                    <a:pt x="2" y="10"/>
                    <a:pt x="2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Freeform 91"/>
            <p:cNvSpPr>
              <a:spLocks noEditPoints="1"/>
            </p:cNvSpPr>
            <p:nvPr/>
          </p:nvSpPr>
          <p:spPr bwMode="auto">
            <a:xfrm>
              <a:off x="5746750" y="1797050"/>
              <a:ext cx="79375" cy="169863"/>
            </a:xfrm>
            <a:custGeom>
              <a:avLst/>
              <a:gdLst>
                <a:gd name="T0" fmla="*/ 18 w 20"/>
                <a:gd name="T1" fmla="*/ 44 h 44"/>
                <a:gd name="T2" fmla="*/ 2 w 20"/>
                <a:gd name="T3" fmla="*/ 44 h 44"/>
                <a:gd name="T4" fmla="*/ 0 w 20"/>
                <a:gd name="T5" fmla="*/ 42 h 44"/>
                <a:gd name="T6" fmla="*/ 0 w 20"/>
                <a:gd name="T7" fmla="*/ 2 h 44"/>
                <a:gd name="T8" fmla="*/ 2 w 20"/>
                <a:gd name="T9" fmla="*/ 0 h 44"/>
                <a:gd name="T10" fmla="*/ 18 w 20"/>
                <a:gd name="T11" fmla="*/ 0 h 44"/>
                <a:gd name="T12" fmla="*/ 20 w 20"/>
                <a:gd name="T13" fmla="*/ 2 h 44"/>
                <a:gd name="T14" fmla="*/ 20 w 20"/>
                <a:gd name="T15" fmla="*/ 42 h 44"/>
                <a:gd name="T16" fmla="*/ 18 w 20"/>
                <a:gd name="T17" fmla="*/ 44 h 44"/>
                <a:gd name="T18" fmla="*/ 4 w 20"/>
                <a:gd name="T19" fmla="*/ 40 h 44"/>
                <a:gd name="T20" fmla="*/ 16 w 20"/>
                <a:gd name="T21" fmla="*/ 40 h 44"/>
                <a:gd name="T22" fmla="*/ 16 w 20"/>
                <a:gd name="T23" fmla="*/ 4 h 44"/>
                <a:gd name="T24" fmla="*/ 4 w 20"/>
                <a:gd name="T25" fmla="*/ 4 h 44"/>
                <a:gd name="T26" fmla="*/ 4 w 20"/>
                <a:gd name="T27" fmla="*/ 4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44">
                  <a:moveTo>
                    <a:pt x="18" y="44"/>
                  </a:moveTo>
                  <a:cubicBezTo>
                    <a:pt x="2" y="44"/>
                    <a:pt x="2" y="44"/>
                    <a:pt x="2" y="44"/>
                  </a:cubicBezTo>
                  <a:cubicBezTo>
                    <a:pt x="1" y="44"/>
                    <a:pt x="0" y="43"/>
                    <a:pt x="0" y="4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1"/>
                    <a:pt x="20" y="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19" y="44"/>
                    <a:pt x="18" y="44"/>
                  </a:cubicBezTo>
                  <a:close/>
                  <a:moveTo>
                    <a:pt x="4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4" name="Freeform 92"/>
            <p:cNvSpPr>
              <a:spLocks/>
            </p:cNvSpPr>
            <p:nvPr/>
          </p:nvSpPr>
          <p:spPr bwMode="auto">
            <a:xfrm>
              <a:off x="5778500" y="1828800"/>
              <a:ext cx="47625" cy="14288"/>
            </a:xfrm>
            <a:custGeom>
              <a:avLst/>
              <a:gdLst>
                <a:gd name="T0" fmla="*/ 10 w 12"/>
                <a:gd name="T1" fmla="*/ 4 h 4"/>
                <a:gd name="T2" fmla="*/ 2 w 12"/>
                <a:gd name="T3" fmla="*/ 4 h 4"/>
                <a:gd name="T4" fmla="*/ 0 w 12"/>
                <a:gd name="T5" fmla="*/ 2 h 4"/>
                <a:gd name="T6" fmla="*/ 2 w 12"/>
                <a:gd name="T7" fmla="*/ 0 h 4"/>
                <a:gd name="T8" fmla="*/ 10 w 12"/>
                <a:gd name="T9" fmla="*/ 0 h 4"/>
                <a:gd name="T10" fmla="*/ 12 w 12"/>
                <a:gd name="T11" fmla="*/ 2 h 4"/>
                <a:gd name="T12" fmla="*/ 10 w 1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">
                  <a:moveTo>
                    <a:pt x="1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cubicBezTo>
                    <a:pt x="12" y="3"/>
                    <a:pt x="11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5" name="Freeform 93"/>
            <p:cNvSpPr>
              <a:spLocks/>
            </p:cNvSpPr>
            <p:nvPr/>
          </p:nvSpPr>
          <p:spPr bwMode="auto">
            <a:xfrm>
              <a:off x="5794375" y="1858963"/>
              <a:ext cx="31750" cy="15875"/>
            </a:xfrm>
            <a:custGeom>
              <a:avLst/>
              <a:gdLst>
                <a:gd name="T0" fmla="*/ 6 w 8"/>
                <a:gd name="T1" fmla="*/ 4 h 4"/>
                <a:gd name="T2" fmla="*/ 2 w 8"/>
                <a:gd name="T3" fmla="*/ 4 h 4"/>
                <a:gd name="T4" fmla="*/ 0 w 8"/>
                <a:gd name="T5" fmla="*/ 2 h 4"/>
                <a:gd name="T6" fmla="*/ 2 w 8"/>
                <a:gd name="T7" fmla="*/ 0 h 4"/>
                <a:gd name="T8" fmla="*/ 6 w 8"/>
                <a:gd name="T9" fmla="*/ 0 h 4"/>
                <a:gd name="T10" fmla="*/ 8 w 8"/>
                <a:gd name="T11" fmla="*/ 2 h 4"/>
                <a:gd name="T12" fmla="*/ 6 w 8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1"/>
                    <a:pt x="8" y="2"/>
                  </a:cubicBezTo>
                  <a:cubicBezTo>
                    <a:pt x="8" y="3"/>
                    <a:pt x="7" y="4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Freeform 94"/>
            <p:cNvSpPr>
              <a:spLocks/>
            </p:cNvSpPr>
            <p:nvPr/>
          </p:nvSpPr>
          <p:spPr bwMode="auto">
            <a:xfrm>
              <a:off x="5778500" y="1890713"/>
              <a:ext cx="47625" cy="14288"/>
            </a:xfrm>
            <a:custGeom>
              <a:avLst/>
              <a:gdLst>
                <a:gd name="T0" fmla="*/ 10 w 12"/>
                <a:gd name="T1" fmla="*/ 4 h 4"/>
                <a:gd name="T2" fmla="*/ 2 w 12"/>
                <a:gd name="T3" fmla="*/ 4 h 4"/>
                <a:gd name="T4" fmla="*/ 0 w 12"/>
                <a:gd name="T5" fmla="*/ 2 h 4"/>
                <a:gd name="T6" fmla="*/ 2 w 12"/>
                <a:gd name="T7" fmla="*/ 0 h 4"/>
                <a:gd name="T8" fmla="*/ 10 w 12"/>
                <a:gd name="T9" fmla="*/ 0 h 4"/>
                <a:gd name="T10" fmla="*/ 12 w 12"/>
                <a:gd name="T11" fmla="*/ 2 h 4"/>
                <a:gd name="T12" fmla="*/ 10 w 1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">
                  <a:moveTo>
                    <a:pt x="1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cubicBezTo>
                    <a:pt x="12" y="3"/>
                    <a:pt x="11" y="4"/>
                    <a:pt x="1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7" name="Freeform 95"/>
            <p:cNvSpPr>
              <a:spLocks/>
            </p:cNvSpPr>
            <p:nvPr/>
          </p:nvSpPr>
          <p:spPr bwMode="auto">
            <a:xfrm>
              <a:off x="5794375" y="1920875"/>
              <a:ext cx="31750" cy="15875"/>
            </a:xfrm>
            <a:custGeom>
              <a:avLst/>
              <a:gdLst>
                <a:gd name="T0" fmla="*/ 6 w 8"/>
                <a:gd name="T1" fmla="*/ 4 h 4"/>
                <a:gd name="T2" fmla="*/ 2 w 8"/>
                <a:gd name="T3" fmla="*/ 4 h 4"/>
                <a:gd name="T4" fmla="*/ 0 w 8"/>
                <a:gd name="T5" fmla="*/ 2 h 4"/>
                <a:gd name="T6" fmla="*/ 2 w 8"/>
                <a:gd name="T7" fmla="*/ 0 h 4"/>
                <a:gd name="T8" fmla="*/ 6 w 8"/>
                <a:gd name="T9" fmla="*/ 0 h 4"/>
                <a:gd name="T10" fmla="*/ 8 w 8"/>
                <a:gd name="T11" fmla="*/ 2 h 4"/>
                <a:gd name="T12" fmla="*/ 6 w 8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">
                  <a:moveTo>
                    <a:pt x="6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0"/>
                    <a:pt x="8" y="1"/>
                    <a:pt x="8" y="2"/>
                  </a:cubicBezTo>
                  <a:cubicBezTo>
                    <a:pt x="8" y="3"/>
                    <a:pt x="7" y="4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08" name="Group 107"/>
          <p:cNvGrpSpPr>
            <a:grpSpLocks noChangeAspect="1"/>
          </p:cNvGrpSpPr>
          <p:nvPr/>
        </p:nvGrpSpPr>
        <p:grpSpPr>
          <a:xfrm>
            <a:off x="4622509" y="4926679"/>
            <a:ext cx="260347" cy="250671"/>
            <a:chOff x="2182813" y="2376488"/>
            <a:chExt cx="371476" cy="371475"/>
          </a:xfrm>
          <a:solidFill>
            <a:schemeClr val="bg1"/>
          </a:solidFill>
        </p:grpSpPr>
        <p:sp>
          <p:nvSpPr>
            <p:cNvPr id="109" name="Freeform 101"/>
            <p:cNvSpPr>
              <a:spLocks/>
            </p:cNvSpPr>
            <p:nvPr/>
          </p:nvSpPr>
          <p:spPr bwMode="auto">
            <a:xfrm>
              <a:off x="2182813" y="2376488"/>
              <a:ext cx="371475" cy="371475"/>
            </a:xfrm>
            <a:custGeom>
              <a:avLst/>
              <a:gdLst>
                <a:gd name="T0" fmla="*/ 42 w 96"/>
                <a:gd name="T1" fmla="*/ 96 h 96"/>
                <a:gd name="T2" fmla="*/ 40 w 96"/>
                <a:gd name="T3" fmla="*/ 83 h 96"/>
                <a:gd name="T4" fmla="*/ 23 w 96"/>
                <a:gd name="T5" fmla="*/ 88 h 96"/>
                <a:gd name="T6" fmla="*/ 8 w 96"/>
                <a:gd name="T7" fmla="*/ 76 h 96"/>
                <a:gd name="T8" fmla="*/ 8 w 96"/>
                <a:gd name="T9" fmla="*/ 73 h 96"/>
                <a:gd name="T10" fmla="*/ 13 w 96"/>
                <a:gd name="T11" fmla="*/ 56 h 96"/>
                <a:gd name="T12" fmla="*/ 0 w 96"/>
                <a:gd name="T13" fmla="*/ 54 h 96"/>
                <a:gd name="T14" fmla="*/ 2 w 96"/>
                <a:gd name="T15" fmla="*/ 40 h 96"/>
                <a:gd name="T16" fmla="*/ 17 w 96"/>
                <a:gd name="T17" fmla="*/ 31 h 96"/>
                <a:gd name="T18" fmla="*/ 8 w 96"/>
                <a:gd name="T19" fmla="*/ 21 h 96"/>
                <a:gd name="T20" fmla="*/ 20 w 96"/>
                <a:gd name="T21" fmla="*/ 8 h 96"/>
                <a:gd name="T22" fmla="*/ 31 w 96"/>
                <a:gd name="T23" fmla="*/ 17 h 96"/>
                <a:gd name="T24" fmla="*/ 40 w 96"/>
                <a:gd name="T25" fmla="*/ 2 h 96"/>
                <a:gd name="T26" fmla="*/ 54 w 96"/>
                <a:gd name="T27" fmla="*/ 0 h 96"/>
                <a:gd name="T28" fmla="*/ 56 w 96"/>
                <a:gd name="T29" fmla="*/ 13 h 96"/>
                <a:gd name="T30" fmla="*/ 67 w 96"/>
                <a:gd name="T31" fmla="*/ 20 h 96"/>
                <a:gd name="T32" fmla="*/ 54 w 96"/>
                <a:gd name="T33" fmla="*/ 17 h 96"/>
                <a:gd name="T34" fmla="*/ 52 w 96"/>
                <a:gd name="T35" fmla="*/ 4 h 96"/>
                <a:gd name="T36" fmla="*/ 44 w 96"/>
                <a:gd name="T37" fmla="*/ 15 h 96"/>
                <a:gd name="T38" fmla="*/ 31 w 96"/>
                <a:gd name="T39" fmla="*/ 21 h 96"/>
                <a:gd name="T40" fmla="*/ 21 w 96"/>
                <a:gd name="T41" fmla="*/ 13 h 96"/>
                <a:gd name="T42" fmla="*/ 20 w 96"/>
                <a:gd name="T43" fmla="*/ 29 h 96"/>
                <a:gd name="T44" fmla="*/ 17 w 96"/>
                <a:gd name="T45" fmla="*/ 42 h 96"/>
                <a:gd name="T46" fmla="*/ 4 w 96"/>
                <a:gd name="T47" fmla="*/ 44 h 96"/>
                <a:gd name="T48" fmla="*/ 15 w 96"/>
                <a:gd name="T49" fmla="*/ 52 h 96"/>
                <a:gd name="T50" fmla="*/ 21 w 96"/>
                <a:gd name="T51" fmla="*/ 65 h 96"/>
                <a:gd name="T52" fmla="*/ 13 w 96"/>
                <a:gd name="T53" fmla="*/ 75 h 96"/>
                <a:gd name="T54" fmla="*/ 29 w 96"/>
                <a:gd name="T55" fmla="*/ 76 h 96"/>
                <a:gd name="T56" fmla="*/ 42 w 96"/>
                <a:gd name="T57" fmla="*/ 79 h 96"/>
                <a:gd name="T58" fmla="*/ 44 w 96"/>
                <a:gd name="T59" fmla="*/ 92 h 96"/>
                <a:gd name="T60" fmla="*/ 52 w 96"/>
                <a:gd name="T61" fmla="*/ 81 h 96"/>
                <a:gd name="T62" fmla="*/ 65 w 96"/>
                <a:gd name="T63" fmla="*/ 75 h 96"/>
                <a:gd name="T64" fmla="*/ 75 w 96"/>
                <a:gd name="T65" fmla="*/ 83 h 96"/>
                <a:gd name="T66" fmla="*/ 76 w 96"/>
                <a:gd name="T67" fmla="*/ 67 h 96"/>
                <a:gd name="T68" fmla="*/ 79 w 96"/>
                <a:gd name="T69" fmla="*/ 54 h 96"/>
                <a:gd name="T70" fmla="*/ 92 w 96"/>
                <a:gd name="T71" fmla="*/ 52 h 96"/>
                <a:gd name="T72" fmla="*/ 81 w 96"/>
                <a:gd name="T73" fmla="*/ 44 h 96"/>
                <a:gd name="T74" fmla="*/ 77 w 96"/>
                <a:gd name="T75" fmla="*/ 36 h 96"/>
                <a:gd name="T76" fmla="*/ 81 w 96"/>
                <a:gd name="T77" fmla="*/ 34 h 96"/>
                <a:gd name="T78" fmla="*/ 94 w 96"/>
                <a:gd name="T79" fmla="*/ 40 h 96"/>
                <a:gd name="T80" fmla="*/ 96 w 96"/>
                <a:gd name="T81" fmla="*/ 54 h 96"/>
                <a:gd name="T82" fmla="*/ 83 w 96"/>
                <a:gd name="T83" fmla="*/ 56 h 96"/>
                <a:gd name="T84" fmla="*/ 88 w 96"/>
                <a:gd name="T85" fmla="*/ 73 h 96"/>
                <a:gd name="T86" fmla="*/ 76 w 96"/>
                <a:gd name="T87" fmla="*/ 88 h 96"/>
                <a:gd name="T88" fmla="*/ 65 w 96"/>
                <a:gd name="T89" fmla="*/ 79 h 96"/>
                <a:gd name="T90" fmla="*/ 56 w 96"/>
                <a:gd name="T91" fmla="*/ 9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6" h="96">
                  <a:moveTo>
                    <a:pt x="54" y="96"/>
                  </a:moveTo>
                  <a:cubicBezTo>
                    <a:pt x="42" y="96"/>
                    <a:pt x="42" y="96"/>
                    <a:pt x="42" y="96"/>
                  </a:cubicBezTo>
                  <a:cubicBezTo>
                    <a:pt x="41" y="96"/>
                    <a:pt x="40" y="95"/>
                    <a:pt x="40" y="94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37" y="82"/>
                    <a:pt x="33" y="81"/>
                    <a:pt x="31" y="79"/>
                  </a:cubicBezTo>
                  <a:cubicBezTo>
                    <a:pt x="23" y="88"/>
                    <a:pt x="23" y="88"/>
                    <a:pt x="23" y="88"/>
                  </a:cubicBezTo>
                  <a:cubicBezTo>
                    <a:pt x="22" y="88"/>
                    <a:pt x="20" y="88"/>
                    <a:pt x="20" y="88"/>
                  </a:cubicBezTo>
                  <a:cubicBezTo>
                    <a:pt x="8" y="76"/>
                    <a:pt x="8" y="76"/>
                    <a:pt x="8" y="76"/>
                  </a:cubicBezTo>
                  <a:cubicBezTo>
                    <a:pt x="8" y="76"/>
                    <a:pt x="8" y="75"/>
                    <a:pt x="8" y="75"/>
                  </a:cubicBezTo>
                  <a:cubicBezTo>
                    <a:pt x="8" y="74"/>
                    <a:pt x="8" y="74"/>
                    <a:pt x="8" y="73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5" y="63"/>
                    <a:pt x="14" y="59"/>
                    <a:pt x="13" y="56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1" y="56"/>
                    <a:pt x="0" y="55"/>
                    <a:pt x="0" y="54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1"/>
                    <a:pt x="1" y="40"/>
                    <a:pt x="2" y="40"/>
                  </a:cubicBezTo>
                  <a:cubicBezTo>
                    <a:pt x="13" y="40"/>
                    <a:pt x="13" y="40"/>
                    <a:pt x="13" y="40"/>
                  </a:cubicBezTo>
                  <a:cubicBezTo>
                    <a:pt x="14" y="37"/>
                    <a:pt x="15" y="33"/>
                    <a:pt x="17" y="3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2"/>
                    <a:pt x="8" y="22"/>
                    <a:pt x="8" y="21"/>
                  </a:cubicBezTo>
                  <a:cubicBezTo>
                    <a:pt x="8" y="21"/>
                    <a:pt x="8" y="20"/>
                    <a:pt x="8" y="20"/>
                  </a:cubicBezTo>
                  <a:cubicBezTo>
                    <a:pt x="20" y="8"/>
                    <a:pt x="20" y="8"/>
                    <a:pt x="20" y="8"/>
                  </a:cubicBezTo>
                  <a:cubicBezTo>
                    <a:pt x="20" y="8"/>
                    <a:pt x="22" y="8"/>
                    <a:pt x="23" y="8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3" y="15"/>
                    <a:pt x="37" y="14"/>
                    <a:pt x="40" y="13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0" y="1"/>
                    <a:pt x="41" y="0"/>
                    <a:pt x="42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5" y="0"/>
                    <a:pt x="56" y="1"/>
                    <a:pt x="56" y="2"/>
                  </a:cubicBezTo>
                  <a:cubicBezTo>
                    <a:pt x="56" y="13"/>
                    <a:pt x="56" y="13"/>
                    <a:pt x="56" y="13"/>
                  </a:cubicBezTo>
                  <a:cubicBezTo>
                    <a:pt x="60" y="14"/>
                    <a:pt x="64" y="16"/>
                    <a:pt x="67" y="17"/>
                  </a:cubicBezTo>
                  <a:cubicBezTo>
                    <a:pt x="68" y="18"/>
                    <a:pt x="68" y="19"/>
                    <a:pt x="67" y="20"/>
                  </a:cubicBezTo>
                  <a:cubicBezTo>
                    <a:pt x="67" y="21"/>
                    <a:pt x="66" y="21"/>
                    <a:pt x="65" y="21"/>
                  </a:cubicBezTo>
                  <a:cubicBezTo>
                    <a:pt x="62" y="19"/>
                    <a:pt x="57" y="18"/>
                    <a:pt x="54" y="17"/>
                  </a:cubicBezTo>
                  <a:cubicBezTo>
                    <a:pt x="53" y="17"/>
                    <a:pt x="52" y="16"/>
                    <a:pt x="52" y="15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4" y="16"/>
                    <a:pt x="43" y="17"/>
                    <a:pt x="42" y="17"/>
                  </a:cubicBezTo>
                  <a:cubicBezTo>
                    <a:pt x="39" y="18"/>
                    <a:pt x="34" y="19"/>
                    <a:pt x="31" y="21"/>
                  </a:cubicBezTo>
                  <a:cubicBezTo>
                    <a:pt x="31" y="21"/>
                    <a:pt x="30" y="21"/>
                    <a:pt x="29" y="20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1" y="30"/>
                    <a:pt x="21" y="31"/>
                    <a:pt x="21" y="31"/>
                  </a:cubicBezTo>
                  <a:cubicBezTo>
                    <a:pt x="19" y="34"/>
                    <a:pt x="17" y="40"/>
                    <a:pt x="17" y="42"/>
                  </a:cubicBezTo>
                  <a:cubicBezTo>
                    <a:pt x="17" y="43"/>
                    <a:pt x="16" y="44"/>
                    <a:pt x="15" y="44"/>
                  </a:cubicBezTo>
                  <a:cubicBezTo>
                    <a:pt x="4" y="44"/>
                    <a:pt x="4" y="44"/>
                    <a:pt x="4" y="44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16" y="52"/>
                    <a:pt x="17" y="53"/>
                    <a:pt x="17" y="54"/>
                  </a:cubicBezTo>
                  <a:cubicBezTo>
                    <a:pt x="17" y="56"/>
                    <a:pt x="19" y="62"/>
                    <a:pt x="21" y="65"/>
                  </a:cubicBezTo>
                  <a:cubicBezTo>
                    <a:pt x="21" y="65"/>
                    <a:pt x="21" y="66"/>
                    <a:pt x="20" y="67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0" y="75"/>
                    <a:pt x="31" y="75"/>
                    <a:pt x="31" y="75"/>
                  </a:cubicBezTo>
                  <a:cubicBezTo>
                    <a:pt x="34" y="77"/>
                    <a:pt x="40" y="79"/>
                    <a:pt x="42" y="79"/>
                  </a:cubicBezTo>
                  <a:cubicBezTo>
                    <a:pt x="43" y="79"/>
                    <a:pt x="44" y="80"/>
                    <a:pt x="44" y="81"/>
                  </a:cubicBezTo>
                  <a:cubicBezTo>
                    <a:pt x="44" y="92"/>
                    <a:pt x="44" y="92"/>
                    <a:pt x="44" y="92"/>
                  </a:cubicBezTo>
                  <a:cubicBezTo>
                    <a:pt x="52" y="92"/>
                    <a:pt x="52" y="92"/>
                    <a:pt x="52" y="92"/>
                  </a:cubicBezTo>
                  <a:cubicBezTo>
                    <a:pt x="52" y="81"/>
                    <a:pt x="52" y="81"/>
                    <a:pt x="52" y="81"/>
                  </a:cubicBezTo>
                  <a:cubicBezTo>
                    <a:pt x="52" y="80"/>
                    <a:pt x="53" y="79"/>
                    <a:pt x="54" y="79"/>
                  </a:cubicBezTo>
                  <a:cubicBezTo>
                    <a:pt x="56" y="79"/>
                    <a:pt x="62" y="77"/>
                    <a:pt x="65" y="75"/>
                  </a:cubicBezTo>
                  <a:cubicBezTo>
                    <a:pt x="65" y="75"/>
                    <a:pt x="66" y="75"/>
                    <a:pt x="67" y="76"/>
                  </a:cubicBezTo>
                  <a:cubicBezTo>
                    <a:pt x="75" y="83"/>
                    <a:pt x="75" y="83"/>
                    <a:pt x="75" y="83"/>
                  </a:cubicBezTo>
                  <a:cubicBezTo>
                    <a:pt x="83" y="75"/>
                    <a:pt x="83" y="75"/>
                    <a:pt x="83" y="75"/>
                  </a:cubicBezTo>
                  <a:cubicBezTo>
                    <a:pt x="76" y="67"/>
                    <a:pt x="76" y="67"/>
                    <a:pt x="76" y="67"/>
                  </a:cubicBezTo>
                  <a:cubicBezTo>
                    <a:pt x="75" y="66"/>
                    <a:pt x="75" y="65"/>
                    <a:pt x="75" y="65"/>
                  </a:cubicBezTo>
                  <a:cubicBezTo>
                    <a:pt x="77" y="62"/>
                    <a:pt x="79" y="56"/>
                    <a:pt x="79" y="54"/>
                  </a:cubicBezTo>
                  <a:cubicBezTo>
                    <a:pt x="79" y="53"/>
                    <a:pt x="80" y="52"/>
                    <a:pt x="81" y="52"/>
                  </a:cubicBezTo>
                  <a:cubicBezTo>
                    <a:pt x="92" y="52"/>
                    <a:pt x="92" y="52"/>
                    <a:pt x="92" y="52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81" y="44"/>
                    <a:pt x="81" y="44"/>
                    <a:pt x="81" y="44"/>
                  </a:cubicBezTo>
                  <a:cubicBezTo>
                    <a:pt x="80" y="44"/>
                    <a:pt x="79" y="43"/>
                    <a:pt x="79" y="42"/>
                  </a:cubicBezTo>
                  <a:cubicBezTo>
                    <a:pt x="79" y="41"/>
                    <a:pt x="78" y="38"/>
                    <a:pt x="77" y="36"/>
                  </a:cubicBezTo>
                  <a:cubicBezTo>
                    <a:pt x="77" y="35"/>
                    <a:pt x="77" y="33"/>
                    <a:pt x="78" y="33"/>
                  </a:cubicBezTo>
                  <a:cubicBezTo>
                    <a:pt x="79" y="33"/>
                    <a:pt x="81" y="33"/>
                    <a:pt x="81" y="34"/>
                  </a:cubicBezTo>
                  <a:cubicBezTo>
                    <a:pt x="82" y="36"/>
                    <a:pt x="82" y="38"/>
                    <a:pt x="83" y="40"/>
                  </a:cubicBezTo>
                  <a:cubicBezTo>
                    <a:pt x="94" y="40"/>
                    <a:pt x="94" y="40"/>
                    <a:pt x="94" y="40"/>
                  </a:cubicBezTo>
                  <a:cubicBezTo>
                    <a:pt x="95" y="40"/>
                    <a:pt x="96" y="41"/>
                    <a:pt x="96" y="42"/>
                  </a:cubicBezTo>
                  <a:cubicBezTo>
                    <a:pt x="96" y="54"/>
                    <a:pt x="96" y="54"/>
                    <a:pt x="96" y="54"/>
                  </a:cubicBezTo>
                  <a:cubicBezTo>
                    <a:pt x="96" y="55"/>
                    <a:pt x="95" y="56"/>
                    <a:pt x="94" y="56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82" y="59"/>
                    <a:pt x="81" y="63"/>
                    <a:pt x="79" y="65"/>
                  </a:cubicBezTo>
                  <a:cubicBezTo>
                    <a:pt x="88" y="73"/>
                    <a:pt x="88" y="73"/>
                    <a:pt x="88" y="73"/>
                  </a:cubicBezTo>
                  <a:cubicBezTo>
                    <a:pt x="88" y="74"/>
                    <a:pt x="88" y="76"/>
                    <a:pt x="88" y="76"/>
                  </a:cubicBezTo>
                  <a:cubicBezTo>
                    <a:pt x="76" y="88"/>
                    <a:pt x="76" y="88"/>
                    <a:pt x="76" y="88"/>
                  </a:cubicBezTo>
                  <a:cubicBezTo>
                    <a:pt x="76" y="88"/>
                    <a:pt x="74" y="88"/>
                    <a:pt x="73" y="88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3" y="81"/>
                    <a:pt x="59" y="82"/>
                    <a:pt x="56" y="83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6" y="95"/>
                    <a:pt x="55" y="96"/>
                    <a:pt x="54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Freeform 102"/>
            <p:cNvSpPr>
              <a:spLocks/>
            </p:cNvSpPr>
            <p:nvPr/>
          </p:nvSpPr>
          <p:spPr bwMode="auto">
            <a:xfrm>
              <a:off x="2298701" y="2376488"/>
              <a:ext cx="255588" cy="231775"/>
            </a:xfrm>
            <a:custGeom>
              <a:avLst/>
              <a:gdLst>
                <a:gd name="T0" fmla="*/ 18 w 66"/>
                <a:gd name="T1" fmla="*/ 60 h 60"/>
                <a:gd name="T2" fmla="*/ 17 w 66"/>
                <a:gd name="T3" fmla="*/ 59 h 60"/>
                <a:gd name="T4" fmla="*/ 1 w 66"/>
                <a:gd name="T5" fmla="*/ 41 h 60"/>
                <a:gd name="T6" fmla="*/ 1 w 66"/>
                <a:gd name="T7" fmla="*/ 39 h 60"/>
                <a:gd name="T8" fmla="*/ 3 w 66"/>
                <a:gd name="T9" fmla="*/ 39 h 60"/>
                <a:gd name="T10" fmla="*/ 18 w 66"/>
                <a:gd name="T11" fmla="*/ 55 h 60"/>
                <a:gd name="T12" fmla="*/ 62 w 66"/>
                <a:gd name="T13" fmla="*/ 1 h 60"/>
                <a:gd name="T14" fmla="*/ 65 w 66"/>
                <a:gd name="T15" fmla="*/ 0 h 60"/>
                <a:gd name="T16" fmla="*/ 66 w 66"/>
                <a:gd name="T17" fmla="*/ 3 h 60"/>
                <a:gd name="T18" fmla="*/ 20 w 66"/>
                <a:gd name="T19" fmla="*/ 59 h 60"/>
                <a:gd name="T20" fmla="*/ 18 w 66"/>
                <a:gd name="T21" fmla="*/ 60 h 60"/>
                <a:gd name="T22" fmla="*/ 18 w 66"/>
                <a:gd name="T2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6" h="60">
                  <a:moveTo>
                    <a:pt x="18" y="60"/>
                  </a:moveTo>
                  <a:cubicBezTo>
                    <a:pt x="17" y="60"/>
                    <a:pt x="17" y="60"/>
                    <a:pt x="17" y="59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1"/>
                    <a:pt x="0" y="39"/>
                    <a:pt x="1" y="39"/>
                  </a:cubicBezTo>
                  <a:cubicBezTo>
                    <a:pt x="1" y="38"/>
                    <a:pt x="3" y="38"/>
                    <a:pt x="3" y="39"/>
                  </a:cubicBezTo>
                  <a:cubicBezTo>
                    <a:pt x="18" y="55"/>
                    <a:pt x="18" y="55"/>
                    <a:pt x="18" y="55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0"/>
                    <a:pt x="64" y="0"/>
                    <a:pt x="65" y="0"/>
                  </a:cubicBezTo>
                  <a:cubicBezTo>
                    <a:pt x="66" y="1"/>
                    <a:pt x="66" y="2"/>
                    <a:pt x="66" y="3"/>
                  </a:cubicBezTo>
                  <a:cubicBezTo>
                    <a:pt x="20" y="59"/>
                    <a:pt x="20" y="59"/>
                    <a:pt x="20" y="59"/>
                  </a:cubicBezTo>
                  <a:cubicBezTo>
                    <a:pt x="19" y="60"/>
                    <a:pt x="19" y="60"/>
                    <a:pt x="18" y="60"/>
                  </a:cubicBezTo>
                  <a:cubicBezTo>
                    <a:pt x="18" y="60"/>
                    <a:pt x="18" y="60"/>
                    <a:pt x="18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en-US" sz="1463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1" name="Rectangle 110"/>
          <p:cNvSpPr/>
          <p:nvPr/>
        </p:nvSpPr>
        <p:spPr>
          <a:xfrm>
            <a:off x="5329053" y="3413150"/>
            <a:ext cx="1429236" cy="847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3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Smart </a:t>
            </a:r>
          </a:p>
          <a:p>
            <a:pPr algn="ctr">
              <a:defRPr/>
            </a:pPr>
            <a:r>
              <a:rPr lang="en-US" sz="13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Knowledge </a:t>
            </a:r>
          </a:p>
          <a:p>
            <a:pPr algn="ctr">
              <a:defRPr/>
            </a:pPr>
            <a:r>
              <a:rPr lang="en-US" sz="13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Assistant</a:t>
            </a:r>
            <a:endParaRPr lang="en-AU" sz="13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2" name="TextBox 47"/>
          <p:cNvSpPr txBox="1">
            <a:spLocks noChangeArrowheads="1"/>
          </p:cNvSpPr>
          <p:nvPr/>
        </p:nvSpPr>
        <p:spPr bwMode="auto">
          <a:xfrm>
            <a:off x="3359672" y="5555605"/>
            <a:ext cx="2182944" cy="22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63" b="1" smtClean="0">
                <a:solidFill>
                  <a:schemeClr val="tx2"/>
                </a:solidFill>
                <a:latin typeface="Univers for KPMG Cond" panose="020B0606020202020204" pitchFamily="34" charset="0"/>
              </a:rPr>
              <a:t>Advanced Analytics </a:t>
            </a:r>
            <a:endParaRPr lang="en-US" altLang="en-US" sz="1463" b="1" dirty="0">
              <a:solidFill>
                <a:schemeClr val="tx2"/>
              </a:solidFill>
              <a:latin typeface="Univers for KPMG Cond" panose="020B0606020202020204" pitchFamily="34" charset="0"/>
            </a:endParaRPr>
          </a:p>
        </p:txBody>
      </p:sp>
      <p:sp>
        <p:nvSpPr>
          <p:cNvPr id="113" name="TextBox 48"/>
          <p:cNvSpPr txBox="1">
            <a:spLocks noChangeArrowheads="1"/>
          </p:cNvSpPr>
          <p:nvPr/>
        </p:nvSpPr>
        <p:spPr bwMode="auto">
          <a:xfrm>
            <a:off x="3285912" y="5779943"/>
            <a:ext cx="2252803" cy="263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en-US" sz="894" dirty="0" smtClean="0">
                <a:latin typeface="Univers for KPMG Cond" panose="020B0606020202020204" pitchFamily="34" charset="0"/>
              </a:rPr>
              <a:t>Advanced </a:t>
            </a:r>
            <a:r>
              <a:rPr lang="en-US" altLang="en-US" sz="894" dirty="0">
                <a:latin typeface="Univers for KPMG Cond" panose="020B0606020202020204" pitchFamily="34" charset="0"/>
              </a:rPr>
              <a:t>analytics capability that can derive insights from the data to assist on decision making. </a:t>
            </a:r>
          </a:p>
        </p:txBody>
      </p:sp>
      <p:sp>
        <p:nvSpPr>
          <p:cNvPr id="114" name="Oval 113"/>
          <p:cNvSpPr/>
          <p:nvPr/>
        </p:nvSpPr>
        <p:spPr>
          <a:xfrm>
            <a:off x="5253659" y="1631494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5" name="Oval 114"/>
          <p:cNvSpPr/>
          <p:nvPr/>
        </p:nvSpPr>
        <p:spPr>
          <a:xfrm>
            <a:off x="7234537" y="194752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6" name="Oval 115"/>
          <p:cNvSpPr/>
          <p:nvPr/>
        </p:nvSpPr>
        <p:spPr>
          <a:xfrm>
            <a:off x="7947122" y="387628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7" name="Oval 116"/>
          <p:cNvSpPr/>
          <p:nvPr/>
        </p:nvSpPr>
        <p:spPr>
          <a:xfrm>
            <a:off x="6646699" y="5492979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8" name="Oval 117"/>
          <p:cNvSpPr/>
          <p:nvPr/>
        </p:nvSpPr>
        <p:spPr>
          <a:xfrm>
            <a:off x="4702544" y="5191341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  <p:sp>
        <p:nvSpPr>
          <p:cNvPr id="119" name="Oval 118"/>
          <p:cNvSpPr/>
          <p:nvPr/>
        </p:nvSpPr>
        <p:spPr>
          <a:xfrm>
            <a:off x="3913000" y="323469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rtlCol="0" anchor="ctr"/>
          <a:lstStyle/>
          <a:p>
            <a:pPr algn="ctr"/>
            <a:endParaRPr lang="en-AU" sz="900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668000" cy="539750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Solution Architect </a:t>
            </a:r>
            <a:br>
              <a:rPr lang="en-AU" altLang="en-US" smtClean="0"/>
            </a:br>
            <a:endParaRPr lang="en-AU" altLang="en-US" smtClean="0"/>
          </a:p>
        </p:txBody>
      </p:sp>
      <p:sp>
        <p:nvSpPr>
          <p:cNvPr id="117" name="Rectangle 116"/>
          <p:cNvSpPr/>
          <p:nvPr/>
        </p:nvSpPr>
        <p:spPr>
          <a:xfrm>
            <a:off x="3641725" y="2171700"/>
            <a:ext cx="7083425" cy="4541838"/>
          </a:xfrm>
          <a:prstGeom prst="rect">
            <a:avLst/>
          </a:prstGeom>
          <a:solidFill>
            <a:srgbClr val="0091D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chemeClr val="tx1"/>
                </a:solidFill>
              </a:rPr>
              <a:t>Back end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962400" y="2909888"/>
            <a:ext cx="1301750" cy="306228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rgbClr val="00338D"/>
                </a:solidFill>
              </a:rPr>
              <a:t>Component 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63738" y="3444875"/>
            <a:ext cx="1371600" cy="1995488"/>
          </a:xfrm>
          <a:prstGeom prst="rect">
            <a:avLst/>
          </a:prstGeom>
          <a:solidFill>
            <a:srgbClr val="0091D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chemeClr val="tx1"/>
                </a:solidFill>
              </a:rPr>
              <a:t>Front end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09800" y="4327525"/>
            <a:ext cx="879475" cy="2254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b="1" dirty="0" err="1">
                <a:solidFill>
                  <a:schemeClr val="bg1"/>
                </a:solidFill>
              </a:rPr>
              <a:t>Elasticsearch</a:t>
            </a:r>
            <a:endParaRPr lang="en-AU" sz="900" b="1" dirty="0">
              <a:solidFill>
                <a:schemeClr val="bg1"/>
              </a:solidFill>
            </a:endParaRPr>
          </a:p>
        </p:txBody>
      </p:sp>
      <p:sp>
        <p:nvSpPr>
          <p:cNvPr id="121" name="Rectangle 120"/>
          <p:cNvSpPr/>
          <p:nvPr/>
        </p:nvSpPr>
        <p:spPr>
          <a:xfrm>
            <a:off x="2209800" y="4821238"/>
            <a:ext cx="879475" cy="223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Logo window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09800" y="3840163"/>
            <a:ext cx="879475" cy="2238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Chat window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795463" y="1466850"/>
            <a:ext cx="1708150" cy="26828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b="1" dirty="0">
                <a:solidFill>
                  <a:schemeClr val="bg1"/>
                </a:solidFill>
              </a:rPr>
              <a:t>Input question</a:t>
            </a:r>
          </a:p>
        </p:txBody>
      </p:sp>
      <p:cxnSp>
        <p:nvCxnSpPr>
          <p:cNvPr id="124" name="Straight Arrow Connector 123"/>
          <p:cNvCxnSpPr>
            <a:stCxn id="123" idx="2"/>
            <a:endCxn id="119" idx="0"/>
          </p:cNvCxnSpPr>
          <p:nvPr/>
        </p:nvCxnSpPr>
        <p:spPr>
          <a:xfrm flipH="1">
            <a:off x="2649538" y="1735138"/>
            <a:ext cx="0" cy="1709737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19" idx="3"/>
            <a:endCxn id="118" idx="1"/>
          </p:cNvCxnSpPr>
          <p:nvPr/>
        </p:nvCxnSpPr>
        <p:spPr>
          <a:xfrm flipV="1">
            <a:off x="3335338" y="4440238"/>
            <a:ext cx="627062" cy="3175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4173538" y="4075113"/>
            <a:ext cx="879475" cy="3333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Chat framework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73538" y="4746625"/>
            <a:ext cx="879475" cy="331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Logging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173538" y="3405188"/>
            <a:ext cx="879475" cy="3317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Authentication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73538" y="5416550"/>
            <a:ext cx="879475" cy="3317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Raw DOC to HTML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145213" y="2570163"/>
            <a:ext cx="1552575" cy="67468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rgbClr val="00338D"/>
                </a:solidFill>
              </a:rPr>
              <a:t>Chat history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57950" y="2873375"/>
            <a:ext cx="9271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Archive</a:t>
            </a:r>
          </a:p>
        </p:txBody>
      </p:sp>
      <p:cxnSp>
        <p:nvCxnSpPr>
          <p:cNvPr id="132" name="Straight Arrow Connector 131"/>
          <p:cNvCxnSpPr>
            <a:stCxn id="128" idx="3"/>
            <a:endCxn id="131" idx="1"/>
          </p:cNvCxnSpPr>
          <p:nvPr/>
        </p:nvCxnSpPr>
        <p:spPr>
          <a:xfrm flipV="1">
            <a:off x="5053013" y="3017838"/>
            <a:ext cx="1404937" cy="554037"/>
          </a:xfrm>
          <a:prstGeom prst="straightConnector1">
            <a:avLst/>
          </a:prstGeom>
          <a:ln>
            <a:solidFill>
              <a:srgbClr val="00338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/>
          <p:cNvSpPr/>
          <p:nvPr/>
        </p:nvSpPr>
        <p:spPr>
          <a:xfrm>
            <a:off x="5661025" y="3444875"/>
            <a:ext cx="4830763" cy="3062288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/>
          <a:lstStyle/>
          <a:p>
            <a:pPr algn="ctr">
              <a:defRPr/>
            </a:pPr>
            <a:r>
              <a:rPr lang="en-AU" sz="900" b="1" dirty="0">
                <a:solidFill>
                  <a:srgbClr val="00338D"/>
                </a:solidFill>
              </a:rPr>
              <a:t>Component 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946900" y="3724275"/>
            <a:ext cx="2260600" cy="2206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Chat message handler</a:t>
            </a:r>
          </a:p>
        </p:txBody>
      </p:sp>
      <p:cxnSp>
        <p:nvCxnSpPr>
          <p:cNvPr id="135" name="Straight Arrow Connector 134"/>
          <p:cNvCxnSpPr>
            <a:stCxn id="126" idx="3"/>
            <a:endCxn id="134" idx="1"/>
          </p:cNvCxnSpPr>
          <p:nvPr/>
        </p:nvCxnSpPr>
        <p:spPr>
          <a:xfrm flipV="1">
            <a:off x="5053013" y="3833813"/>
            <a:ext cx="1893887" cy="407987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6946900" y="4102100"/>
            <a:ext cx="2260600" cy="219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FAQ layer (</a:t>
            </a:r>
            <a:r>
              <a:rPr lang="en-AU" sz="900" dirty="0" err="1">
                <a:solidFill>
                  <a:schemeClr val="bg1"/>
                </a:solidFill>
              </a:rPr>
              <a:t>InferSent</a:t>
            </a:r>
            <a:r>
              <a:rPr lang="en-AU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46763" y="4538663"/>
            <a:ext cx="2097087" cy="3063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Document layer (</a:t>
            </a:r>
            <a:r>
              <a:rPr lang="en-AU" sz="900" dirty="0" err="1">
                <a:solidFill>
                  <a:schemeClr val="bg1"/>
                </a:solidFill>
              </a:rPr>
              <a:t>Elasticsearch</a:t>
            </a:r>
            <a:r>
              <a:rPr lang="en-AU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842000" y="5000625"/>
            <a:ext cx="2097088" cy="3063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Tab layer (</a:t>
            </a:r>
            <a:r>
              <a:rPr lang="en-AU" sz="900" dirty="0" err="1">
                <a:solidFill>
                  <a:schemeClr val="bg1"/>
                </a:solidFill>
              </a:rPr>
              <a:t>InferSent</a:t>
            </a:r>
            <a:r>
              <a:rPr lang="en-AU" sz="9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842000" y="5441950"/>
            <a:ext cx="2097088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Sub-tab layer (ensemble)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842000" y="5886450"/>
            <a:ext cx="2097088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Machine Comprehension layer (BERT)</a:t>
            </a:r>
          </a:p>
        </p:txBody>
      </p:sp>
      <p:cxnSp>
        <p:nvCxnSpPr>
          <p:cNvPr id="143" name="Straight Arrow Connector 142"/>
          <p:cNvCxnSpPr>
            <a:stCxn id="134" idx="2"/>
            <a:endCxn id="136" idx="0"/>
          </p:cNvCxnSpPr>
          <p:nvPr/>
        </p:nvCxnSpPr>
        <p:spPr>
          <a:xfrm>
            <a:off x="8077200" y="3944938"/>
            <a:ext cx="0" cy="157162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stCxn id="136" idx="2"/>
            <a:endCxn id="137" idx="0"/>
          </p:cNvCxnSpPr>
          <p:nvPr/>
        </p:nvCxnSpPr>
        <p:spPr>
          <a:xfrm flipH="1">
            <a:off x="6894513" y="4321175"/>
            <a:ext cx="1182687" cy="217488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137" idx="2"/>
            <a:endCxn id="140" idx="0"/>
          </p:cNvCxnSpPr>
          <p:nvPr/>
        </p:nvCxnSpPr>
        <p:spPr>
          <a:xfrm flipH="1">
            <a:off x="6891338" y="4845050"/>
            <a:ext cx="3175" cy="155575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stCxn id="140" idx="2"/>
            <a:endCxn id="141" idx="0"/>
          </p:cNvCxnSpPr>
          <p:nvPr/>
        </p:nvCxnSpPr>
        <p:spPr>
          <a:xfrm>
            <a:off x="6891338" y="5307013"/>
            <a:ext cx="0" cy="134937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>
            <a:stCxn id="141" idx="2"/>
            <a:endCxn id="142" idx="0"/>
          </p:cNvCxnSpPr>
          <p:nvPr/>
        </p:nvCxnSpPr>
        <p:spPr>
          <a:xfrm>
            <a:off x="6891338" y="5746750"/>
            <a:ext cx="0" cy="13970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8245475" y="5000625"/>
            <a:ext cx="2097088" cy="603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dirty="0">
                <a:solidFill>
                  <a:schemeClr val="bg1"/>
                </a:solidFill>
              </a:rPr>
              <a:t>Tab finder</a:t>
            </a:r>
          </a:p>
        </p:txBody>
      </p:sp>
      <p:cxnSp>
        <p:nvCxnSpPr>
          <p:cNvPr id="149" name="Straight Arrow Connector 148"/>
          <p:cNvCxnSpPr>
            <a:stCxn id="136" idx="2"/>
            <a:endCxn id="148" idx="0"/>
          </p:cNvCxnSpPr>
          <p:nvPr/>
        </p:nvCxnSpPr>
        <p:spPr>
          <a:xfrm>
            <a:off x="8077200" y="4321175"/>
            <a:ext cx="1216025" cy="67945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04" name="TextBox 149"/>
          <p:cNvSpPr txBox="1">
            <a:spLocks noChangeArrowheads="1"/>
          </p:cNvSpPr>
          <p:nvPr/>
        </p:nvSpPr>
        <p:spPr bwMode="auto">
          <a:xfrm>
            <a:off x="8474075" y="4341813"/>
            <a:ext cx="871538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610" tIns="54610" rIns="54610" bIns="5461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AU" altLang="en-US" sz="900">
                <a:solidFill>
                  <a:schemeClr val="tx2"/>
                </a:solidFill>
              </a:rPr>
              <a:t>Score &gt; 0.9</a:t>
            </a:r>
          </a:p>
        </p:txBody>
      </p:sp>
      <p:cxnSp>
        <p:nvCxnSpPr>
          <p:cNvPr id="151" name="Straight Arrow Connector 150"/>
          <p:cNvCxnSpPr/>
          <p:nvPr/>
        </p:nvCxnSpPr>
        <p:spPr>
          <a:xfrm>
            <a:off x="3335338" y="3736975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335338" y="5170488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 flipH="1">
            <a:off x="3335338" y="5248275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 flipH="1">
            <a:off x="3335338" y="4538663"/>
            <a:ext cx="627062" cy="0"/>
          </a:xfrm>
          <a:prstGeom prst="straightConnector1">
            <a:avLst/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/>
          <p:cNvCxnSpPr>
            <a:stCxn id="133" idx="2"/>
            <a:endCxn id="156" idx="2"/>
          </p:cNvCxnSpPr>
          <p:nvPr/>
        </p:nvCxnSpPr>
        <p:spPr>
          <a:xfrm rot="5400000" flipH="1" flipV="1">
            <a:off x="6749256" y="3056732"/>
            <a:ext cx="4778375" cy="2122488"/>
          </a:xfrm>
          <a:prstGeom prst="bentConnector5">
            <a:avLst>
              <a:gd name="adj1" fmla="val -4784"/>
              <a:gd name="adj2" fmla="val 135948"/>
              <a:gd name="adj3" fmla="val 94678"/>
            </a:avLst>
          </a:prstGeom>
          <a:ln>
            <a:solidFill>
              <a:srgbClr val="00338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9345613" y="1462088"/>
            <a:ext cx="1708150" cy="2667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tIns="54000" rIns="54000" bIns="54000" anchor="ctr"/>
          <a:lstStyle/>
          <a:p>
            <a:pPr algn="ctr">
              <a:defRPr/>
            </a:pPr>
            <a:r>
              <a:rPr lang="en-AU" sz="900" b="1" dirty="0">
                <a:solidFill>
                  <a:schemeClr val="bg1"/>
                </a:solidFill>
              </a:rPr>
              <a:t>Return message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" descr="image0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" t="-72" r="171" b="1865"/>
          <a:stretch>
            <a:fillRect/>
          </a:stretch>
        </p:blipFill>
        <p:spPr bwMode="auto">
          <a:xfrm>
            <a:off x="1657350" y="1711325"/>
            <a:ext cx="95885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579437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Demo</a:t>
            </a:r>
          </a:p>
        </p:txBody>
      </p:sp>
      <p:sp>
        <p:nvSpPr>
          <p:cNvPr id="185" name="Flowchart: Connector 184"/>
          <p:cNvSpPr/>
          <p:nvPr/>
        </p:nvSpPr>
        <p:spPr>
          <a:xfrm>
            <a:off x="9336088" y="4548188"/>
            <a:ext cx="179387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6" name="Flowchart: Connector 185"/>
          <p:cNvSpPr/>
          <p:nvPr/>
        </p:nvSpPr>
        <p:spPr>
          <a:xfrm>
            <a:off x="5014913" y="5111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7" name="Flowchart: Connector 186"/>
          <p:cNvSpPr/>
          <p:nvPr/>
        </p:nvSpPr>
        <p:spPr>
          <a:xfrm>
            <a:off x="5014913" y="774700"/>
            <a:ext cx="179387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88" name="Flowchart: Connector 187"/>
          <p:cNvSpPr/>
          <p:nvPr/>
        </p:nvSpPr>
        <p:spPr>
          <a:xfrm>
            <a:off x="5014913" y="1039813"/>
            <a:ext cx="179387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89" name="Flowchart: Connector 188"/>
          <p:cNvSpPr/>
          <p:nvPr/>
        </p:nvSpPr>
        <p:spPr>
          <a:xfrm>
            <a:off x="10812463" y="3144838"/>
            <a:ext cx="179387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0" name="Flowchart: Connector 189"/>
          <p:cNvSpPr/>
          <p:nvPr/>
        </p:nvSpPr>
        <p:spPr>
          <a:xfrm>
            <a:off x="2451100" y="4351338"/>
            <a:ext cx="179388" cy="179387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1" name="Flowchart: Connector 190"/>
          <p:cNvSpPr/>
          <p:nvPr/>
        </p:nvSpPr>
        <p:spPr>
          <a:xfrm>
            <a:off x="5014913" y="130492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2" name="Flowchart: Connector 191"/>
          <p:cNvSpPr/>
          <p:nvPr/>
        </p:nvSpPr>
        <p:spPr>
          <a:xfrm>
            <a:off x="4614863" y="40290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93" name="Flowchart: Connector 192"/>
          <p:cNvSpPr/>
          <p:nvPr/>
        </p:nvSpPr>
        <p:spPr>
          <a:xfrm>
            <a:off x="8159750" y="511175"/>
            <a:ext cx="180975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5" name="Flowchart: Connector 194"/>
          <p:cNvSpPr/>
          <p:nvPr/>
        </p:nvSpPr>
        <p:spPr>
          <a:xfrm>
            <a:off x="8159750" y="774700"/>
            <a:ext cx="180975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97" name="Flowchart: Connector 196"/>
          <p:cNvSpPr/>
          <p:nvPr/>
        </p:nvSpPr>
        <p:spPr>
          <a:xfrm>
            <a:off x="8159750" y="1039813"/>
            <a:ext cx="180975" cy="180975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8" name="Flowchart: Connector 197"/>
          <p:cNvSpPr/>
          <p:nvPr/>
        </p:nvSpPr>
        <p:spPr>
          <a:xfrm>
            <a:off x="7385050" y="3406775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4832" name="Rectangle 1"/>
          <p:cNvSpPr>
            <a:spLocks noChangeArrowheads="1"/>
          </p:cNvSpPr>
          <p:nvPr/>
        </p:nvSpPr>
        <p:spPr bwMode="auto">
          <a:xfrm>
            <a:off x="3625850" y="473075"/>
            <a:ext cx="1319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AU" altLang="en-US" sz="1200" b="1">
                <a:latin typeface="Univers 45 Light" pitchFamily="2" charset="0"/>
              </a:rPr>
              <a:t>Key features &amp; challenges addressed</a:t>
            </a:r>
          </a:p>
        </p:txBody>
      </p:sp>
      <p:graphicFrame>
        <p:nvGraphicFramePr>
          <p:cNvPr id="201" name="Table 200"/>
          <p:cNvGraphicFramePr>
            <a:graphicFrameLocks noGrp="1"/>
          </p:cNvGraphicFramePr>
          <p:nvPr/>
        </p:nvGraphicFramePr>
        <p:xfrm>
          <a:off x="4706938" y="454025"/>
          <a:ext cx="7493000" cy="10668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869"/>
                <a:gridCol w="2758443"/>
                <a:gridCol w="402556"/>
                <a:gridCol w="3904132"/>
              </a:tblGrid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Cognitive search capability (speed and accuracy) 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Top</a:t>
                      </a:r>
                      <a:r>
                        <a:rPr lang="en-AU" sz="1000" baseline="0" dirty="0" smtClean="0"/>
                        <a:t> policies (speed and 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48 hours of conversation (speed)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Personal Favourite</a:t>
                      </a:r>
                      <a:r>
                        <a:rPr lang="en-AU" sz="1000" baseline="0" dirty="0" smtClean="0"/>
                        <a:t> (confidence, speed and 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74319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Answer at a glance (speed)</a:t>
                      </a:r>
                      <a:endParaRPr lang="en-US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800" dirty="0"/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dirty="0" smtClean="0"/>
                        <a:t>Personalisation (confidence, speed</a:t>
                      </a:r>
                      <a:r>
                        <a:rPr lang="en-AU" sz="1000" baseline="0" dirty="0" smtClean="0"/>
                        <a:t> and innovation)</a:t>
                      </a:r>
                      <a:endParaRPr lang="en-AU" sz="1000" dirty="0" smtClean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  <a:tr h="243843">
                <a:tc>
                  <a:txBody>
                    <a:bodyPr/>
                    <a:lstStyle/>
                    <a:p>
                      <a:endParaRPr lang="en-AU" sz="900" dirty="0">
                        <a:latin typeface="Univers for KPMG Cond" panose="020B0606020202020204" pitchFamily="34" charset="0"/>
                      </a:endParaRPr>
                    </a:p>
                  </a:txBody>
                  <a:tcPr marL="91479" marR="91479" marT="0" marB="0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Detailed drill down to policy</a:t>
                      </a:r>
                      <a:r>
                        <a:rPr lang="en-AU" sz="1000" baseline="0" dirty="0" smtClean="0"/>
                        <a:t> (confidence)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  <a:tc>
                  <a:txBody>
                    <a:bodyPr/>
                    <a:lstStyle/>
                    <a:p>
                      <a:r>
                        <a:rPr lang="en-AU" sz="1000" dirty="0" smtClean="0"/>
                        <a:t>Analytics (innovation)</a:t>
                      </a:r>
                      <a:endParaRPr lang="en-AU" sz="1000" dirty="0">
                        <a:latin typeface="Univers 45 Light" pitchFamily="2" charset="0"/>
                      </a:endParaRPr>
                    </a:p>
                  </a:txBody>
                  <a:tcPr marL="91479" marR="91479" marT="0" marB="0" anchor="ctr"/>
                </a:tc>
              </a:tr>
            </a:tbl>
          </a:graphicData>
        </a:graphic>
      </p:graphicFrame>
      <p:sp>
        <p:nvSpPr>
          <p:cNvPr id="20" name="Flowchart: Connector 19"/>
          <p:cNvSpPr/>
          <p:nvPr/>
        </p:nvSpPr>
        <p:spPr>
          <a:xfrm>
            <a:off x="10615613" y="1946275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94" name="Flowchart: Connector 193"/>
          <p:cNvSpPr/>
          <p:nvPr/>
        </p:nvSpPr>
        <p:spPr>
          <a:xfrm>
            <a:off x="2667000" y="1873250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96" name="Flowchart: Connector 195"/>
          <p:cNvSpPr/>
          <p:nvPr/>
        </p:nvSpPr>
        <p:spPr>
          <a:xfrm>
            <a:off x="3678238" y="1873250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2" name="Flowchart: Connector 21"/>
          <p:cNvSpPr/>
          <p:nvPr/>
        </p:nvSpPr>
        <p:spPr>
          <a:xfrm>
            <a:off x="4614863" y="1873250"/>
            <a:ext cx="179387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23" name="Flowchart: Connector 22"/>
          <p:cNvSpPr/>
          <p:nvPr/>
        </p:nvSpPr>
        <p:spPr>
          <a:xfrm>
            <a:off x="8159750" y="1304925"/>
            <a:ext cx="179388" cy="179388"/>
          </a:xfrm>
          <a:prstGeom prst="flowChartConnecto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000" dirty="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900113" y="360363"/>
            <a:ext cx="10515600" cy="561975"/>
          </a:xfrm>
        </p:spPr>
        <p:txBody>
          <a:bodyPr/>
          <a:lstStyle/>
          <a:p>
            <a:r>
              <a:rPr lang="en-AU" altLang="en-US" smtClean="0"/>
              <a:t>Proof of concept</a:t>
            </a:r>
            <a:br>
              <a:rPr lang="en-AU" altLang="en-US" smtClean="0"/>
            </a:br>
            <a:r>
              <a:rPr lang="en-AU" altLang="en-US" smtClean="0"/>
              <a:t>Feedback</a:t>
            </a:r>
          </a:p>
        </p:txBody>
      </p:sp>
      <p:grpSp>
        <p:nvGrpSpPr>
          <p:cNvPr id="36867" name="Group 3"/>
          <p:cNvGrpSpPr>
            <a:grpSpLocks noChangeAspect="1"/>
          </p:cNvGrpSpPr>
          <p:nvPr/>
        </p:nvGrpSpPr>
        <p:grpSpPr bwMode="auto">
          <a:xfrm>
            <a:off x="1014413" y="1825625"/>
            <a:ext cx="5372100" cy="1547813"/>
            <a:chOff x="2274319" y="1034605"/>
            <a:chExt cx="9518200" cy="2696655"/>
          </a:xfrm>
        </p:grpSpPr>
        <p:graphicFrame>
          <p:nvGraphicFramePr>
            <p:cNvPr id="36886" name="Chart 11"/>
            <p:cNvGraphicFramePr>
              <a:graphicFrameLocks/>
            </p:cNvGraphicFramePr>
            <p:nvPr/>
          </p:nvGraphicFramePr>
          <p:xfrm>
            <a:off x="2274319" y="1034605"/>
            <a:ext cx="9518200" cy="2696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0" name="Chart" r:id="rId5" imgW="9370364" imgH="2706859" progId="Excel.Chart.8">
                    <p:embed/>
                  </p:oleObj>
                </mc:Choice>
                <mc:Fallback>
                  <p:oleObj name="Chart" r:id="rId5" imgW="9370364" imgH="2706859" progId="Excel.Chart.8">
                    <p:embed/>
                    <p:pic>
                      <p:nvPicPr>
                        <p:cNvPr id="0" name="Char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4319" y="1034605"/>
                          <a:ext cx="9518200" cy="2696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7" name="TextBox 12"/>
            <p:cNvSpPr txBox="1">
              <a:spLocks noChangeArrowheads="1"/>
            </p:cNvSpPr>
            <p:nvPr/>
          </p:nvSpPr>
          <p:spPr bwMode="auto">
            <a:xfrm>
              <a:off x="7716932" y="2864061"/>
              <a:ext cx="3858418" cy="67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felt the Smart Knowledge Agent is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more accurate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in helping me find the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right answer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to my question.</a:t>
              </a:r>
            </a:p>
          </p:txBody>
        </p:sp>
        <p:sp>
          <p:nvSpPr>
            <p:cNvPr id="36888" name="TextBox 4"/>
            <p:cNvSpPr txBox="1">
              <a:spLocks noChangeArrowheads="1"/>
            </p:cNvSpPr>
            <p:nvPr/>
          </p:nvSpPr>
          <p:spPr bwMode="auto">
            <a:xfrm>
              <a:off x="3096305" y="2857711"/>
              <a:ext cx="3644010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was able to find the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relevant answer quicker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compared to using the current OB search engine.</a:t>
              </a:r>
            </a:p>
          </p:txBody>
        </p:sp>
      </p:grpSp>
      <p:sp>
        <p:nvSpPr>
          <p:cNvPr id="36868" name="Rectangle 1"/>
          <p:cNvSpPr>
            <a:spLocks noChangeArrowheads="1"/>
          </p:cNvSpPr>
          <p:nvPr/>
        </p:nvSpPr>
        <p:spPr bwMode="auto">
          <a:xfrm>
            <a:off x="930275" y="1296988"/>
            <a:ext cx="15128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AU" altLang="en-US" sz="1200" b="1">
                <a:latin typeface="Univers 45 Light" pitchFamily="2" charset="0"/>
              </a:rPr>
              <a:t>Accuracy &amp; Speed</a:t>
            </a:r>
          </a:p>
        </p:txBody>
      </p:sp>
      <p:grpSp>
        <p:nvGrpSpPr>
          <p:cNvPr id="36869" name="Group 3"/>
          <p:cNvGrpSpPr>
            <a:grpSpLocks noChangeAspect="1"/>
          </p:cNvGrpSpPr>
          <p:nvPr/>
        </p:nvGrpSpPr>
        <p:grpSpPr bwMode="auto">
          <a:xfrm>
            <a:off x="6499225" y="1801813"/>
            <a:ext cx="5545138" cy="1546225"/>
            <a:chOff x="2275176" y="1034605"/>
            <a:chExt cx="9665871" cy="2696655"/>
          </a:xfrm>
        </p:grpSpPr>
        <p:graphicFrame>
          <p:nvGraphicFramePr>
            <p:cNvPr id="36882" name="Chart 11"/>
            <p:cNvGraphicFramePr>
              <a:graphicFrameLocks/>
            </p:cNvGraphicFramePr>
            <p:nvPr/>
          </p:nvGraphicFramePr>
          <p:xfrm>
            <a:off x="2275176" y="1034605"/>
            <a:ext cx="9516485" cy="2696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1" name="Chart" r:id="rId8" imgW="9522777" imgH="2706859" progId="Excel.Chart.8">
                    <p:embed/>
                  </p:oleObj>
                </mc:Choice>
                <mc:Fallback>
                  <p:oleObj name="Chart" r:id="rId8" imgW="9522777" imgH="2706859" progId="Excel.Chart.8">
                    <p:embed/>
                    <p:pic>
                      <p:nvPicPr>
                        <p:cNvPr id="0" name="Char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176" y="1034605"/>
                          <a:ext cx="9516485" cy="2696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3" name="TextBox 4"/>
            <p:cNvSpPr txBox="1">
              <a:spLocks noChangeArrowheads="1"/>
            </p:cNvSpPr>
            <p:nvPr/>
          </p:nvSpPr>
          <p:spPr bwMode="auto">
            <a:xfrm>
              <a:off x="9171084" y="2815113"/>
              <a:ext cx="2769963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would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use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the Smart Knowledge Assistant,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as it is now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or with minor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modifications, for searching for information from policy documents.</a:t>
              </a:r>
            </a:p>
          </p:txBody>
        </p:sp>
        <p:sp>
          <p:nvSpPr>
            <p:cNvPr id="36884" name="TextBox 12"/>
            <p:cNvSpPr txBox="1">
              <a:spLocks noChangeArrowheads="1"/>
            </p:cNvSpPr>
            <p:nvPr/>
          </p:nvSpPr>
          <p:spPr bwMode="auto">
            <a:xfrm>
              <a:off x="6121700" y="2815112"/>
              <a:ext cx="2899997" cy="674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feel that the Smart Knowledge Assistant could help the team to work more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collaboratively and efficiently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.</a:t>
              </a:r>
            </a:p>
          </p:txBody>
        </p:sp>
        <p:sp>
          <p:nvSpPr>
            <p:cNvPr id="36885" name="TextBox 4"/>
            <p:cNvSpPr txBox="1">
              <a:spLocks noChangeArrowheads="1"/>
            </p:cNvSpPr>
            <p:nvPr/>
          </p:nvSpPr>
          <p:spPr bwMode="auto">
            <a:xfrm>
              <a:off x="2424566" y="2815112"/>
              <a:ext cx="3547741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would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recommend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my colleague(s)/team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to use the Smart Knowledge Assistant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, as it is now or with minor modifications, over the current operational blueprint search engine.</a:t>
              </a:r>
            </a:p>
          </p:txBody>
        </p:sp>
      </p:grpSp>
      <p:sp>
        <p:nvSpPr>
          <p:cNvPr id="36870" name="Rectangle 13"/>
          <p:cNvSpPr>
            <a:spLocks noChangeArrowheads="1"/>
          </p:cNvSpPr>
          <p:nvPr/>
        </p:nvSpPr>
        <p:spPr bwMode="auto">
          <a:xfrm>
            <a:off x="6462713" y="1271588"/>
            <a:ext cx="86836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AU" altLang="en-US" sz="1200" b="1">
                <a:latin typeface="Univers 45 Light" pitchFamily="2" charset="0"/>
              </a:rPr>
              <a:t>Adoption</a:t>
            </a:r>
          </a:p>
        </p:txBody>
      </p:sp>
      <p:grpSp>
        <p:nvGrpSpPr>
          <p:cNvPr id="36871" name="Group 3"/>
          <p:cNvGrpSpPr>
            <a:grpSpLocks noChangeAspect="1"/>
          </p:cNvGrpSpPr>
          <p:nvPr/>
        </p:nvGrpSpPr>
        <p:grpSpPr bwMode="auto">
          <a:xfrm>
            <a:off x="3768252" y="4467225"/>
            <a:ext cx="5472112" cy="1549400"/>
            <a:chOff x="2275177" y="1034605"/>
            <a:chExt cx="9516486" cy="2696655"/>
          </a:xfrm>
        </p:grpSpPr>
        <p:graphicFrame>
          <p:nvGraphicFramePr>
            <p:cNvPr id="36878" name="Chart 11"/>
            <p:cNvGraphicFramePr>
              <a:graphicFrameLocks/>
            </p:cNvGraphicFramePr>
            <p:nvPr/>
          </p:nvGraphicFramePr>
          <p:xfrm>
            <a:off x="2275177" y="1034605"/>
            <a:ext cx="9516486" cy="2696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42" name="Chart" r:id="rId11" imgW="9522777" imgH="2706859" progId="Excel.Chart.8">
                    <p:embed/>
                  </p:oleObj>
                </mc:Choice>
                <mc:Fallback>
                  <p:oleObj name="Chart" r:id="rId11" imgW="9522777" imgH="2706859" progId="Excel.Chart.8">
                    <p:embed/>
                    <p:pic>
                      <p:nvPicPr>
                        <p:cNvPr id="0" name="Char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5177" y="1034605"/>
                          <a:ext cx="9516486" cy="2696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TextBox 4"/>
            <p:cNvSpPr txBox="1">
              <a:spLocks noChangeArrowheads="1"/>
            </p:cNvSpPr>
            <p:nvPr/>
          </p:nvSpPr>
          <p:spPr bwMode="auto">
            <a:xfrm>
              <a:off x="8555793" y="2815113"/>
              <a:ext cx="3127918" cy="681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The brief snippet of the answer displayed in the search result gives me more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confidence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and more guidance to find the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accurate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policy document.</a:t>
              </a:r>
            </a:p>
          </p:txBody>
        </p:sp>
        <p:sp>
          <p:nvSpPr>
            <p:cNvPr id="36880" name="TextBox 12"/>
            <p:cNvSpPr txBox="1">
              <a:spLocks noChangeArrowheads="1"/>
            </p:cNvSpPr>
            <p:nvPr/>
          </p:nvSpPr>
          <p:spPr bwMode="auto">
            <a:xfrm>
              <a:off x="5680319" y="2815113"/>
              <a:ext cx="2875472" cy="67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buFont typeface="Arial" panose="020B0604020202020204" pitchFamily="34" charset="0"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The highlighted answer in the policy documents helps me to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find information 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within a policy document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faster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.</a:t>
              </a:r>
            </a:p>
          </p:txBody>
        </p:sp>
        <p:sp>
          <p:nvSpPr>
            <p:cNvPr id="36881" name="TextBox 4"/>
            <p:cNvSpPr txBox="1">
              <a:spLocks noChangeArrowheads="1"/>
            </p:cNvSpPr>
            <p:nvPr/>
          </p:nvSpPr>
          <p:spPr bwMode="auto">
            <a:xfrm>
              <a:off x="3063241" y="2815113"/>
              <a:ext cx="2380726" cy="6810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610" tIns="54610" rIns="54610" bIns="54610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I was able to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interact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 with the Smart Knowledge Agent </a:t>
              </a:r>
              <a:r>
                <a:rPr lang="en-AU" altLang="en-US" sz="1000" b="1">
                  <a:solidFill>
                    <a:schemeClr val="tx2"/>
                  </a:solidFill>
                  <a:latin typeface="Univers 45 Light" pitchFamily="2" charset="0"/>
                </a:rPr>
                <a:t>easily</a:t>
              </a:r>
              <a:r>
                <a:rPr lang="en-AU" altLang="en-US" sz="1000">
                  <a:solidFill>
                    <a:schemeClr val="tx2"/>
                  </a:solidFill>
                  <a:latin typeface="Univers 45 Light" pitchFamily="2" charset="0"/>
                </a:rPr>
                <a:t>.</a:t>
              </a:r>
            </a:p>
          </p:txBody>
        </p:sp>
      </p:grpSp>
      <p:sp>
        <p:nvSpPr>
          <p:cNvPr id="36874" name="Rectangle 21"/>
          <p:cNvSpPr>
            <a:spLocks noChangeArrowheads="1"/>
          </p:cNvSpPr>
          <p:nvPr/>
        </p:nvSpPr>
        <p:spPr bwMode="auto">
          <a:xfrm>
            <a:off x="3712689" y="4110038"/>
            <a:ext cx="1200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AU" altLang="en-US" sz="1200" b="1" dirty="0">
                <a:latin typeface="Univers 45 Light" pitchFamily="2" charset="0"/>
              </a:rPr>
              <a:t>User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EATEDBY" val="Global PowerPoint Toolbar"/>
  <p:tag name="TOOLBARVERSION" val="5.1"/>
  <p:tag name="TYPE" val="ScreenWide"/>
  <p:tag name="KEYWORD" val="SCREENWIDE"/>
  <p:tag name="TEMPLATEVERSION" val="05/02/2018 06:50:1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KPMG_Widescreen_16:9 02/02/2016">
  <a:themeElements>
    <a:clrScheme name="New KPMG Colours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KPMG">
      <a:majorFont>
        <a:latin typeface="KPMG Extra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4610" tIns="54610" rIns="54610" bIns="54610" rtlCol="0">
        <a:noAutofit/>
      </a:bodyPr>
      <a:lstStyle>
        <a:defPPr>
          <a:spcAft>
            <a:spcPts val="600"/>
          </a:spcAft>
          <a:defRPr sz="15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KPMG Widescreen Standard Template.potx" id="{E0B5F27A-357D-46AB-9AB7-E03BD97BC0EE}" vid="{EF09E91E-5F5B-44CD-8A6A-189306B1D8C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10006</TotalTime>
  <Words>1055</Words>
  <Application>Microsoft Office PowerPoint</Application>
  <PresentationFormat>Widescreen</PresentationFormat>
  <Paragraphs>169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KPMG Extralight</vt:lpstr>
      <vt:lpstr>Univers 45 Light</vt:lpstr>
      <vt:lpstr>Univers for KPMG Cond</vt:lpstr>
      <vt:lpstr>Office Theme</vt:lpstr>
      <vt:lpstr>2_KPMG_Widescreen_16:9 02/02/2016</vt:lpstr>
      <vt:lpstr>Chart</vt:lpstr>
      <vt:lpstr>Smart Knowledge Agent   The next generation machine comprehension engine   </vt:lpstr>
      <vt:lpstr>Smart Knowledge Assistant AwA Agenda</vt:lpstr>
      <vt:lpstr>Introduction &amp; Background </vt:lpstr>
      <vt:lpstr>Digital assistant emerging trends</vt:lpstr>
      <vt:lpstr>History of Natural Language Processing  and Transfer Learning </vt:lpstr>
      <vt:lpstr>Operational Blueprint current challenges</vt:lpstr>
      <vt:lpstr>Proof of concept Functionality </vt:lpstr>
      <vt:lpstr>Proof of concept Solution Architect  </vt:lpstr>
      <vt:lpstr>Proof of concept Demo</vt:lpstr>
      <vt:lpstr>Proof of concept Feedback</vt:lpstr>
    </vt:vector>
  </TitlesOfParts>
  <Company>KPMG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Wide screen template</dc:title>
  <dc:creator>lkay2@kpmg.com.au</dc:creator>
  <cp:lastModifiedBy>Forbes, Jeremy</cp:lastModifiedBy>
  <cp:revision>602</cp:revision>
  <cp:lastPrinted>2019-09-01T23:58:05Z</cp:lastPrinted>
  <dcterms:created xsi:type="dcterms:W3CDTF">2016-04-01T03:24:02Z</dcterms:created>
  <dcterms:modified xsi:type="dcterms:W3CDTF">2019-09-04T03:51:13Z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PMG_LayoutGrid">
    <vt:lpwstr>0</vt:lpwstr>
  </property>
  <property fmtid="{D5CDD505-2E9C-101B-9397-08002B2CF9AE}" pid="3" name="Objective-Id">
    <vt:lpwstr>BN4583794</vt:lpwstr>
  </property>
  <property fmtid="{D5CDD505-2E9C-101B-9397-08002B2CF9AE}" pid="4" name="Objective-Title">
    <vt:lpwstr>JHC Project INSIGHT Catalyst Event - An overview</vt:lpwstr>
  </property>
  <property fmtid="{D5CDD505-2E9C-101B-9397-08002B2CF9AE}" pid="5" name="Objective-Comment">
    <vt:lpwstr/>
  </property>
  <property fmtid="{D5CDD505-2E9C-101B-9397-08002B2CF9AE}" pid="6" name="Objective-CreationStamp">
    <vt:filetime>2019-04-08T00:01:31Z</vt:filetime>
  </property>
  <property fmtid="{D5CDD505-2E9C-101B-9397-08002B2CF9AE}" pid="7" name="Objective-IsApproved">
    <vt:bool>false</vt:bool>
  </property>
  <property fmtid="{D5CDD505-2E9C-101B-9397-08002B2CF9AE}" pid="8" name="Objective-IsPublished">
    <vt:bool>false</vt:bool>
  </property>
  <property fmtid="{D5CDD505-2E9C-101B-9397-08002B2CF9AE}" pid="9" name="Objective-DatePublished">
    <vt:lpwstr/>
  </property>
  <property fmtid="{D5CDD505-2E9C-101B-9397-08002B2CF9AE}" pid="10" name="Objective-ModificationStamp">
    <vt:filetime>2019-07-01T03:07:30Z</vt:filetime>
  </property>
  <property fmtid="{D5CDD505-2E9C-101B-9397-08002B2CF9AE}" pid="11" name="Objective-Owner">
    <vt:lpwstr>Grant, Paul MR 4</vt:lpwstr>
  </property>
  <property fmtid="{D5CDD505-2E9C-101B-9397-08002B2CF9AE}" pid="12" name="Objective-Path">
    <vt:lpwstr>Objective Global Folder - PROD:Defence Business Units:Joint Capabilities Group:Joint Health Command:HB&amp;P : Health Business &amp; Plans:03 Strategic &amp; Corporate Governance, Plans, Boards, Reviews &amp; Performance Reports:05 Joint Health Command - Health Business </vt:lpwstr>
  </property>
  <property fmtid="{D5CDD505-2E9C-101B-9397-08002B2CF9AE}" pid="13" name="Objective-Parent">
    <vt:lpwstr>2019 HBI Catalyst Event and Core Sprint</vt:lpwstr>
  </property>
  <property fmtid="{D5CDD505-2E9C-101B-9397-08002B2CF9AE}" pid="14" name="Objective-State">
    <vt:lpwstr>Being Drafted</vt:lpwstr>
  </property>
  <property fmtid="{D5CDD505-2E9C-101B-9397-08002B2CF9AE}" pid="15" name="Objective-Version">
    <vt:lpwstr>2.8</vt:lpwstr>
  </property>
  <property fmtid="{D5CDD505-2E9C-101B-9397-08002B2CF9AE}" pid="16" name="Objective-VersionNumber">
    <vt:i4>11</vt:i4>
  </property>
  <property fmtid="{D5CDD505-2E9C-101B-9397-08002B2CF9AE}" pid="17" name="Objective-VersionComment">
    <vt:lpwstr>Reduced file size and minor amendments to language.</vt:lpwstr>
  </property>
  <property fmtid="{D5CDD505-2E9C-101B-9397-08002B2CF9AE}" pid="18" name="Objective-FileNumber">
    <vt:lpwstr/>
  </property>
  <property fmtid="{D5CDD505-2E9C-101B-9397-08002B2CF9AE}" pid="19" name="Objective-Classification">
    <vt:lpwstr>[Inherited - Unclassified]</vt:lpwstr>
  </property>
  <property fmtid="{D5CDD505-2E9C-101B-9397-08002B2CF9AE}" pid="20" name="Objective-Caveats">
    <vt:lpwstr/>
  </property>
  <property fmtid="{D5CDD505-2E9C-101B-9397-08002B2CF9AE}" pid="21" name="Objective-Document Type [system]">
    <vt:lpwstr>Plans/WI</vt:lpwstr>
  </property>
</Properties>
</file>